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 · 0:00–0:15
Assalam-o-Alaikum. We are 404 Team Not Found, and this is Roshni, which means light. One page, every learner: any page, lecture or video becomes a lesson that every student can use, and a second AI proves no fact was lost.
► CLICK: after “…no fact was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 · 0:15–0:40
Three students, one class, one printed page. Bilal is blind, Sara is dyslexic, Hamza is deaf. The page works for none of them, and their teacher has no time to adapt every page three ways. About 1 in 6 people live with a significant disability, so this happens in every school.
► CLICK: after “…happens in every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 · 0:40–1:15
Our solution: one page in, five ways to learn out. AI is the pipeline, not a chat box. Gemini reads the page and describes every figure. Qwen rewrites it simply, with hard words explained in Urdu or Pashto. Fact Guard, a different AI family, checks every fact. Whisper hears lectures and spoken answers. Bilal gets Listen, Sara gets Read Easy, Hamza gets Captions, and everyone gets video notes and Practice. Now [Speaker B] will show you.
► CLICK: after “…will show you.” Hand over to Speaker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 (talks) + SLIDE CONTROLLER (drives the app) · 1:15–2:55
CONTROLLER: Alt+Tab to the app (Home already open; demo profile set up the night before).
1) [15 s] Home: point at “For you”, open the Photosynthesis sample; it opens with the “because you said…” line. B: “Roshni remembers how this learner reads.”
2) [30 s] Read Easy: press Read aloud (sentences highlight); tap an underlined word for the Urdu/Pashto explanation and press the speaker. B: “Hard words, in their own language.”
3) [25 s] Fact Guard card → Plant 3 errors: the cards flip to Caught, then the rewrite is repaired. B: “We break our own rewrite on purpose, and Fact Guard catches it.”
4) [30 s] Practice tab → Voice quiz → after the beep, B says “B”. Show the results: weak areas and the study plan; click Open on a step. B: “It tells each learner exactly what to revise.”
If anything is slow, keep talking and move to the next step; the samples are cached.
► CLICK: CONTROLLER: Alt+Tab back to the slides and click when B says “…exactly what to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 · 2:55–3:20
You just saw Fact Guard live. Simplifying can quietly drop a fact or change a number, so a different AI family checks the rewrite, every kept fact must be quoted, numbers are checked by plain code, and gaps are repaired. In testing it caught 28 of 28 planted errors with zero false alarms.
► CLICK: after “…zero false alarms.” Hand over to Speaker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 · 3:20–3:50
Every learner gets Roshni set up for them: two questions, no account, no name or gender. Lessons open the way you need and say why. After a quiz, Roshni finds your weak areas and builds a study plan from the lesson itself, down to the exact section, word or video minute. Your profile is an anonymous code you can delete any time.
► CLICK: after “…delete any time.” Hand over to Speaker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 · 3:50–4:20
Everything here is measured on real OpenStax textbook pages by scripts in our repo. 28 of 28 planted errors caught, no false alarms, 99% of facts verifiably kept. Reading level drops from grade 11 to about 6. It reads even this blurry, tilted photo almost perfectly, and a lesson takes under half a minute on free tiers.
► CLICK: after “…on free tiers.” Hand over to Speaker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 · 4:20–4:50
Who adopts it: special-education schools and NGOs, textbook boards, school chains with Urdu- and Pashto-medium students, and employers making training manuals accessible. It costs nothing to run today and serves SDG 4.5. Everything you saw was built during AICON’26, with an AI coding assistant as the rules allow, and our commit history shows it. Next is a pilot with a special-education school. Thank you!
► CLICK: none: stay on this slide for the judges’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slideLayout" Target="../slideLayouts/slideLayout1.xml"/><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3E"/>
        </a:solidFill>
      </p:bgPr>
    </p:bg>
    <p:spTree>
      <p:nvGrpSpPr>
        <p:cNvPr id="1" name=""/>
        <p:cNvGrpSpPr/>
        <p:nvPr/>
      </p:nvGrpSpPr>
      <p:grpSpPr>
        <a:xfrm>
          <a:off x="0" y="0"/>
          <a:ext cx="0" cy="0"/>
          <a:chOff x="0" y="0"/>
          <a:chExt cx="0" cy="0"/>
        </a:xfrm>
      </p:grpSpPr>
      <p:sp>
        <p:nvSpPr>
          <p:cNvPr id="2" name="!!panel"/>
          <p:cNvSpPr/>
          <p:nvPr/>
        </p:nvSpPr>
        <p:spPr>
          <a:xfrm>
            <a:off x="0" y="0"/>
            <a:ext cx="12191695" cy="6858000"/>
          </a:xfrm>
          <a:prstGeom prst="roundRect">
            <a:avLst/>
          </a:prstGeom>
          <a:solidFill>
            <a:srgbClr val="0D1B3E"/>
          </a:solidFill>
          <a:ln w="12700">
            <a:solidFill>
              <a:srgbClr val="0D1B3E"/>
            </a:solidFill>
            <a:prstDash val="solid"/>
          </a:ln>
        </p:spPr>
      </p:sp>
      <p:sp>
        <p:nvSpPr>
          <p:cNvPr id="3" name="!!ray-0"/>
          <p:cNvSpPr/>
          <p:nvPr/>
        </p:nvSpPr>
        <p:spPr>
          <a:xfrm>
            <a:off x="10517886" y="3383280"/>
            <a:ext cx="736092" cy="914"/>
          </a:xfrm>
          <a:prstGeom prst="line">
            <a:avLst/>
          </a:prstGeom>
          <a:noFill/>
          <a:ln w="37973">
            <a:solidFill>
              <a:srgbClr val="F2A40E"/>
            </a:solidFill>
            <a:prstDash val="solid"/>
          </a:ln>
        </p:spPr>
      </p:sp>
      <p:sp>
        <p:nvSpPr>
          <p:cNvPr id="4" name="!!ray-1"/>
          <p:cNvSpPr/>
          <p:nvPr/>
        </p:nvSpPr>
        <p:spPr>
          <a:xfrm>
            <a:off x="10327695" y="4093083"/>
            <a:ext cx="637474" cy="368046"/>
          </a:xfrm>
          <a:prstGeom prst="line">
            <a:avLst/>
          </a:prstGeom>
          <a:noFill/>
          <a:ln w="37973">
            <a:solidFill>
              <a:srgbClr val="F2A40E">
                <a:alpha val="55000"/>
              </a:srgbClr>
            </a:solidFill>
            <a:prstDash val="solid"/>
          </a:ln>
        </p:spPr>
      </p:sp>
      <p:sp>
        <p:nvSpPr>
          <p:cNvPr id="5" name="!!ray-2"/>
          <p:cNvSpPr/>
          <p:nvPr/>
        </p:nvSpPr>
        <p:spPr>
          <a:xfrm>
            <a:off x="9808083" y="4612695"/>
            <a:ext cx="368046" cy="637474"/>
          </a:xfrm>
          <a:prstGeom prst="line">
            <a:avLst/>
          </a:prstGeom>
          <a:noFill/>
          <a:ln w="37973">
            <a:solidFill>
              <a:srgbClr val="F2A40E"/>
            </a:solidFill>
            <a:prstDash val="solid"/>
          </a:ln>
        </p:spPr>
      </p:sp>
      <p:sp>
        <p:nvSpPr>
          <p:cNvPr id="6" name="!!ray-3"/>
          <p:cNvSpPr/>
          <p:nvPr/>
        </p:nvSpPr>
        <p:spPr>
          <a:xfrm>
            <a:off x="9098280" y="4802886"/>
            <a:ext cx="914" cy="736092"/>
          </a:xfrm>
          <a:prstGeom prst="line">
            <a:avLst/>
          </a:prstGeom>
          <a:noFill/>
          <a:ln w="37973">
            <a:solidFill>
              <a:srgbClr val="F2A40E">
                <a:alpha val="55000"/>
              </a:srgbClr>
            </a:solidFill>
            <a:prstDash val="solid"/>
          </a:ln>
        </p:spPr>
      </p:sp>
      <p:sp>
        <p:nvSpPr>
          <p:cNvPr id="7" name="!!ray-4"/>
          <p:cNvSpPr/>
          <p:nvPr/>
        </p:nvSpPr>
        <p:spPr>
          <a:xfrm flipH="1">
            <a:off x="8020431" y="4612695"/>
            <a:ext cx="368046" cy="637474"/>
          </a:xfrm>
          <a:prstGeom prst="line">
            <a:avLst/>
          </a:prstGeom>
          <a:noFill/>
          <a:ln w="37973">
            <a:solidFill>
              <a:srgbClr val="F2A40E"/>
            </a:solidFill>
            <a:prstDash val="solid"/>
          </a:ln>
        </p:spPr>
      </p:sp>
      <p:sp>
        <p:nvSpPr>
          <p:cNvPr id="8" name="!!ray-5"/>
          <p:cNvSpPr/>
          <p:nvPr/>
        </p:nvSpPr>
        <p:spPr>
          <a:xfrm flipH="1">
            <a:off x="7231391" y="4093083"/>
            <a:ext cx="637474" cy="368046"/>
          </a:xfrm>
          <a:prstGeom prst="line">
            <a:avLst/>
          </a:prstGeom>
          <a:noFill/>
          <a:ln w="37973">
            <a:solidFill>
              <a:srgbClr val="F2A40E">
                <a:alpha val="55000"/>
              </a:srgbClr>
            </a:solidFill>
            <a:prstDash val="solid"/>
          </a:ln>
        </p:spPr>
      </p:sp>
      <p:sp>
        <p:nvSpPr>
          <p:cNvPr id="9" name="!!ray-6"/>
          <p:cNvSpPr/>
          <p:nvPr/>
        </p:nvSpPr>
        <p:spPr>
          <a:xfrm flipH="1">
            <a:off x="6942582" y="3383280"/>
            <a:ext cx="736092" cy="914"/>
          </a:xfrm>
          <a:prstGeom prst="line">
            <a:avLst/>
          </a:prstGeom>
          <a:noFill/>
          <a:ln w="37973">
            <a:solidFill>
              <a:srgbClr val="F2A40E"/>
            </a:solidFill>
            <a:prstDash val="solid"/>
          </a:ln>
        </p:spPr>
      </p:sp>
      <p:sp>
        <p:nvSpPr>
          <p:cNvPr id="10" name="!!ray-7"/>
          <p:cNvSpPr/>
          <p:nvPr/>
        </p:nvSpPr>
        <p:spPr>
          <a:xfrm flipH="1" flipV="1">
            <a:off x="7231391" y="2305431"/>
            <a:ext cx="637474" cy="368046"/>
          </a:xfrm>
          <a:prstGeom prst="line">
            <a:avLst/>
          </a:prstGeom>
          <a:noFill/>
          <a:ln w="37973">
            <a:solidFill>
              <a:srgbClr val="F2A40E">
                <a:alpha val="55000"/>
              </a:srgbClr>
            </a:solidFill>
            <a:prstDash val="solid"/>
          </a:ln>
        </p:spPr>
      </p:sp>
      <p:sp>
        <p:nvSpPr>
          <p:cNvPr id="11" name="!!ray-8"/>
          <p:cNvSpPr/>
          <p:nvPr/>
        </p:nvSpPr>
        <p:spPr>
          <a:xfrm flipH="1" flipV="1">
            <a:off x="8020431" y="1516391"/>
            <a:ext cx="368046" cy="637474"/>
          </a:xfrm>
          <a:prstGeom prst="line">
            <a:avLst/>
          </a:prstGeom>
          <a:noFill/>
          <a:ln w="37973">
            <a:solidFill>
              <a:srgbClr val="F2A40E"/>
            </a:solidFill>
            <a:prstDash val="solid"/>
          </a:ln>
        </p:spPr>
      </p:sp>
      <p:sp>
        <p:nvSpPr>
          <p:cNvPr id="12" name="!!ray-9"/>
          <p:cNvSpPr/>
          <p:nvPr/>
        </p:nvSpPr>
        <p:spPr>
          <a:xfrm flipH="1" flipV="1">
            <a:off x="9098280" y="1227582"/>
            <a:ext cx="914" cy="736092"/>
          </a:xfrm>
          <a:prstGeom prst="line">
            <a:avLst/>
          </a:prstGeom>
          <a:noFill/>
          <a:ln w="37973">
            <a:solidFill>
              <a:srgbClr val="F2A40E">
                <a:alpha val="55000"/>
              </a:srgbClr>
            </a:solidFill>
            <a:prstDash val="solid"/>
          </a:ln>
        </p:spPr>
      </p:sp>
      <p:sp>
        <p:nvSpPr>
          <p:cNvPr id="13" name="!!ray-10"/>
          <p:cNvSpPr/>
          <p:nvPr/>
        </p:nvSpPr>
        <p:spPr>
          <a:xfrm flipV="1">
            <a:off x="9808083" y="1516391"/>
            <a:ext cx="368046" cy="637474"/>
          </a:xfrm>
          <a:prstGeom prst="line">
            <a:avLst/>
          </a:prstGeom>
          <a:noFill/>
          <a:ln w="37973">
            <a:solidFill>
              <a:srgbClr val="F2A40E"/>
            </a:solidFill>
            <a:prstDash val="solid"/>
          </a:ln>
        </p:spPr>
      </p:sp>
      <p:sp>
        <p:nvSpPr>
          <p:cNvPr id="14" name="!!ray-11"/>
          <p:cNvSpPr/>
          <p:nvPr/>
        </p:nvSpPr>
        <p:spPr>
          <a:xfrm flipV="1">
            <a:off x="10327695" y="2305431"/>
            <a:ext cx="637474" cy="368046"/>
          </a:xfrm>
          <a:prstGeom prst="line">
            <a:avLst/>
          </a:prstGeom>
          <a:noFill/>
          <a:ln w="37973">
            <a:solidFill>
              <a:srgbClr val="F2A40E">
                <a:alpha val="55000"/>
              </a:srgbClr>
            </a:solidFill>
            <a:prstDash val="solid"/>
          </a:ln>
        </p:spPr>
      </p:sp>
      <p:sp>
        <p:nvSpPr>
          <p:cNvPr id="15" name="!!ring"/>
          <p:cNvSpPr/>
          <p:nvPr/>
        </p:nvSpPr>
        <p:spPr>
          <a:xfrm>
            <a:off x="8046720" y="2331720"/>
            <a:ext cx="2103120" cy="2103120"/>
          </a:xfrm>
          <a:prstGeom prst="ellipse">
            <a:avLst/>
          </a:prstGeom>
          <a:solidFill>
            <a:srgbClr val="1C3EA6"/>
          </a:solidFill>
          <a:ln w="29210">
            <a:solidFill>
              <a:srgbClr val="FFFFFF"/>
            </a:solidFill>
            <a:prstDash val="solid"/>
          </a:ln>
        </p:spPr>
      </p:sp>
      <p:sp>
        <p:nvSpPr>
          <p:cNvPr id="16" name="!!flame"/>
          <p:cNvSpPr/>
          <p:nvPr/>
        </p:nvSpPr>
        <p:spPr>
          <a:xfrm>
            <a:off x="8656625" y="2941625"/>
            <a:ext cx="883310" cy="883310"/>
          </a:xfrm>
          <a:prstGeom prst="ellipse">
            <a:avLst/>
          </a:prstGeom>
          <a:solidFill>
            <a:srgbClr val="F2A40E"/>
          </a:solidFill>
          <a:ln w="12700">
            <a:solidFill>
              <a:srgbClr val="F2A40E"/>
            </a:solidFill>
            <a:prstDash val="solid"/>
          </a:ln>
        </p:spPr>
      </p:sp>
      <p:sp>
        <p:nvSpPr>
          <p:cNvPr id="17" name="!!kicker"/>
          <p:cNvSpPr txBox="1"/>
          <p:nvPr/>
        </p:nvSpPr>
        <p:spPr>
          <a:xfrm>
            <a:off x="731520" y="1325880"/>
            <a:ext cx="8229600" cy="320040"/>
          </a:xfrm>
          <a:prstGeom prst="rect">
            <a:avLst/>
          </a:prstGeom>
          <a:noFill/>
          <a:ln/>
        </p:spPr>
        <p:txBody>
          <a:bodyPr wrap="square" lIns="0" tIns="0" rIns="0" bIns="0" rtlCol="0" anchor="ctr"/>
          <a:lstStyle/>
          <a:p>
            <a:pPr indent="0" marL="0">
              <a:buNone/>
            </a:pPr>
            <a:r>
              <a:rPr lang="en-US" sz="1300" b="1" spc="300" kern="0" dirty="0">
                <a:solidFill>
                  <a:srgbClr val="F2A40E"/>
                </a:solidFill>
                <a:latin typeface="Calibri" pitchFamily="34" charset="0"/>
                <a:ea typeface="Calibri" pitchFamily="34" charset="-122"/>
                <a:cs typeface="Calibri" pitchFamily="34" charset="-120"/>
              </a:rPr>
              <a:t>AICON’26 · BUILD WITH AI · EDTECH &amp; WORKFORCE</a:t>
            </a:r>
            <a:endParaRPr lang="en-US" sz="1300" dirty="0"/>
          </a:p>
        </p:txBody>
      </p:sp>
      <p:sp>
        <p:nvSpPr>
          <p:cNvPr id="18" name="!!title"/>
          <p:cNvSpPr txBox="1"/>
          <p:nvPr/>
        </p:nvSpPr>
        <p:spPr>
          <a:xfrm>
            <a:off x="731520" y="1737360"/>
            <a:ext cx="5943600" cy="1280160"/>
          </a:xfrm>
          <a:prstGeom prst="rect">
            <a:avLst/>
          </a:prstGeom>
          <a:noFill/>
          <a:ln/>
        </p:spPr>
        <p:txBody>
          <a:bodyPr wrap="square" lIns="0" tIns="0" rIns="0" bIns="0" rtlCol="0" anchor="t"/>
          <a:lstStyle/>
          <a:p>
            <a:pPr indent="0" marL="0">
              <a:buNone/>
            </a:pPr>
            <a:r>
              <a:rPr lang="en-US" sz="7200" b="1" dirty="0">
                <a:solidFill>
                  <a:srgbClr val="FFFFFF"/>
                </a:solidFill>
                <a:latin typeface="Century Gothic" pitchFamily="34" charset="0"/>
                <a:ea typeface="Century Gothic" pitchFamily="34" charset="-122"/>
                <a:cs typeface="Century Gothic" pitchFamily="34" charset="-120"/>
              </a:rPr>
              <a:t>Roshni</a:t>
            </a:r>
            <a:endParaRPr lang="en-US" sz="7200" dirty="0"/>
          </a:p>
        </p:txBody>
      </p:sp>
      <p:sp>
        <p:nvSpPr>
          <p:cNvPr id="19" name="urdu"/>
          <p:cNvSpPr txBox="1"/>
          <p:nvPr/>
        </p:nvSpPr>
        <p:spPr>
          <a:xfrm>
            <a:off x="731520" y="3017520"/>
            <a:ext cx="2743200" cy="731520"/>
          </a:xfrm>
          <a:prstGeom prst="rect">
            <a:avLst/>
          </a:prstGeom>
          <a:noFill/>
          <a:ln/>
        </p:spPr>
        <p:txBody>
          <a:bodyPr wrap="square" lIns="0" tIns="0" rIns="0" bIns="0" rtlCol="0" anchor="ctr"/>
          <a:lstStyle/>
          <a:p>
            <a:pPr rtl="1" indent="0" marL="0">
              <a:buNone/>
            </a:pPr>
            <a:r>
              <a:rPr lang="en-US" sz="3400" dirty="0">
                <a:solidFill>
                  <a:srgbClr val="7FD9D3"/>
                </a:solidFill>
                <a:latin typeface="Arial" pitchFamily="34" charset="0"/>
                <a:ea typeface="Arial" pitchFamily="34" charset="-122"/>
                <a:cs typeface="Arial" pitchFamily="34" charset="-120"/>
              </a:rPr>
              <a:t>روشنی</a:t>
            </a:r>
            <a:endParaRPr lang="en-US" sz="3400" dirty="0"/>
          </a:p>
        </p:txBody>
      </p:sp>
      <p:sp>
        <p:nvSpPr>
          <p:cNvPr id="20" name="tagline"/>
          <p:cNvSpPr txBox="1"/>
          <p:nvPr/>
        </p:nvSpPr>
        <p:spPr>
          <a:xfrm>
            <a:off x="731520" y="3886200"/>
            <a:ext cx="6583680" cy="640080"/>
          </a:xfrm>
          <a:prstGeom prst="rect">
            <a:avLst/>
          </a:prstGeom>
          <a:noFill/>
          <a:ln/>
        </p:spPr>
        <p:txBody>
          <a:bodyPr wrap="square" lIns="0" tIns="0" rIns="0" bIns="0" rtlCol="0" anchor="ctr"/>
          <a:lstStyle/>
          <a:p>
            <a:pPr indent="0" marL="0">
              <a:buNone/>
            </a:pPr>
            <a:r>
              <a:rPr lang="en-US" sz="3000" dirty="0">
                <a:solidFill>
                  <a:srgbClr val="FFFFFF"/>
                </a:solidFill>
                <a:latin typeface="Century Gothic" pitchFamily="34" charset="0"/>
                <a:ea typeface="Century Gothic" pitchFamily="34" charset="-122"/>
                <a:cs typeface="Century Gothic" pitchFamily="34" charset="-120"/>
              </a:rPr>
              <a:t>One page. Every learner.</a:t>
            </a:r>
            <a:endParaRPr lang="en-US" sz="3000" dirty="0"/>
          </a:p>
        </p:txBody>
      </p:sp>
      <p:sp>
        <p:nvSpPr>
          <p:cNvPr id="21" name="subtitle"/>
          <p:cNvSpPr txBox="1"/>
          <p:nvPr/>
        </p:nvSpPr>
        <p:spPr>
          <a:xfrm>
            <a:off x="731520" y="4617720"/>
            <a:ext cx="6766560" cy="914400"/>
          </a:xfrm>
          <a:prstGeom prst="rect">
            <a:avLst/>
          </a:prstGeom>
          <a:noFill/>
          <a:ln/>
        </p:spPr>
        <p:txBody>
          <a:bodyPr wrap="square" lIns="0" tIns="0" rIns="0" bIns="0" rtlCol="0" anchor="ctr"/>
          <a:lstStyle/>
          <a:p>
            <a:pPr indent="0" marL="0">
              <a:buNone/>
            </a:pPr>
            <a:r>
              <a:rPr lang="en-US" sz="1700" dirty="0">
                <a:solidFill>
                  <a:srgbClr val="C9D4F2"/>
                </a:solidFill>
                <a:latin typeface="Calibri" pitchFamily="34" charset="0"/>
                <a:ea typeface="Calibri" pitchFamily="34" charset="-122"/>
                <a:cs typeface="Calibri" pitchFamily="34" charset="-120"/>
              </a:rPr>
              <a:t>A photo of any page, a lecture or a YouTube video becomes a lesson for blind, dyslexic, deaf and Urdu/Pashto-medium learners, and a second AI proves no fact was lost.</a:t>
            </a:r>
            <a:endParaRPr lang="en-US" sz="1700" dirty="0"/>
          </a:p>
        </p:txBody>
      </p:sp>
      <p:sp>
        <p:nvSpPr>
          <p:cNvPr id="22" name="team"/>
          <p:cNvSpPr txBox="1"/>
          <p:nvPr/>
        </p:nvSpPr>
        <p:spPr>
          <a:xfrm>
            <a:off x="731520" y="5897880"/>
            <a:ext cx="4572000" cy="365760"/>
          </a:xfrm>
          <a:prstGeom prst="rect">
            <a:avLst/>
          </a:prstGeom>
          <a:noFill/>
          <a:ln/>
        </p:spPr>
        <p:txBody>
          <a:bodyPr wrap="square" lIns="0" tIns="0" rIns="0" bIns="0" rtlCol="0" anchor="ctr"/>
          <a:lstStyle/>
          <a:p>
            <a:pPr indent="0" marL="0">
              <a:buNone/>
            </a:pPr>
            <a:r>
              <a:rPr lang="en-US" sz="1500" b="1" dirty="0">
                <a:solidFill>
                  <a:srgbClr val="C9D4F2"/>
                </a:solidFill>
                <a:latin typeface="Calibri" pitchFamily="34" charset="0"/>
                <a:ea typeface="Calibri" pitchFamily="34" charset="-122"/>
                <a:cs typeface="Calibri" pitchFamily="34" charset="-120"/>
              </a:rPr>
              <a:t>404 Team Not Found</a:t>
            </a:r>
            <a:endParaRPr lang="en-US" sz="1500" dirty="0"/>
          </a:p>
        </p:txBody>
      </p:sp>
      <p:sp>
        <p:nvSpPr>
          <p:cNvPr id="23" name="!!dot-0"/>
          <p:cNvSpPr/>
          <p:nvPr/>
        </p:nvSpPr>
        <p:spPr>
          <a:xfrm>
            <a:off x="10012680" y="6400800"/>
            <a:ext cx="155448" cy="155448"/>
          </a:xfrm>
          <a:prstGeom prst="ellipse">
            <a:avLst/>
          </a:prstGeom>
          <a:solidFill>
            <a:srgbClr val="F2A40E"/>
          </a:solidFill>
          <a:ln w="12700">
            <a:solidFill>
              <a:srgbClr val="F2A40E"/>
            </a:solidFill>
            <a:prstDash val="solid"/>
          </a:ln>
        </p:spPr>
      </p:sp>
      <p:sp>
        <p:nvSpPr>
          <p:cNvPr id="24" name="!!dot-1"/>
          <p:cNvSpPr/>
          <p:nvPr/>
        </p:nvSpPr>
        <p:spPr>
          <a:xfrm>
            <a:off x="10250424" y="6400800"/>
            <a:ext cx="100584" cy="100584"/>
          </a:xfrm>
          <a:prstGeom prst="ellipse">
            <a:avLst/>
          </a:prstGeom>
          <a:solidFill>
            <a:srgbClr val="3A4A7A"/>
          </a:solidFill>
          <a:ln w="12700">
            <a:solidFill>
              <a:srgbClr val="3A4A7A"/>
            </a:solidFill>
            <a:prstDash val="solid"/>
          </a:ln>
        </p:spPr>
      </p:sp>
      <p:sp>
        <p:nvSpPr>
          <p:cNvPr id="25" name="!!dot-2"/>
          <p:cNvSpPr/>
          <p:nvPr/>
        </p:nvSpPr>
        <p:spPr>
          <a:xfrm>
            <a:off x="10488168" y="6400800"/>
            <a:ext cx="100584" cy="100584"/>
          </a:xfrm>
          <a:prstGeom prst="ellipse">
            <a:avLst/>
          </a:prstGeom>
          <a:solidFill>
            <a:srgbClr val="3A4A7A"/>
          </a:solidFill>
          <a:ln w="12700">
            <a:solidFill>
              <a:srgbClr val="3A4A7A"/>
            </a:solidFill>
            <a:prstDash val="solid"/>
          </a:ln>
        </p:spPr>
      </p:sp>
      <p:sp>
        <p:nvSpPr>
          <p:cNvPr id="26" name="!!dot-3"/>
          <p:cNvSpPr/>
          <p:nvPr/>
        </p:nvSpPr>
        <p:spPr>
          <a:xfrm>
            <a:off x="10725912" y="6400800"/>
            <a:ext cx="100584" cy="100584"/>
          </a:xfrm>
          <a:prstGeom prst="ellipse">
            <a:avLst/>
          </a:prstGeom>
          <a:solidFill>
            <a:srgbClr val="3A4A7A"/>
          </a:solidFill>
          <a:ln w="12700">
            <a:solidFill>
              <a:srgbClr val="3A4A7A"/>
            </a:solidFill>
            <a:prstDash val="solid"/>
          </a:ln>
        </p:spPr>
      </p:sp>
      <p:sp>
        <p:nvSpPr>
          <p:cNvPr id="27" name="!!dot-4"/>
          <p:cNvSpPr/>
          <p:nvPr/>
        </p:nvSpPr>
        <p:spPr>
          <a:xfrm>
            <a:off x="10963656" y="6400800"/>
            <a:ext cx="100584" cy="100584"/>
          </a:xfrm>
          <a:prstGeom prst="ellipse">
            <a:avLst/>
          </a:prstGeom>
          <a:solidFill>
            <a:srgbClr val="3A4A7A"/>
          </a:solidFill>
          <a:ln w="12700">
            <a:solidFill>
              <a:srgbClr val="3A4A7A"/>
            </a:solidFill>
            <a:prstDash val="solid"/>
          </a:ln>
        </p:spPr>
      </p:sp>
      <p:sp>
        <p:nvSpPr>
          <p:cNvPr id="28" name="!!dot-5"/>
          <p:cNvSpPr/>
          <p:nvPr/>
        </p:nvSpPr>
        <p:spPr>
          <a:xfrm>
            <a:off x="11201400" y="6400800"/>
            <a:ext cx="100584" cy="100584"/>
          </a:xfrm>
          <a:prstGeom prst="ellipse">
            <a:avLst/>
          </a:prstGeom>
          <a:solidFill>
            <a:srgbClr val="3A4A7A"/>
          </a:solidFill>
          <a:ln w="12700">
            <a:solidFill>
              <a:srgbClr val="3A4A7A"/>
            </a:solidFill>
            <a:prstDash val="solid"/>
          </a:ln>
        </p:spPr>
      </p:sp>
      <p:sp>
        <p:nvSpPr>
          <p:cNvPr id="29" name="!!dot-6"/>
          <p:cNvSpPr/>
          <p:nvPr/>
        </p:nvSpPr>
        <p:spPr>
          <a:xfrm>
            <a:off x="11439144" y="6400800"/>
            <a:ext cx="100584" cy="100584"/>
          </a:xfrm>
          <a:prstGeom prst="ellipse">
            <a:avLst/>
          </a:prstGeom>
          <a:solidFill>
            <a:srgbClr val="3A4A7A"/>
          </a:solidFill>
          <a:ln w="12700">
            <a:solidFill>
              <a:srgbClr val="3A4A7A"/>
            </a:solidFill>
            <a:prstDash val="solid"/>
          </a:ln>
        </p:spPr>
      </p:sp>
      <p:sp>
        <p:nvSpPr>
          <p:cNvPr id="30" name="!!dot-7"/>
          <p:cNvSpPr/>
          <p:nvPr/>
        </p:nvSpPr>
        <p:spPr>
          <a:xfrm>
            <a:off x="11676888" y="6400800"/>
            <a:ext cx="100584" cy="100584"/>
          </a:xfrm>
          <a:prstGeom prst="ellipse">
            <a:avLst/>
          </a:prstGeom>
          <a:solidFill>
            <a:srgbClr val="3A4A7A"/>
          </a:solidFill>
          <a:ln w="12700">
            <a:solidFill>
              <a:srgbClr val="3A4A7A"/>
            </a:solidFill>
            <a:prstDash val="solid"/>
          </a:ln>
        </p:spPr>
      </p:sp>
    </p:spTree>
  </p:cSld>
  <p:clrMapOvr>
    <a:masterClrMapping/>
  </p:clrMapOvr>
  <p:transition spd="slow">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5F3"/>
        </a:solidFill>
      </p:bgPr>
    </p:bg>
    <p:spTree>
      <p:nvGrpSpPr>
        <p:cNvPr id="1" name=""/>
        <p:cNvGrpSpPr/>
        <p:nvPr/>
      </p:nvGrpSpPr>
      <p:grpSpPr>
        <a:xfrm>
          <a:off x="0" y="0"/>
          <a:ext cx="0" cy="0"/>
          <a:chOff x="0" y="0"/>
          <a:chExt cx="0" cy="0"/>
        </a:xfrm>
      </p:grpSpPr>
      <p:sp>
        <p:nvSpPr>
          <p:cNvPr id="2" name="!!panel"/>
          <p:cNvSpPr/>
          <p:nvPr/>
        </p:nvSpPr>
        <p:spPr>
          <a:xfrm>
            <a:off x="411480" y="411480"/>
            <a:ext cx="4160520" cy="6035040"/>
          </a:xfrm>
          <a:prstGeom prst="roundRect">
            <a:avLst>
              <a:gd name="adj" fmla="val 6593"/>
            </a:avLst>
          </a:prstGeom>
          <a:solidFill>
            <a:srgbClr val="0D1B3E"/>
          </a:solidFill>
          <a:ln w="12700">
            <a:solidFill>
              <a:srgbClr val="0D1B3E"/>
            </a:solidFill>
            <a:prstDash val="solid"/>
          </a:ln>
        </p:spPr>
      </p:sp>
      <p:sp>
        <p:nvSpPr>
          <p:cNvPr id="3" name="!!ray-0"/>
          <p:cNvSpPr/>
          <p:nvPr/>
        </p:nvSpPr>
        <p:spPr>
          <a:xfrm>
            <a:off x="1798625" y="1280160"/>
            <a:ext cx="268834" cy="914"/>
          </a:xfrm>
          <a:prstGeom prst="line">
            <a:avLst/>
          </a:prstGeom>
          <a:noFill/>
          <a:ln w="19050">
            <a:solidFill>
              <a:srgbClr val="F2A40E"/>
            </a:solidFill>
            <a:prstDash val="solid"/>
          </a:ln>
        </p:spPr>
      </p:sp>
      <p:sp>
        <p:nvSpPr>
          <p:cNvPr id="4" name="!!ray-1"/>
          <p:cNvSpPr/>
          <p:nvPr/>
        </p:nvSpPr>
        <p:spPr>
          <a:xfrm>
            <a:off x="1729164" y="1539392"/>
            <a:ext cx="232817" cy="134417"/>
          </a:xfrm>
          <a:prstGeom prst="line">
            <a:avLst/>
          </a:prstGeom>
          <a:noFill/>
          <a:ln w="19050">
            <a:solidFill>
              <a:srgbClr val="F2A40E">
                <a:alpha val="55000"/>
              </a:srgbClr>
            </a:solidFill>
            <a:prstDash val="solid"/>
          </a:ln>
        </p:spPr>
      </p:sp>
      <p:sp>
        <p:nvSpPr>
          <p:cNvPr id="5" name="!!ray-2"/>
          <p:cNvSpPr/>
          <p:nvPr/>
        </p:nvSpPr>
        <p:spPr>
          <a:xfrm>
            <a:off x="1539392" y="1729164"/>
            <a:ext cx="134417" cy="232817"/>
          </a:xfrm>
          <a:prstGeom prst="line">
            <a:avLst/>
          </a:prstGeom>
          <a:noFill/>
          <a:ln w="19050">
            <a:solidFill>
              <a:srgbClr val="F2A40E"/>
            </a:solidFill>
            <a:prstDash val="solid"/>
          </a:ln>
        </p:spPr>
      </p:sp>
      <p:sp>
        <p:nvSpPr>
          <p:cNvPr id="6" name="!!ray-3"/>
          <p:cNvSpPr/>
          <p:nvPr/>
        </p:nvSpPr>
        <p:spPr>
          <a:xfrm>
            <a:off x="1280160" y="1798625"/>
            <a:ext cx="914" cy="268834"/>
          </a:xfrm>
          <a:prstGeom prst="line">
            <a:avLst/>
          </a:prstGeom>
          <a:noFill/>
          <a:ln w="19050">
            <a:solidFill>
              <a:srgbClr val="F2A40E">
                <a:alpha val="55000"/>
              </a:srgbClr>
            </a:solidFill>
            <a:prstDash val="solid"/>
          </a:ln>
        </p:spPr>
      </p:sp>
      <p:sp>
        <p:nvSpPr>
          <p:cNvPr id="7" name="!!ray-4"/>
          <p:cNvSpPr/>
          <p:nvPr/>
        </p:nvSpPr>
        <p:spPr>
          <a:xfrm flipH="1">
            <a:off x="886511" y="1729164"/>
            <a:ext cx="134417" cy="232817"/>
          </a:xfrm>
          <a:prstGeom prst="line">
            <a:avLst/>
          </a:prstGeom>
          <a:noFill/>
          <a:ln w="19050">
            <a:solidFill>
              <a:srgbClr val="F2A40E"/>
            </a:solidFill>
            <a:prstDash val="solid"/>
          </a:ln>
        </p:spPr>
      </p:sp>
      <p:sp>
        <p:nvSpPr>
          <p:cNvPr id="8" name="!!ray-5"/>
          <p:cNvSpPr/>
          <p:nvPr/>
        </p:nvSpPr>
        <p:spPr>
          <a:xfrm flipH="1">
            <a:off x="598340" y="1539392"/>
            <a:ext cx="232817" cy="134417"/>
          </a:xfrm>
          <a:prstGeom prst="line">
            <a:avLst/>
          </a:prstGeom>
          <a:noFill/>
          <a:ln w="19050">
            <a:solidFill>
              <a:srgbClr val="F2A40E">
                <a:alpha val="55000"/>
              </a:srgbClr>
            </a:solidFill>
            <a:prstDash val="solid"/>
          </a:ln>
        </p:spPr>
      </p:sp>
      <p:sp>
        <p:nvSpPr>
          <p:cNvPr id="9" name="!!ray-6"/>
          <p:cNvSpPr/>
          <p:nvPr/>
        </p:nvSpPr>
        <p:spPr>
          <a:xfrm flipH="1">
            <a:off x="492862" y="1280160"/>
            <a:ext cx="268834" cy="914"/>
          </a:xfrm>
          <a:prstGeom prst="line">
            <a:avLst/>
          </a:prstGeom>
          <a:noFill/>
          <a:ln w="19050">
            <a:solidFill>
              <a:srgbClr val="F2A40E"/>
            </a:solidFill>
            <a:prstDash val="solid"/>
          </a:ln>
        </p:spPr>
      </p:sp>
      <p:sp>
        <p:nvSpPr>
          <p:cNvPr id="10" name="!!ray-7"/>
          <p:cNvSpPr/>
          <p:nvPr/>
        </p:nvSpPr>
        <p:spPr>
          <a:xfrm flipH="1" flipV="1">
            <a:off x="598340" y="886511"/>
            <a:ext cx="232817" cy="134417"/>
          </a:xfrm>
          <a:prstGeom prst="line">
            <a:avLst/>
          </a:prstGeom>
          <a:noFill/>
          <a:ln w="19050">
            <a:solidFill>
              <a:srgbClr val="F2A40E">
                <a:alpha val="55000"/>
              </a:srgbClr>
            </a:solidFill>
            <a:prstDash val="solid"/>
          </a:ln>
        </p:spPr>
      </p:sp>
      <p:sp>
        <p:nvSpPr>
          <p:cNvPr id="11" name="!!ray-8"/>
          <p:cNvSpPr/>
          <p:nvPr/>
        </p:nvSpPr>
        <p:spPr>
          <a:xfrm flipH="1" flipV="1">
            <a:off x="886511" y="598340"/>
            <a:ext cx="134417" cy="232817"/>
          </a:xfrm>
          <a:prstGeom prst="line">
            <a:avLst/>
          </a:prstGeom>
          <a:noFill/>
          <a:ln w="19050">
            <a:solidFill>
              <a:srgbClr val="F2A40E"/>
            </a:solidFill>
            <a:prstDash val="solid"/>
          </a:ln>
        </p:spPr>
      </p:sp>
      <p:sp>
        <p:nvSpPr>
          <p:cNvPr id="12" name="!!ray-9"/>
          <p:cNvSpPr/>
          <p:nvPr/>
        </p:nvSpPr>
        <p:spPr>
          <a:xfrm flipH="1" flipV="1">
            <a:off x="1280160" y="492862"/>
            <a:ext cx="914" cy="268834"/>
          </a:xfrm>
          <a:prstGeom prst="line">
            <a:avLst/>
          </a:prstGeom>
          <a:noFill/>
          <a:ln w="19050">
            <a:solidFill>
              <a:srgbClr val="F2A40E">
                <a:alpha val="55000"/>
              </a:srgbClr>
            </a:solidFill>
            <a:prstDash val="solid"/>
          </a:ln>
        </p:spPr>
      </p:sp>
      <p:sp>
        <p:nvSpPr>
          <p:cNvPr id="13" name="!!ray-10"/>
          <p:cNvSpPr/>
          <p:nvPr/>
        </p:nvSpPr>
        <p:spPr>
          <a:xfrm flipV="1">
            <a:off x="1539392" y="598340"/>
            <a:ext cx="134417" cy="232817"/>
          </a:xfrm>
          <a:prstGeom prst="line">
            <a:avLst/>
          </a:prstGeom>
          <a:noFill/>
          <a:ln w="19050">
            <a:solidFill>
              <a:srgbClr val="F2A40E"/>
            </a:solidFill>
            <a:prstDash val="solid"/>
          </a:ln>
        </p:spPr>
      </p:sp>
      <p:sp>
        <p:nvSpPr>
          <p:cNvPr id="14" name="!!ray-11"/>
          <p:cNvSpPr/>
          <p:nvPr/>
        </p:nvSpPr>
        <p:spPr>
          <a:xfrm flipV="1">
            <a:off x="1729164" y="886511"/>
            <a:ext cx="232817" cy="134417"/>
          </a:xfrm>
          <a:prstGeom prst="line">
            <a:avLst/>
          </a:prstGeom>
          <a:noFill/>
          <a:ln w="19050">
            <a:solidFill>
              <a:srgbClr val="F2A40E">
                <a:alpha val="55000"/>
              </a:srgbClr>
            </a:solidFill>
            <a:prstDash val="solid"/>
          </a:ln>
        </p:spPr>
      </p:sp>
      <p:sp>
        <p:nvSpPr>
          <p:cNvPr id="15" name="!!ring"/>
          <p:cNvSpPr/>
          <p:nvPr/>
        </p:nvSpPr>
        <p:spPr>
          <a:xfrm>
            <a:off x="896112" y="896112"/>
            <a:ext cx="768096" cy="768096"/>
          </a:xfrm>
          <a:prstGeom prst="ellipse">
            <a:avLst/>
          </a:prstGeom>
          <a:solidFill>
            <a:srgbClr val="1C3EA6"/>
          </a:solidFill>
          <a:ln w="12700">
            <a:solidFill>
              <a:srgbClr val="FFFFFF"/>
            </a:solidFill>
            <a:prstDash val="solid"/>
          </a:ln>
        </p:spPr>
      </p:sp>
      <p:sp>
        <p:nvSpPr>
          <p:cNvPr id="16" name="!!flame"/>
          <p:cNvSpPr/>
          <p:nvPr/>
        </p:nvSpPr>
        <p:spPr>
          <a:xfrm>
            <a:off x="1118860" y="1118860"/>
            <a:ext cx="322600" cy="322600"/>
          </a:xfrm>
          <a:prstGeom prst="ellipse">
            <a:avLst/>
          </a:prstGeom>
          <a:solidFill>
            <a:srgbClr val="F2A40E"/>
          </a:solidFill>
          <a:ln w="12700">
            <a:solidFill>
              <a:srgbClr val="F2A40E"/>
            </a:solidFill>
            <a:prstDash val="solid"/>
          </a:ln>
        </p:spPr>
      </p:sp>
      <p:sp>
        <p:nvSpPr>
          <p:cNvPr id="17" name="!!kicker"/>
          <p:cNvSpPr txBox="1"/>
          <p:nvPr/>
        </p:nvSpPr>
        <p:spPr>
          <a:xfrm>
            <a:off x="868680" y="2194560"/>
            <a:ext cx="3474720" cy="320040"/>
          </a:xfrm>
          <a:prstGeom prst="rect">
            <a:avLst/>
          </a:prstGeom>
          <a:noFill/>
          <a:ln/>
        </p:spPr>
        <p:txBody>
          <a:bodyPr wrap="square" lIns="0" tIns="0" rIns="0" bIns="0" rtlCol="0" anchor="ctr"/>
          <a:lstStyle/>
          <a:p>
            <a:pPr indent="0" marL="0">
              <a:buNone/>
            </a:pPr>
            <a:r>
              <a:rPr lang="en-US" sz="1300" b="1" spc="300" kern="0" dirty="0">
                <a:solidFill>
                  <a:srgbClr val="F2A40E"/>
                </a:solidFill>
                <a:latin typeface="Calibri" pitchFamily="34" charset="0"/>
                <a:ea typeface="Calibri" pitchFamily="34" charset="-122"/>
                <a:cs typeface="Calibri" pitchFamily="34" charset="-120"/>
              </a:rPr>
              <a:t>01 · THE PROBLEM</a:t>
            </a:r>
            <a:endParaRPr lang="en-US" sz="1300" dirty="0"/>
          </a:p>
        </p:txBody>
      </p:sp>
      <p:sp>
        <p:nvSpPr>
          <p:cNvPr id="18" name="!!title"/>
          <p:cNvSpPr txBox="1"/>
          <p:nvPr/>
        </p:nvSpPr>
        <p:spPr>
          <a:xfrm>
            <a:off x="868680" y="2560320"/>
            <a:ext cx="3383280" cy="1920240"/>
          </a:xfrm>
          <a:prstGeom prst="rect">
            <a:avLst/>
          </a:prstGeom>
          <a:noFill/>
          <a:ln/>
        </p:spPr>
        <p:txBody>
          <a:bodyPr wrap="square" lIns="0" tIns="0" rIns="0" bIns="0" rtlCol="0" anchor="t"/>
          <a:lstStyle/>
          <a:p>
            <a:pPr indent="0" marL="0">
              <a:buNone/>
            </a:pPr>
            <a:r>
              <a:rPr lang="en-US" sz="3000" b="1" dirty="0">
                <a:solidFill>
                  <a:srgbClr val="FFFFFF"/>
                </a:solidFill>
                <a:latin typeface="Century Gothic" pitchFamily="34" charset="0"/>
                <a:ea typeface="Century Gothic" pitchFamily="34" charset="-122"/>
                <a:cs typeface="Century Gothic" pitchFamily="34" charset="-120"/>
              </a:rPr>
              <a:t>One printed page fails three students</a:t>
            </a:r>
            <a:endParaRPr lang="en-US" sz="3000" dirty="0"/>
          </a:p>
        </p:txBody>
      </p:sp>
      <p:sp>
        <p:nvSpPr>
          <p:cNvPr id="19" name="why"/>
          <p:cNvSpPr txBox="1"/>
          <p:nvPr/>
        </p:nvSpPr>
        <p:spPr>
          <a:xfrm>
            <a:off x="868680" y="4572000"/>
            <a:ext cx="3383280" cy="15544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Why it matters: </a:t>
            </a:r>
            <a:pPr indent="0" marL="0">
              <a:buNone/>
            </a:pPr>
            <a:r>
              <a:rPr lang="en-US" sz="1500" dirty="0">
                <a:solidFill>
                  <a:srgbClr val="C9D4F2"/>
                </a:solidFill>
                <a:latin typeface="Calibri" pitchFamily="34" charset="0"/>
                <a:ea typeface="Calibri" pitchFamily="34" charset="-122"/>
                <a:cs typeface="Calibri" pitchFamily="34" charset="-120"/>
              </a:rPr>
              <a:t>about 1 in 6 people live with a significant disability (WHO, 2023). Teachers have no time to adapt every page three ways, so it never happens.</a:t>
            </a:r>
            <a:endParaRPr lang="en-US" sz="1500" dirty="0"/>
          </a:p>
        </p:txBody>
      </p:sp>
      <p:sp>
        <p:nvSpPr>
          <p:cNvPr id="20" name="!!card-0"/>
          <p:cNvSpPr/>
          <p:nvPr/>
        </p:nvSpPr>
        <p:spPr>
          <a:xfrm>
            <a:off x="4937760" y="548640"/>
            <a:ext cx="6812280" cy="1600200"/>
          </a:xfrm>
          <a:prstGeom prst="roundRect">
            <a:avLst>
              <a:gd name="adj" fmla="val 11429"/>
            </a:avLst>
          </a:prstGeom>
          <a:solidFill>
            <a:srgbClr val="FFFFFF"/>
          </a:solidFill>
          <a:ln w="12700">
            <a:solidFill>
              <a:srgbClr val="D3DEDC"/>
            </a:solidFill>
            <a:prstDash val="solid"/>
          </a:ln>
          <a:effectLst>
            <a:outerShdw sx="100000" sy="100000" kx="0" ky="0" algn="bl" rotWithShape="0" blurRad="152400" dist="38100" dir="5400000">
              <a:srgbClr val="0D1B3E">
                <a:alpha val="13000"/>
              </a:srgbClr>
            </a:outerShdw>
          </a:effectLst>
        </p:spPr>
      </p:sp>
      <p:sp>
        <p:nvSpPr>
          <p:cNvPr id="21" name="!!cdot-0"/>
          <p:cNvSpPr/>
          <p:nvPr/>
        </p:nvSpPr>
        <p:spPr>
          <a:xfrm>
            <a:off x="5212080" y="937260"/>
            <a:ext cx="822960" cy="822960"/>
          </a:xfrm>
          <a:prstGeom prst="ellipse">
            <a:avLst/>
          </a:prstGeom>
          <a:solidFill>
            <a:srgbClr val="D8F1EF"/>
          </a:solidFill>
          <a:ln w="12700">
            <a:solidFill>
              <a:srgbClr val="D8F1EF"/>
            </a:solidFill>
            <a:prstDash val="solid"/>
          </a:ln>
        </p:spPr>
      </p:sp>
      <p:pic>
        <p:nvPicPr>
          <p:cNvPr id="22" name="!!cicon-0" descr="preencoded.png">    </p:cNvPr>
          <p:cNvPicPr>
            <a:picLocks noChangeAspect="1"/>
          </p:cNvPicPr>
          <p:nvPr/>
        </p:nvPicPr>
        <p:blipFill>
          <a:blip r:embed="rId1"/>
          <a:stretch>
            <a:fillRect/>
          </a:stretch>
        </p:blipFill>
        <p:spPr>
          <a:xfrm>
            <a:off x="5409590" y="1134770"/>
            <a:ext cx="427939" cy="427939"/>
          </a:xfrm>
          <a:prstGeom prst="rect">
            <a:avLst/>
          </a:prstGeom>
        </p:spPr>
      </p:pic>
      <p:sp>
        <p:nvSpPr>
          <p:cNvPr id="23" name="!!ctitle-0"/>
          <p:cNvSpPr txBox="1"/>
          <p:nvPr/>
        </p:nvSpPr>
        <p:spPr>
          <a:xfrm>
            <a:off x="6263640" y="822960"/>
            <a:ext cx="5212080" cy="457200"/>
          </a:xfrm>
          <a:prstGeom prst="rect">
            <a:avLst/>
          </a:prstGeom>
          <a:noFill/>
          <a:ln/>
        </p:spPr>
        <p:txBody>
          <a:bodyPr wrap="square" lIns="0" tIns="0" rIns="0" bIns="0" rtlCol="0" anchor="ctr"/>
          <a:lstStyle/>
          <a:p>
            <a:pPr indent="0" marL="0">
              <a:buNone/>
            </a:pPr>
            <a:r>
              <a:rPr lang="en-US" sz="2000" b="1" dirty="0">
                <a:solidFill>
                  <a:srgbClr val="0D1B3E"/>
                </a:solidFill>
                <a:latin typeface="Century Gothic" pitchFamily="34" charset="0"/>
                <a:ea typeface="Century Gothic" pitchFamily="34" charset="-122"/>
                <a:cs typeface="Century Gothic" pitchFamily="34" charset="-120"/>
              </a:rPr>
              <a:t>Bilal is blind</a:t>
            </a:r>
            <a:endParaRPr lang="en-US" sz="2000" dirty="0"/>
          </a:p>
        </p:txBody>
      </p:sp>
      <p:sp>
        <p:nvSpPr>
          <p:cNvPr id="24" name="!!cdesc-0"/>
          <p:cNvSpPr txBox="1"/>
          <p:nvPr/>
        </p:nvSpPr>
        <p:spPr>
          <a:xfrm>
            <a:off x="6263640" y="1298448"/>
            <a:ext cx="5212080" cy="731520"/>
          </a:xfrm>
          <a:prstGeom prst="rect">
            <a:avLst/>
          </a:prstGeom>
          <a:noFill/>
          <a:ln/>
        </p:spPr>
        <p:txBody>
          <a:bodyPr wrap="square" lIns="0" tIns="0" rIns="0" bIns="0" rtlCol="0" anchor="t"/>
          <a:lstStyle/>
          <a:p>
            <a:pPr indent="0" marL="0">
              <a:buNone/>
            </a:pPr>
            <a:r>
              <a:rPr lang="en-US" sz="1500" dirty="0">
                <a:solidFill>
                  <a:srgbClr val="4A5875"/>
                </a:solidFill>
                <a:latin typeface="Calibri" pitchFamily="34" charset="0"/>
                <a:ea typeface="Calibri" pitchFamily="34" charset="-122"/>
                <a:cs typeface="Calibri" pitchFamily="34" charset="-120"/>
              </a:rPr>
              <a:t>He can’t read the page or see its diagrams. Most textbooks have no accessible version.</a:t>
            </a:r>
            <a:endParaRPr lang="en-US" sz="1500" dirty="0"/>
          </a:p>
        </p:txBody>
      </p:sp>
      <p:sp>
        <p:nvSpPr>
          <p:cNvPr id="25" name="!!card-1"/>
          <p:cNvSpPr/>
          <p:nvPr/>
        </p:nvSpPr>
        <p:spPr>
          <a:xfrm>
            <a:off x="4937760" y="2359152"/>
            <a:ext cx="6812280" cy="1600200"/>
          </a:xfrm>
          <a:prstGeom prst="roundRect">
            <a:avLst>
              <a:gd name="adj" fmla="val 11429"/>
            </a:avLst>
          </a:prstGeom>
          <a:solidFill>
            <a:srgbClr val="FFFFFF"/>
          </a:solidFill>
          <a:ln w="12700">
            <a:solidFill>
              <a:srgbClr val="D3DEDC"/>
            </a:solidFill>
            <a:prstDash val="solid"/>
          </a:ln>
          <a:effectLst>
            <a:outerShdw sx="100000" sy="100000" kx="0" ky="0" algn="bl" rotWithShape="0" blurRad="152400" dist="38100" dir="5400000">
              <a:srgbClr val="0D1B3E">
                <a:alpha val="13000"/>
              </a:srgbClr>
            </a:outerShdw>
          </a:effectLst>
        </p:spPr>
      </p:sp>
      <p:sp>
        <p:nvSpPr>
          <p:cNvPr id="26" name="!!cdot-1"/>
          <p:cNvSpPr/>
          <p:nvPr/>
        </p:nvSpPr>
        <p:spPr>
          <a:xfrm>
            <a:off x="5212080" y="2747772"/>
            <a:ext cx="822960" cy="822960"/>
          </a:xfrm>
          <a:prstGeom prst="ellipse">
            <a:avLst/>
          </a:prstGeom>
          <a:solidFill>
            <a:srgbClr val="E7EEF9"/>
          </a:solidFill>
          <a:ln w="12700">
            <a:solidFill>
              <a:srgbClr val="E7EEF9"/>
            </a:solidFill>
            <a:prstDash val="solid"/>
          </a:ln>
        </p:spPr>
      </p:sp>
      <p:pic>
        <p:nvPicPr>
          <p:cNvPr id="27" name="!!cicon-1" descr="preencoded.png">    </p:cNvPr>
          <p:cNvPicPr>
            <a:picLocks noChangeAspect="1"/>
          </p:cNvPicPr>
          <p:nvPr/>
        </p:nvPicPr>
        <p:blipFill>
          <a:blip r:embed="rId2"/>
          <a:stretch>
            <a:fillRect/>
          </a:stretch>
        </p:blipFill>
        <p:spPr>
          <a:xfrm>
            <a:off x="5409590" y="2945282"/>
            <a:ext cx="427939" cy="427939"/>
          </a:xfrm>
          <a:prstGeom prst="rect">
            <a:avLst/>
          </a:prstGeom>
        </p:spPr>
      </p:pic>
      <p:sp>
        <p:nvSpPr>
          <p:cNvPr id="28" name="!!ctitle-1"/>
          <p:cNvSpPr txBox="1"/>
          <p:nvPr/>
        </p:nvSpPr>
        <p:spPr>
          <a:xfrm>
            <a:off x="6263640" y="2633472"/>
            <a:ext cx="5212080" cy="457200"/>
          </a:xfrm>
          <a:prstGeom prst="rect">
            <a:avLst/>
          </a:prstGeom>
          <a:noFill/>
          <a:ln/>
        </p:spPr>
        <p:txBody>
          <a:bodyPr wrap="square" lIns="0" tIns="0" rIns="0" bIns="0" rtlCol="0" anchor="ctr"/>
          <a:lstStyle/>
          <a:p>
            <a:pPr indent="0" marL="0">
              <a:buNone/>
            </a:pPr>
            <a:r>
              <a:rPr lang="en-US" sz="2000" b="1" dirty="0">
                <a:solidFill>
                  <a:srgbClr val="0D1B3E"/>
                </a:solidFill>
                <a:latin typeface="Century Gothic" pitchFamily="34" charset="0"/>
                <a:ea typeface="Century Gothic" pitchFamily="34" charset="-122"/>
                <a:cs typeface="Century Gothic" pitchFamily="34" charset="-120"/>
              </a:rPr>
              <a:t>Sara is dyslexic</a:t>
            </a:r>
            <a:endParaRPr lang="en-US" sz="2000" dirty="0"/>
          </a:p>
        </p:txBody>
      </p:sp>
      <p:sp>
        <p:nvSpPr>
          <p:cNvPr id="29" name="!!cdesc-1"/>
          <p:cNvSpPr txBox="1"/>
          <p:nvPr/>
        </p:nvSpPr>
        <p:spPr>
          <a:xfrm>
            <a:off x="6263640" y="3108960"/>
            <a:ext cx="5212080" cy="731520"/>
          </a:xfrm>
          <a:prstGeom prst="rect">
            <a:avLst/>
          </a:prstGeom>
          <a:noFill/>
          <a:ln/>
        </p:spPr>
        <p:txBody>
          <a:bodyPr wrap="square" lIns="0" tIns="0" rIns="0" bIns="0" rtlCol="0" anchor="t"/>
          <a:lstStyle/>
          <a:p>
            <a:pPr indent="0" marL="0">
              <a:buNone/>
            </a:pPr>
            <a:r>
              <a:rPr lang="en-US" sz="1500" dirty="0">
                <a:solidFill>
                  <a:srgbClr val="4A5875"/>
                </a:solidFill>
                <a:latin typeface="Calibri" pitchFamily="34" charset="0"/>
                <a:ea typeface="Calibri" pitchFamily="34" charset="-122"/>
                <a:cs typeface="Calibri" pitchFamily="34" charset="-120"/>
              </a:rPr>
              <a:t>Long sentences and hard words lose her, and Urdu- and Pashto-medium students hit the same wall in English.</a:t>
            </a:r>
            <a:endParaRPr lang="en-US" sz="1500" dirty="0"/>
          </a:p>
        </p:txBody>
      </p:sp>
      <p:sp>
        <p:nvSpPr>
          <p:cNvPr id="30" name="!!card-2"/>
          <p:cNvSpPr/>
          <p:nvPr/>
        </p:nvSpPr>
        <p:spPr>
          <a:xfrm>
            <a:off x="4937760" y="4169664"/>
            <a:ext cx="6812280" cy="1600200"/>
          </a:xfrm>
          <a:prstGeom prst="roundRect">
            <a:avLst>
              <a:gd name="adj" fmla="val 11429"/>
            </a:avLst>
          </a:prstGeom>
          <a:solidFill>
            <a:srgbClr val="FFFFFF"/>
          </a:solidFill>
          <a:ln w="12700">
            <a:solidFill>
              <a:srgbClr val="D3DEDC"/>
            </a:solidFill>
            <a:prstDash val="solid"/>
          </a:ln>
          <a:effectLst>
            <a:outerShdw sx="100000" sy="100000" kx="0" ky="0" algn="bl" rotWithShape="0" blurRad="152400" dist="38100" dir="5400000">
              <a:srgbClr val="0D1B3E">
                <a:alpha val="13000"/>
              </a:srgbClr>
            </a:outerShdw>
          </a:effectLst>
        </p:spPr>
      </p:sp>
      <p:sp>
        <p:nvSpPr>
          <p:cNvPr id="31" name="!!cdot-2"/>
          <p:cNvSpPr/>
          <p:nvPr/>
        </p:nvSpPr>
        <p:spPr>
          <a:xfrm>
            <a:off x="5212080" y="4558284"/>
            <a:ext cx="822960" cy="822960"/>
          </a:xfrm>
          <a:prstGeom prst="ellipse">
            <a:avLst/>
          </a:prstGeom>
          <a:solidFill>
            <a:srgbClr val="FFF0CC"/>
          </a:solidFill>
          <a:ln w="12700">
            <a:solidFill>
              <a:srgbClr val="FFF0CC"/>
            </a:solidFill>
            <a:prstDash val="solid"/>
          </a:ln>
        </p:spPr>
      </p:sp>
      <p:pic>
        <p:nvPicPr>
          <p:cNvPr id="32" name="!!cicon-2" descr="preencoded.png">    </p:cNvPr>
          <p:cNvPicPr>
            <a:picLocks noChangeAspect="1"/>
          </p:cNvPicPr>
          <p:nvPr/>
        </p:nvPicPr>
        <p:blipFill>
          <a:blip r:embed="rId3"/>
          <a:stretch>
            <a:fillRect/>
          </a:stretch>
        </p:blipFill>
        <p:spPr>
          <a:xfrm>
            <a:off x="5409590" y="4755794"/>
            <a:ext cx="427939" cy="427939"/>
          </a:xfrm>
          <a:prstGeom prst="rect">
            <a:avLst/>
          </a:prstGeom>
        </p:spPr>
      </p:pic>
      <p:sp>
        <p:nvSpPr>
          <p:cNvPr id="33" name="!!ctitle-2"/>
          <p:cNvSpPr txBox="1"/>
          <p:nvPr/>
        </p:nvSpPr>
        <p:spPr>
          <a:xfrm>
            <a:off x="6263640" y="4443984"/>
            <a:ext cx="5212080" cy="457200"/>
          </a:xfrm>
          <a:prstGeom prst="rect">
            <a:avLst/>
          </a:prstGeom>
          <a:noFill/>
          <a:ln/>
        </p:spPr>
        <p:txBody>
          <a:bodyPr wrap="square" lIns="0" tIns="0" rIns="0" bIns="0" rtlCol="0" anchor="ctr"/>
          <a:lstStyle/>
          <a:p>
            <a:pPr indent="0" marL="0">
              <a:buNone/>
            </a:pPr>
            <a:r>
              <a:rPr lang="en-US" sz="2000" b="1" dirty="0">
                <a:solidFill>
                  <a:srgbClr val="0D1B3E"/>
                </a:solidFill>
                <a:latin typeface="Century Gothic" pitchFamily="34" charset="0"/>
                <a:ea typeface="Century Gothic" pitchFamily="34" charset="-122"/>
                <a:cs typeface="Century Gothic" pitchFamily="34" charset="-120"/>
              </a:rPr>
              <a:t>Hamza is deaf</a:t>
            </a:r>
            <a:endParaRPr lang="en-US" sz="2000" dirty="0"/>
          </a:p>
        </p:txBody>
      </p:sp>
      <p:sp>
        <p:nvSpPr>
          <p:cNvPr id="34" name="!!cdesc-2"/>
          <p:cNvSpPr txBox="1"/>
          <p:nvPr/>
        </p:nvSpPr>
        <p:spPr>
          <a:xfrm>
            <a:off x="6263640" y="4919472"/>
            <a:ext cx="5212080" cy="731520"/>
          </a:xfrm>
          <a:prstGeom prst="rect">
            <a:avLst/>
          </a:prstGeom>
          <a:noFill/>
          <a:ln/>
        </p:spPr>
        <p:txBody>
          <a:bodyPr wrap="square" lIns="0" tIns="0" rIns="0" bIns="0" rtlCol="0" anchor="t"/>
          <a:lstStyle/>
          <a:p>
            <a:pPr indent="0" marL="0">
              <a:buNone/>
            </a:pPr>
            <a:r>
              <a:rPr lang="en-US" sz="1500" dirty="0">
                <a:solidFill>
                  <a:srgbClr val="4A5875"/>
                </a:solidFill>
                <a:latin typeface="Calibri" pitchFamily="34" charset="0"/>
                <a:ea typeface="Calibri" pitchFamily="34" charset="-122"/>
                <a:cs typeface="Calibri" pitchFamily="34" charset="-120"/>
              </a:rPr>
              <a:t>He misses everything the teacher says while explaining the page.</a:t>
            </a:r>
            <a:endParaRPr lang="en-US" sz="1500" dirty="0"/>
          </a:p>
        </p:txBody>
      </p:sp>
      <p:sp>
        <p:nvSpPr>
          <p:cNvPr id="35" name="!!dot-0"/>
          <p:cNvSpPr/>
          <p:nvPr/>
        </p:nvSpPr>
        <p:spPr>
          <a:xfrm>
            <a:off x="10012680" y="6400800"/>
            <a:ext cx="100584" cy="100584"/>
          </a:xfrm>
          <a:prstGeom prst="ellipse">
            <a:avLst/>
          </a:prstGeom>
          <a:solidFill>
            <a:srgbClr val="C3CDDD"/>
          </a:solidFill>
          <a:ln w="12700">
            <a:solidFill>
              <a:srgbClr val="C3CDDD"/>
            </a:solidFill>
            <a:prstDash val="solid"/>
          </a:ln>
        </p:spPr>
      </p:sp>
      <p:sp>
        <p:nvSpPr>
          <p:cNvPr id="36" name="!!dot-1"/>
          <p:cNvSpPr/>
          <p:nvPr/>
        </p:nvSpPr>
        <p:spPr>
          <a:xfrm>
            <a:off x="10250424" y="6400800"/>
            <a:ext cx="155448" cy="155448"/>
          </a:xfrm>
          <a:prstGeom prst="ellipse">
            <a:avLst/>
          </a:prstGeom>
          <a:solidFill>
            <a:srgbClr val="F2A40E"/>
          </a:solidFill>
          <a:ln w="12700">
            <a:solidFill>
              <a:srgbClr val="F2A40E"/>
            </a:solidFill>
            <a:prstDash val="solid"/>
          </a:ln>
        </p:spPr>
      </p:sp>
      <p:sp>
        <p:nvSpPr>
          <p:cNvPr id="37" name="!!dot-2"/>
          <p:cNvSpPr/>
          <p:nvPr/>
        </p:nvSpPr>
        <p:spPr>
          <a:xfrm>
            <a:off x="10488168" y="6400800"/>
            <a:ext cx="100584" cy="100584"/>
          </a:xfrm>
          <a:prstGeom prst="ellipse">
            <a:avLst/>
          </a:prstGeom>
          <a:solidFill>
            <a:srgbClr val="C3CDDD"/>
          </a:solidFill>
          <a:ln w="12700">
            <a:solidFill>
              <a:srgbClr val="C3CDDD"/>
            </a:solidFill>
            <a:prstDash val="solid"/>
          </a:ln>
        </p:spPr>
      </p:sp>
      <p:sp>
        <p:nvSpPr>
          <p:cNvPr id="38" name="!!dot-3"/>
          <p:cNvSpPr/>
          <p:nvPr/>
        </p:nvSpPr>
        <p:spPr>
          <a:xfrm>
            <a:off x="10725912" y="6400800"/>
            <a:ext cx="100584" cy="100584"/>
          </a:xfrm>
          <a:prstGeom prst="ellipse">
            <a:avLst/>
          </a:prstGeom>
          <a:solidFill>
            <a:srgbClr val="C3CDDD"/>
          </a:solidFill>
          <a:ln w="12700">
            <a:solidFill>
              <a:srgbClr val="C3CDDD"/>
            </a:solidFill>
            <a:prstDash val="solid"/>
          </a:ln>
        </p:spPr>
      </p:sp>
      <p:sp>
        <p:nvSpPr>
          <p:cNvPr id="39" name="!!dot-4"/>
          <p:cNvSpPr/>
          <p:nvPr/>
        </p:nvSpPr>
        <p:spPr>
          <a:xfrm>
            <a:off x="10963656" y="6400800"/>
            <a:ext cx="100584" cy="100584"/>
          </a:xfrm>
          <a:prstGeom prst="ellipse">
            <a:avLst/>
          </a:prstGeom>
          <a:solidFill>
            <a:srgbClr val="C3CDDD"/>
          </a:solidFill>
          <a:ln w="12700">
            <a:solidFill>
              <a:srgbClr val="C3CDDD"/>
            </a:solidFill>
            <a:prstDash val="solid"/>
          </a:ln>
        </p:spPr>
      </p:sp>
      <p:sp>
        <p:nvSpPr>
          <p:cNvPr id="40" name="!!dot-5"/>
          <p:cNvSpPr/>
          <p:nvPr/>
        </p:nvSpPr>
        <p:spPr>
          <a:xfrm>
            <a:off x="11201400" y="6400800"/>
            <a:ext cx="100584" cy="100584"/>
          </a:xfrm>
          <a:prstGeom prst="ellipse">
            <a:avLst/>
          </a:prstGeom>
          <a:solidFill>
            <a:srgbClr val="C3CDDD"/>
          </a:solidFill>
          <a:ln w="12700">
            <a:solidFill>
              <a:srgbClr val="C3CDDD"/>
            </a:solidFill>
            <a:prstDash val="solid"/>
          </a:ln>
        </p:spPr>
      </p:sp>
      <p:sp>
        <p:nvSpPr>
          <p:cNvPr id="41" name="!!dot-6"/>
          <p:cNvSpPr/>
          <p:nvPr/>
        </p:nvSpPr>
        <p:spPr>
          <a:xfrm>
            <a:off x="11439144" y="6400800"/>
            <a:ext cx="100584" cy="100584"/>
          </a:xfrm>
          <a:prstGeom prst="ellipse">
            <a:avLst/>
          </a:prstGeom>
          <a:solidFill>
            <a:srgbClr val="C3CDDD"/>
          </a:solidFill>
          <a:ln w="12700">
            <a:solidFill>
              <a:srgbClr val="C3CDDD"/>
            </a:solidFill>
            <a:prstDash val="solid"/>
          </a:ln>
        </p:spPr>
      </p:sp>
      <p:sp>
        <p:nvSpPr>
          <p:cNvPr id="42" name="!!dot-7"/>
          <p:cNvSpPr/>
          <p:nvPr/>
        </p:nvSpPr>
        <p:spPr>
          <a:xfrm>
            <a:off x="11676888" y="6400800"/>
            <a:ext cx="100584" cy="100584"/>
          </a:xfrm>
          <a:prstGeom prst="ellipse">
            <a:avLst/>
          </a:prstGeom>
          <a:solidFill>
            <a:srgbClr val="C3CDDD"/>
          </a:solidFill>
          <a:ln w="12700">
            <a:solidFill>
              <a:srgbClr val="C3CDDD"/>
            </a:solidFill>
            <a:prstDash val="solid"/>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5F3"/>
        </a:solidFill>
      </p:bgPr>
    </p:bg>
    <p:spTree>
      <p:nvGrpSpPr>
        <p:cNvPr id="1" name=""/>
        <p:cNvGrpSpPr/>
        <p:nvPr/>
      </p:nvGrpSpPr>
      <p:grpSpPr>
        <a:xfrm>
          <a:off x="0" y="0"/>
          <a:ext cx="0" cy="0"/>
          <a:chOff x="0" y="0"/>
          <a:chExt cx="0" cy="0"/>
        </a:xfrm>
      </p:grpSpPr>
      <p:sp>
        <p:nvSpPr>
          <p:cNvPr id="2" name="!!panel"/>
          <p:cNvSpPr/>
          <p:nvPr/>
        </p:nvSpPr>
        <p:spPr>
          <a:xfrm>
            <a:off x="0" y="0"/>
            <a:ext cx="12191695" cy="2011680"/>
          </a:xfrm>
          <a:prstGeom prst="roundRect">
            <a:avLst/>
          </a:prstGeom>
          <a:solidFill>
            <a:srgbClr val="1C3EA6"/>
          </a:solidFill>
          <a:ln w="12700">
            <a:solidFill>
              <a:srgbClr val="1C3EA6"/>
            </a:solidFill>
            <a:prstDash val="solid"/>
          </a:ln>
        </p:spPr>
      </p:sp>
      <p:sp>
        <p:nvSpPr>
          <p:cNvPr id="3" name="!!ray-0"/>
          <p:cNvSpPr/>
          <p:nvPr/>
        </p:nvSpPr>
        <p:spPr>
          <a:xfrm>
            <a:off x="11624767" y="1005840"/>
            <a:ext cx="243230" cy="914"/>
          </a:xfrm>
          <a:prstGeom prst="line">
            <a:avLst/>
          </a:prstGeom>
          <a:noFill/>
          <a:ln w="19050">
            <a:solidFill>
              <a:srgbClr val="F2A40E"/>
            </a:solidFill>
            <a:prstDash val="solid"/>
          </a:ln>
        </p:spPr>
      </p:sp>
      <p:sp>
        <p:nvSpPr>
          <p:cNvPr id="4" name="!!ray-1"/>
          <p:cNvSpPr/>
          <p:nvPr/>
        </p:nvSpPr>
        <p:spPr>
          <a:xfrm>
            <a:off x="11561921" y="1240384"/>
            <a:ext cx="210644" cy="121615"/>
          </a:xfrm>
          <a:prstGeom prst="line">
            <a:avLst/>
          </a:prstGeom>
          <a:noFill/>
          <a:ln w="19050">
            <a:solidFill>
              <a:srgbClr val="F2A40E">
                <a:alpha val="55000"/>
              </a:srgbClr>
            </a:solidFill>
            <a:prstDash val="solid"/>
          </a:ln>
        </p:spPr>
      </p:sp>
      <p:sp>
        <p:nvSpPr>
          <p:cNvPr id="5" name="!!ray-2"/>
          <p:cNvSpPr/>
          <p:nvPr/>
        </p:nvSpPr>
        <p:spPr>
          <a:xfrm>
            <a:off x="11390224" y="1412081"/>
            <a:ext cx="121615" cy="210644"/>
          </a:xfrm>
          <a:prstGeom prst="line">
            <a:avLst/>
          </a:prstGeom>
          <a:noFill/>
          <a:ln w="19050">
            <a:solidFill>
              <a:srgbClr val="F2A40E"/>
            </a:solidFill>
            <a:prstDash val="solid"/>
          </a:ln>
        </p:spPr>
      </p:sp>
      <p:sp>
        <p:nvSpPr>
          <p:cNvPr id="6" name="!!ray-3"/>
          <p:cNvSpPr/>
          <p:nvPr/>
        </p:nvSpPr>
        <p:spPr>
          <a:xfrm>
            <a:off x="11155680" y="1474927"/>
            <a:ext cx="914" cy="243230"/>
          </a:xfrm>
          <a:prstGeom prst="line">
            <a:avLst/>
          </a:prstGeom>
          <a:noFill/>
          <a:ln w="19050">
            <a:solidFill>
              <a:srgbClr val="F2A40E">
                <a:alpha val="55000"/>
              </a:srgbClr>
            </a:solidFill>
            <a:prstDash val="solid"/>
          </a:ln>
        </p:spPr>
      </p:sp>
      <p:sp>
        <p:nvSpPr>
          <p:cNvPr id="7" name="!!ray-4"/>
          <p:cNvSpPr/>
          <p:nvPr/>
        </p:nvSpPr>
        <p:spPr>
          <a:xfrm flipH="1">
            <a:off x="10799521" y="1412081"/>
            <a:ext cx="121615" cy="210644"/>
          </a:xfrm>
          <a:prstGeom prst="line">
            <a:avLst/>
          </a:prstGeom>
          <a:noFill/>
          <a:ln w="19050">
            <a:solidFill>
              <a:srgbClr val="F2A40E"/>
            </a:solidFill>
            <a:prstDash val="solid"/>
          </a:ln>
        </p:spPr>
      </p:sp>
      <p:sp>
        <p:nvSpPr>
          <p:cNvPr id="8" name="!!ray-5"/>
          <p:cNvSpPr/>
          <p:nvPr/>
        </p:nvSpPr>
        <p:spPr>
          <a:xfrm flipH="1">
            <a:off x="10538795" y="1240384"/>
            <a:ext cx="210644" cy="121615"/>
          </a:xfrm>
          <a:prstGeom prst="line">
            <a:avLst/>
          </a:prstGeom>
          <a:noFill/>
          <a:ln w="19050">
            <a:solidFill>
              <a:srgbClr val="F2A40E">
                <a:alpha val="55000"/>
              </a:srgbClr>
            </a:solidFill>
            <a:prstDash val="solid"/>
          </a:ln>
        </p:spPr>
      </p:sp>
      <p:sp>
        <p:nvSpPr>
          <p:cNvPr id="9" name="!!ray-6"/>
          <p:cNvSpPr/>
          <p:nvPr/>
        </p:nvSpPr>
        <p:spPr>
          <a:xfrm flipH="1">
            <a:off x="10443362" y="1005840"/>
            <a:ext cx="243230" cy="914"/>
          </a:xfrm>
          <a:prstGeom prst="line">
            <a:avLst/>
          </a:prstGeom>
          <a:noFill/>
          <a:ln w="19050">
            <a:solidFill>
              <a:srgbClr val="F2A40E"/>
            </a:solidFill>
            <a:prstDash val="solid"/>
          </a:ln>
        </p:spPr>
      </p:sp>
      <p:sp>
        <p:nvSpPr>
          <p:cNvPr id="10" name="!!ray-7"/>
          <p:cNvSpPr/>
          <p:nvPr/>
        </p:nvSpPr>
        <p:spPr>
          <a:xfrm flipH="1" flipV="1">
            <a:off x="10538795" y="649681"/>
            <a:ext cx="210644" cy="121615"/>
          </a:xfrm>
          <a:prstGeom prst="line">
            <a:avLst/>
          </a:prstGeom>
          <a:noFill/>
          <a:ln w="19050">
            <a:solidFill>
              <a:srgbClr val="F2A40E">
                <a:alpha val="55000"/>
              </a:srgbClr>
            </a:solidFill>
            <a:prstDash val="solid"/>
          </a:ln>
        </p:spPr>
      </p:sp>
      <p:sp>
        <p:nvSpPr>
          <p:cNvPr id="11" name="!!ray-8"/>
          <p:cNvSpPr/>
          <p:nvPr/>
        </p:nvSpPr>
        <p:spPr>
          <a:xfrm flipH="1" flipV="1">
            <a:off x="10799521" y="388955"/>
            <a:ext cx="121615" cy="210644"/>
          </a:xfrm>
          <a:prstGeom prst="line">
            <a:avLst/>
          </a:prstGeom>
          <a:noFill/>
          <a:ln w="19050">
            <a:solidFill>
              <a:srgbClr val="F2A40E"/>
            </a:solidFill>
            <a:prstDash val="solid"/>
          </a:ln>
        </p:spPr>
      </p:sp>
      <p:sp>
        <p:nvSpPr>
          <p:cNvPr id="12" name="!!ray-9"/>
          <p:cNvSpPr/>
          <p:nvPr/>
        </p:nvSpPr>
        <p:spPr>
          <a:xfrm flipH="1" flipV="1">
            <a:off x="11155680" y="293522"/>
            <a:ext cx="914" cy="243230"/>
          </a:xfrm>
          <a:prstGeom prst="line">
            <a:avLst/>
          </a:prstGeom>
          <a:noFill/>
          <a:ln w="19050">
            <a:solidFill>
              <a:srgbClr val="F2A40E">
                <a:alpha val="55000"/>
              </a:srgbClr>
            </a:solidFill>
            <a:prstDash val="solid"/>
          </a:ln>
        </p:spPr>
      </p:sp>
      <p:sp>
        <p:nvSpPr>
          <p:cNvPr id="13" name="!!ray-10"/>
          <p:cNvSpPr/>
          <p:nvPr/>
        </p:nvSpPr>
        <p:spPr>
          <a:xfrm flipV="1">
            <a:off x="11390224" y="388955"/>
            <a:ext cx="121615" cy="210644"/>
          </a:xfrm>
          <a:prstGeom prst="line">
            <a:avLst/>
          </a:prstGeom>
          <a:noFill/>
          <a:ln w="19050">
            <a:solidFill>
              <a:srgbClr val="F2A40E"/>
            </a:solidFill>
            <a:prstDash val="solid"/>
          </a:ln>
        </p:spPr>
      </p:sp>
      <p:sp>
        <p:nvSpPr>
          <p:cNvPr id="14" name="!!ray-11"/>
          <p:cNvSpPr/>
          <p:nvPr/>
        </p:nvSpPr>
        <p:spPr>
          <a:xfrm flipV="1">
            <a:off x="11561921" y="649681"/>
            <a:ext cx="210644" cy="121615"/>
          </a:xfrm>
          <a:prstGeom prst="line">
            <a:avLst/>
          </a:prstGeom>
          <a:noFill/>
          <a:ln w="19050">
            <a:solidFill>
              <a:srgbClr val="F2A40E">
                <a:alpha val="55000"/>
              </a:srgbClr>
            </a:solidFill>
            <a:prstDash val="solid"/>
          </a:ln>
        </p:spPr>
      </p:sp>
      <p:sp>
        <p:nvSpPr>
          <p:cNvPr id="15" name="!!ring"/>
          <p:cNvSpPr/>
          <p:nvPr/>
        </p:nvSpPr>
        <p:spPr>
          <a:xfrm>
            <a:off x="10808208" y="658368"/>
            <a:ext cx="694944" cy="694944"/>
          </a:xfrm>
          <a:prstGeom prst="ellipse">
            <a:avLst/>
          </a:prstGeom>
          <a:solidFill>
            <a:srgbClr val="1C3EA6"/>
          </a:solidFill>
          <a:ln w="12700">
            <a:solidFill>
              <a:srgbClr val="FFFFFF"/>
            </a:solidFill>
            <a:prstDash val="solid"/>
          </a:ln>
        </p:spPr>
      </p:sp>
      <p:sp>
        <p:nvSpPr>
          <p:cNvPr id="16" name="!!flame"/>
          <p:cNvSpPr/>
          <p:nvPr/>
        </p:nvSpPr>
        <p:spPr>
          <a:xfrm>
            <a:off x="11009742" y="859902"/>
            <a:ext cx="291876" cy="291876"/>
          </a:xfrm>
          <a:prstGeom prst="ellipse">
            <a:avLst/>
          </a:prstGeom>
          <a:solidFill>
            <a:srgbClr val="F2A40E"/>
          </a:solidFill>
          <a:ln w="12700">
            <a:solidFill>
              <a:srgbClr val="F2A40E"/>
            </a:solidFill>
            <a:prstDash val="solid"/>
          </a:ln>
        </p:spPr>
      </p:sp>
      <p:sp>
        <p:nvSpPr>
          <p:cNvPr id="17" name="!!kicker"/>
          <p:cNvSpPr txBox="1"/>
          <p:nvPr/>
        </p:nvSpPr>
        <p:spPr>
          <a:xfrm>
            <a:off x="731520" y="411480"/>
            <a:ext cx="8229600" cy="320040"/>
          </a:xfrm>
          <a:prstGeom prst="rect">
            <a:avLst/>
          </a:prstGeom>
          <a:noFill/>
          <a:ln/>
        </p:spPr>
        <p:txBody>
          <a:bodyPr wrap="square" lIns="0" tIns="0" rIns="0" bIns="0" rtlCol="0" anchor="ctr"/>
          <a:lstStyle/>
          <a:p>
            <a:pPr indent="0" marL="0">
              <a:buNone/>
            </a:pPr>
            <a:r>
              <a:rPr lang="en-US" sz="1300" b="1" spc="300" kern="0" dirty="0">
                <a:solidFill>
                  <a:srgbClr val="F2A40E"/>
                </a:solidFill>
                <a:latin typeface="Calibri" pitchFamily="34" charset="0"/>
                <a:ea typeface="Calibri" pitchFamily="34" charset="-122"/>
                <a:cs typeface="Calibri" pitchFamily="34" charset="-120"/>
              </a:rPr>
              <a:t>02 · OUR SOLUTION, AND WHERE AI IS USED</a:t>
            </a:r>
            <a:endParaRPr lang="en-US" sz="1300" dirty="0"/>
          </a:p>
        </p:txBody>
      </p:sp>
      <p:sp>
        <p:nvSpPr>
          <p:cNvPr id="18" name="!!title"/>
          <p:cNvSpPr txBox="1"/>
          <p:nvPr/>
        </p:nvSpPr>
        <p:spPr>
          <a:xfrm>
            <a:off x="731520" y="777240"/>
            <a:ext cx="9692640" cy="914400"/>
          </a:xfrm>
          <a:prstGeom prst="rect">
            <a:avLst/>
          </a:prstGeom>
          <a:noFill/>
          <a:ln/>
        </p:spPr>
        <p:txBody>
          <a:bodyPr wrap="square" lIns="0" tIns="0" rIns="0" bIns="0" rtlCol="0" anchor="t"/>
          <a:lstStyle/>
          <a:p>
            <a:pPr indent="0" marL="0">
              <a:buNone/>
            </a:pPr>
            <a:r>
              <a:rPr lang="en-US" sz="3400" b="1" dirty="0">
                <a:solidFill>
                  <a:srgbClr val="FFFFFF"/>
                </a:solidFill>
                <a:latin typeface="Century Gothic" pitchFamily="34" charset="0"/>
                <a:ea typeface="Century Gothic" pitchFamily="34" charset="-122"/>
                <a:cs typeface="Century Gothic" pitchFamily="34" charset="-120"/>
              </a:rPr>
              <a:t>One page in. Five ways to learn out.</a:t>
            </a:r>
            <a:endParaRPr lang="en-US" sz="3400" dirty="0"/>
          </a:p>
        </p:txBody>
      </p:sp>
      <p:sp>
        <p:nvSpPr>
          <p:cNvPr id="19" name="step-0"/>
          <p:cNvSpPr/>
          <p:nvPr/>
        </p:nvSpPr>
        <p:spPr>
          <a:xfrm>
            <a:off x="731520" y="2331720"/>
            <a:ext cx="2615184" cy="1188720"/>
          </a:xfrm>
          <a:prstGeom prst="roundRect">
            <a:avLst>
              <a:gd name="adj" fmla="val 12308"/>
            </a:avLst>
          </a:prstGeom>
          <a:solidFill>
            <a:srgbClr val="FFFFFF"/>
          </a:solidFill>
          <a:ln w="12700">
            <a:solidFill>
              <a:srgbClr val="D3DEDC"/>
            </a:solidFill>
            <a:prstDash val="solid"/>
          </a:ln>
        </p:spPr>
      </p:sp>
      <p:sp>
        <p:nvSpPr>
          <p:cNvPr id="20" name="step-dot-0"/>
          <p:cNvSpPr/>
          <p:nvPr/>
        </p:nvSpPr>
        <p:spPr>
          <a:xfrm>
            <a:off x="932688" y="2532888"/>
            <a:ext cx="566928" cy="566928"/>
          </a:xfrm>
          <a:prstGeom prst="ellipse">
            <a:avLst/>
          </a:prstGeom>
          <a:solidFill>
            <a:srgbClr val="1C3EA6"/>
          </a:solidFill>
          <a:ln w="12700">
            <a:solidFill>
              <a:srgbClr val="1C3EA6"/>
            </a:solidFill>
            <a:prstDash val="solid"/>
          </a:ln>
        </p:spPr>
      </p:sp>
      <p:pic>
        <p:nvPicPr>
          <p:cNvPr id="21" name="step-icon-0" descr="preencoded.png">    </p:cNvPr>
          <p:cNvPicPr>
            <a:picLocks noChangeAspect="1"/>
          </p:cNvPicPr>
          <p:nvPr/>
        </p:nvPicPr>
        <p:blipFill>
          <a:blip r:embed="rId1"/>
          <a:stretch>
            <a:fillRect/>
          </a:stretch>
        </p:blipFill>
        <p:spPr>
          <a:xfrm>
            <a:off x="1069848" y="2670048"/>
            <a:ext cx="292608" cy="292608"/>
          </a:xfrm>
          <a:prstGeom prst="rect">
            <a:avLst/>
          </a:prstGeom>
        </p:spPr>
      </p:pic>
      <p:sp>
        <p:nvSpPr>
          <p:cNvPr id="22" name="step-t-0"/>
          <p:cNvSpPr txBox="1"/>
          <p:nvPr/>
        </p:nvSpPr>
        <p:spPr>
          <a:xfrm>
            <a:off x="1645920" y="2487168"/>
            <a:ext cx="1234440" cy="320040"/>
          </a:xfrm>
          <a:prstGeom prst="rect">
            <a:avLst/>
          </a:prstGeom>
          <a:noFill/>
          <a:ln/>
        </p:spPr>
        <p:txBody>
          <a:bodyPr wrap="square" lIns="0" tIns="0" rIns="0" bIns="0" rtlCol="0" anchor="ctr"/>
          <a:lstStyle/>
          <a:p>
            <a:pPr indent="0" marL="0">
              <a:buNone/>
            </a:pPr>
            <a:r>
              <a:rPr lang="en-US" sz="1600" b="1" dirty="0">
                <a:solidFill>
                  <a:srgbClr val="0D1B3E"/>
                </a:solidFill>
                <a:latin typeface="Century Gothic" pitchFamily="34" charset="0"/>
                <a:ea typeface="Century Gothic" pitchFamily="34" charset="-122"/>
                <a:cs typeface="Century Gothic" pitchFamily="34" charset="-120"/>
              </a:rPr>
              <a:t>Read</a:t>
            </a:r>
            <a:endParaRPr lang="en-US" sz="1600" dirty="0"/>
          </a:p>
        </p:txBody>
      </p:sp>
      <p:sp>
        <p:nvSpPr>
          <p:cNvPr id="23" name="step-d-0"/>
          <p:cNvSpPr txBox="1"/>
          <p:nvPr/>
        </p:nvSpPr>
        <p:spPr>
          <a:xfrm>
            <a:off x="1645920" y="2807208"/>
            <a:ext cx="1600200" cy="658368"/>
          </a:xfrm>
          <a:prstGeom prst="rect">
            <a:avLst/>
          </a:prstGeom>
          <a:noFill/>
          <a:ln/>
        </p:spPr>
        <p:txBody>
          <a:bodyPr wrap="square" lIns="0" tIns="0" rIns="0" bIns="0" rtlCol="0" anchor="t"/>
          <a:lstStyle/>
          <a:p>
            <a:pPr indent="0" marL="0">
              <a:buNone/>
            </a:pPr>
            <a:r>
              <a:rPr lang="en-US" sz="1150" dirty="0">
                <a:solidFill>
                  <a:srgbClr val="4A5875"/>
                </a:solidFill>
                <a:latin typeface="Calibri" pitchFamily="34" charset="0"/>
                <a:ea typeface="Calibri" pitchFamily="34" charset="-122"/>
                <a:cs typeface="Calibri" pitchFamily="34" charset="-120"/>
              </a:rPr>
              <a:t>Gemini reads the photo, describes every figure, even watches videos</a:t>
            </a:r>
            <a:endParaRPr lang="en-US" sz="1150" dirty="0"/>
          </a:p>
        </p:txBody>
      </p:sp>
      <p:sp>
        <p:nvSpPr>
          <p:cNvPr id="24" name="step-ai-0"/>
          <p:cNvSpPr txBox="1"/>
          <p:nvPr/>
        </p:nvSpPr>
        <p:spPr>
          <a:xfrm>
            <a:off x="2907792" y="2395728"/>
            <a:ext cx="365760" cy="219456"/>
          </a:xfrm>
          <a:prstGeom prst="rect">
            <a:avLst/>
          </a:prstGeom>
          <a:solidFill>
            <a:srgbClr val="FFF0CC"/>
          </a:solidFill>
          <a:ln/>
        </p:spPr>
        <p:txBody>
          <a:bodyPr wrap="square" lIns="0" tIns="0" rIns="0" bIns="0" rtlCol="0" anchor="ctr"/>
          <a:lstStyle/>
          <a:p>
            <a:pPr algn="ctr" indent="0" marL="0">
              <a:buNone/>
            </a:pPr>
            <a:r>
              <a:rPr lang="en-US" sz="900" b="1" dirty="0">
                <a:solidFill>
                  <a:srgbClr val="7F5100"/>
                </a:solidFill>
                <a:latin typeface="Calibri" pitchFamily="34" charset="0"/>
                <a:ea typeface="Calibri" pitchFamily="34" charset="-122"/>
                <a:cs typeface="Calibri" pitchFamily="34" charset="-120"/>
              </a:rPr>
              <a:t>AI</a:t>
            </a:r>
            <a:endParaRPr lang="en-US" sz="900" dirty="0"/>
          </a:p>
        </p:txBody>
      </p:sp>
      <p:sp>
        <p:nvSpPr>
          <p:cNvPr id="25" name="step-1"/>
          <p:cNvSpPr/>
          <p:nvPr/>
        </p:nvSpPr>
        <p:spPr>
          <a:xfrm>
            <a:off x="3529584" y="2331720"/>
            <a:ext cx="2615184" cy="1188720"/>
          </a:xfrm>
          <a:prstGeom prst="roundRect">
            <a:avLst>
              <a:gd name="adj" fmla="val 12308"/>
            </a:avLst>
          </a:prstGeom>
          <a:solidFill>
            <a:srgbClr val="FFFFFF"/>
          </a:solidFill>
          <a:ln w="12700">
            <a:solidFill>
              <a:srgbClr val="D3DEDC"/>
            </a:solidFill>
            <a:prstDash val="solid"/>
          </a:ln>
        </p:spPr>
      </p:sp>
      <p:sp>
        <p:nvSpPr>
          <p:cNvPr id="26" name="step-dot-1"/>
          <p:cNvSpPr/>
          <p:nvPr/>
        </p:nvSpPr>
        <p:spPr>
          <a:xfrm>
            <a:off x="3730752" y="2532888"/>
            <a:ext cx="566928" cy="566928"/>
          </a:xfrm>
          <a:prstGeom prst="ellipse">
            <a:avLst/>
          </a:prstGeom>
          <a:solidFill>
            <a:srgbClr val="0B8F8F"/>
          </a:solidFill>
          <a:ln w="12700">
            <a:solidFill>
              <a:srgbClr val="0B8F8F"/>
            </a:solidFill>
            <a:prstDash val="solid"/>
          </a:ln>
        </p:spPr>
      </p:sp>
      <p:pic>
        <p:nvPicPr>
          <p:cNvPr id="27" name="step-icon-1" descr="preencoded.png">    </p:cNvPr>
          <p:cNvPicPr>
            <a:picLocks noChangeAspect="1"/>
          </p:cNvPicPr>
          <p:nvPr/>
        </p:nvPicPr>
        <p:blipFill>
          <a:blip r:embed="rId2"/>
          <a:stretch>
            <a:fillRect/>
          </a:stretch>
        </p:blipFill>
        <p:spPr>
          <a:xfrm>
            <a:off x="3867912" y="2670048"/>
            <a:ext cx="292608" cy="292608"/>
          </a:xfrm>
          <a:prstGeom prst="rect">
            <a:avLst/>
          </a:prstGeom>
        </p:spPr>
      </p:pic>
      <p:sp>
        <p:nvSpPr>
          <p:cNvPr id="28" name="step-t-1"/>
          <p:cNvSpPr txBox="1"/>
          <p:nvPr/>
        </p:nvSpPr>
        <p:spPr>
          <a:xfrm>
            <a:off x="4443984" y="2487168"/>
            <a:ext cx="1234440" cy="320040"/>
          </a:xfrm>
          <a:prstGeom prst="rect">
            <a:avLst/>
          </a:prstGeom>
          <a:noFill/>
          <a:ln/>
        </p:spPr>
        <p:txBody>
          <a:bodyPr wrap="square" lIns="0" tIns="0" rIns="0" bIns="0" rtlCol="0" anchor="ctr"/>
          <a:lstStyle/>
          <a:p>
            <a:pPr indent="0" marL="0">
              <a:buNone/>
            </a:pPr>
            <a:r>
              <a:rPr lang="en-US" sz="1600" b="1" dirty="0">
                <a:solidFill>
                  <a:srgbClr val="0D1B3E"/>
                </a:solidFill>
                <a:latin typeface="Century Gothic" pitchFamily="34" charset="0"/>
                <a:ea typeface="Century Gothic" pitchFamily="34" charset="-122"/>
                <a:cs typeface="Century Gothic" pitchFamily="34" charset="-120"/>
              </a:rPr>
              <a:t>Rewrite</a:t>
            </a:r>
            <a:endParaRPr lang="en-US" sz="1600" dirty="0"/>
          </a:p>
        </p:txBody>
      </p:sp>
      <p:sp>
        <p:nvSpPr>
          <p:cNvPr id="29" name="step-d-1"/>
          <p:cNvSpPr txBox="1"/>
          <p:nvPr/>
        </p:nvSpPr>
        <p:spPr>
          <a:xfrm>
            <a:off x="4443984" y="2807208"/>
            <a:ext cx="1600200" cy="658368"/>
          </a:xfrm>
          <a:prstGeom prst="rect">
            <a:avLst/>
          </a:prstGeom>
          <a:noFill/>
          <a:ln/>
        </p:spPr>
        <p:txBody>
          <a:bodyPr wrap="square" lIns="0" tIns="0" rIns="0" bIns="0" rtlCol="0" anchor="t"/>
          <a:lstStyle/>
          <a:p>
            <a:pPr indent="0" marL="0">
              <a:buNone/>
            </a:pPr>
            <a:r>
              <a:rPr lang="en-US" sz="1150" dirty="0">
                <a:solidFill>
                  <a:srgbClr val="4A5875"/>
                </a:solidFill>
                <a:latin typeface="Calibri" pitchFamily="34" charset="0"/>
                <a:ea typeface="Calibri" pitchFamily="34" charset="-122"/>
                <a:cs typeface="Calibri" pitchFamily="34" charset="-120"/>
              </a:rPr>
              <a:t>Qwen simplifies; hard words explained in Urdu or Pashto</a:t>
            </a:r>
            <a:endParaRPr lang="en-US" sz="1150" dirty="0"/>
          </a:p>
        </p:txBody>
      </p:sp>
      <p:sp>
        <p:nvSpPr>
          <p:cNvPr id="30" name="step-ai-1"/>
          <p:cNvSpPr txBox="1"/>
          <p:nvPr/>
        </p:nvSpPr>
        <p:spPr>
          <a:xfrm>
            <a:off x="5705856" y="2395728"/>
            <a:ext cx="365760" cy="219456"/>
          </a:xfrm>
          <a:prstGeom prst="rect">
            <a:avLst/>
          </a:prstGeom>
          <a:solidFill>
            <a:srgbClr val="FFF0CC"/>
          </a:solidFill>
          <a:ln/>
        </p:spPr>
        <p:txBody>
          <a:bodyPr wrap="square" lIns="0" tIns="0" rIns="0" bIns="0" rtlCol="0" anchor="ctr"/>
          <a:lstStyle/>
          <a:p>
            <a:pPr algn="ctr" indent="0" marL="0">
              <a:buNone/>
            </a:pPr>
            <a:r>
              <a:rPr lang="en-US" sz="900" b="1" dirty="0">
                <a:solidFill>
                  <a:srgbClr val="7F5100"/>
                </a:solidFill>
                <a:latin typeface="Calibri" pitchFamily="34" charset="0"/>
                <a:ea typeface="Calibri" pitchFamily="34" charset="-122"/>
                <a:cs typeface="Calibri" pitchFamily="34" charset="-120"/>
              </a:rPr>
              <a:t>AI</a:t>
            </a:r>
            <a:endParaRPr lang="en-US" sz="900" dirty="0"/>
          </a:p>
        </p:txBody>
      </p:sp>
      <p:sp>
        <p:nvSpPr>
          <p:cNvPr id="31" name="step-2"/>
          <p:cNvSpPr/>
          <p:nvPr/>
        </p:nvSpPr>
        <p:spPr>
          <a:xfrm>
            <a:off x="6327648" y="2331720"/>
            <a:ext cx="2615184" cy="1188720"/>
          </a:xfrm>
          <a:prstGeom prst="roundRect">
            <a:avLst>
              <a:gd name="adj" fmla="val 12308"/>
            </a:avLst>
          </a:prstGeom>
          <a:solidFill>
            <a:srgbClr val="FFFFFF"/>
          </a:solidFill>
          <a:ln w="12700">
            <a:solidFill>
              <a:srgbClr val="D3DEDC"/>
            </a:solidFill>
            <a:prstDash val="solid"/>
          </a:ln>
        </p:spPr>
      </p:sp>
      <p:sp>
        <p:nvSpPr>
          <p:cNvPr id="32" name="step-dot-2"/>
          <p:cNvSpPr/>
          <p:nvPr/>
        </p:nvSpPr>
        <p:spPr>
          <a:xfrm>
            <a:off x="6528816" y="2532888"/>
            <a:ext cx="566928" cy="566928"/>
          </a:xfrm>
          <a:prstGeom prst="ellipse">
            <a:avLst/>
          </a:prstGeom>
          <a:solidFill>
            <a:srgbClr val="0C8259"/>
          </a:solidFill>
          <a:ln w="12700">
            <a:solidFill>
              <a:srgbClr val="0C8259"/>
            </a:solidFill>
            <a:prstDash val="solid"/>
          </a:ln>
        </p:spPr>
      </p:sp>
      <p:pic>
        <p:nvPicPr>
          <p:cNvPr id="33" name="step-icon-2" descr="preencoded.png">    </p:cNvPr>
          <p:cNvPicPr>
            <a:picLocks noChangeAspect="1"/>
          </p:cNvPicPr>
          <p:nvPr/>
        </p:nvPicPr>
        <p:blipFill>
          <a:blip r:embed="rId3"/>
          <a:stretch>
            <a:fillRect/>
          </a:stretch>
        </p:blipFill>
        <p:spPr>
          <a:xfrm>
            <a:off x="6665976" y="2670048"/>
            <a:ext cx="292608" cy="292608"/>
          </a:xfrm>
          <a:prstGeom prst="rect">
            <a:avLst/>
          </a:prstGeom>
        </p:spPr>
      </p:pic>
      <p:sp>
        <p:nvSpPr>
          <p:cNvPr id="34" name="step-t-2"/>
          <p:cNvSpPr txBox="1"/>
          <p:nvPr/>
        </p:nvSpPr>
        <p:spPr>
          <a:xfrm>
            <a:off x="7242048" y="2487168"/>
            <a:ext cx="1234440" cy="320040"/>
          </a:xfrm>
          <a:prstGeom prst="rect">
            <a:avLst/>
          </a:prstGeom>
          <a:noFill/>
          <a:ln/>
        </p:spPr>
        <p:txBody>
          <a:bodyPr wrap="square" lIns="0" tIns="0" rIns="0" bIns="0" rtlCol="0" anchor="ctr"/>
          <a:lstStyle/>
          <a:p>
            <a:pPr indent="0" marL="0">
              <a:buNone/>
            </a:pPr>
            <a:r>
              <a:rPr lang="en-US" sz="1600" b="1" dirty="0">
                <a:solidFill>
                  <a:srgbClr val="0D1B3E"/>
                </a:solidFill>
                <a:latin typeface="Century Gothic" pitchFamily="34" charset="0"/>
                <a:ea typeface="Century Gothic" pitchFamily="34" charset="-122"/>
                <a:cs typeface="Century Gothic" pitchFamily="34" charset="-120"/>
              </a:rPr>
              <a:t>Check</a:t>
            </a:r>
            <a:endParaRPr lang="en-US" sz="1600" dirty="0"/>
          </a:p>
        </p:txBody>
      </p:sp>
      <p:sp>
        <p:nvSpPr>
          <p:cNvPr id="35" name="step-d-2"/>
          <p:cNvSpPr txBox="1"/>
          <p:nvPr/>
        </p:nvSpPr>
        <p:spPr>
          <a:xfrm>
            <a:off x="7242048" y="2807208"/>
            <a:ext cx="1600200" cy="658368"/>
          </a:xfrm>
          <a:prstGeom prst="rect">
            <a:avLst/>
          </a:prstGeom>
          <a:noFill/>
          <a:ln/>
        </p:spPr>
        <p:txBody>
          <a:bodyPr wrap="square" lIns="0" tIns="0" rIns="0" bIns="0" rtlCol="0" anchor="t"/>
          <a:lstStyle/>
          <a:p>
            <a:pPr indent="0" marL="0">
              <a:buNone/>
            </a:pPr>
            <a:r>
              <a:rPr lang="en-US" sz="1150" dirty="0">
                <a:solidFill>
                  <a:srgbClr val="4A5875"/>
                </a:solidFill>
                <a:latin typeface="Calibri" pitchFamily="34" charset="0"/>
                <a:ea typeface="Calibri" pitchFamily="34" charset="-122"/>
                <a:cs typeface="Calibri" pitchFamily="34" charset="-120"/>
              </a:rPr>
              <a:t>Fact Guard, a different AI, verifies every fact</a:t>
            </a:r>
            <a:endParaRPr lang="en-US" sz="1150" dirty="0"/>
          </a:p>
        </p:txBody>
      </p:sp>
      <p:sp>
        <p:nvSpPr>
          <p:cNvPr id="36" name="step-ai-2"/>
          <p:cNvSpPr txBox="1"/>
          <p:nvPr/>
        </p:nvSpPr>
        <p:spPr>
          <a:xfrm>
            <a:off x="8503920" y="2395728"/>
            <a:ext cx="365760" cy="219456"/>
          </a:xfrm>
          <a:prstGeom prst="rect">
            <a:avLst/>
          </a:prstGeom>
          <a:solidFill>
            <a:srgbClr val="FFF0CC"/>
          </a:solidFill>
          <a:ln/>
        </p:spPr>
        <p:txBody>
          <a:bodyPr wrap="square" lIns="0" tIns="0" rIns="0" bIns="0" rtlCol="0" anchor="ctr"/>
          <a:lstStyle/>
          <a:p>
            <a:pPr algn="ctr" indent="0" marL="0">
              <a:buNone/>
            </a:pPr>
            <a:r>
              <a:rPr lang="en-US" sz="900" b="1" dirty="0">
                <a:solidFill>
                  <a:srgbClr val="7F5100"/>
                </a:solidFill>
                <a:latin typeface="Calibri" pitchFamily="34" charset="0"/>
                <a:ea typeface="Calibri" pitchFamily="34" charset="-122"/>
                <a:cs typeface="Calibri" pitchFamily="34" charset="-120"/>
              </a:rPr>
              <a:t>AI</a:t>
            </a:r>
            <a:endParaRPr lang="en-US" sz="900" dirty="0"/>
          </a:p>
        </p:txBody>
      </p:sp>
      <p:sp>
        <p:nvSpPr>
          <p:cNvPr id="37" name="step-3"/>
          <p:cNvSpPr/>
          <p:nvPr/>
        </p:nvSpPr>
        <p:spPr>
          <a:xfrm>
            <a:off x="9125712" y="2331720"/>
            <a:ext cx="2615184" cy="1188720"/>
          </a:xfrm>
          <a:prstGeom prst="roundRect">
            <a:avLst>
              <a:gd name="adj" fmla="val 12308"/>
            </a:avLst>
          </a:prstGeom>
          <a:solidFill>
            <a:srgbClr val="FFFFFF"/>
          </a:solidFill>
          <a:ln w="12700">
            <a:solidFill>
              <a:srgbClr val="D3DEDC"/>
            </a:solidFill>
            <a:prstDash val="solid"/>
          </a:ln>
        </p:spPr>
      </p:sp>
      <p:sp>
        <p:nvSpPr>
          <p:cNvPr id="38" name="step-dot-3"/>
          <p:cNvSpPr/>
          <p:nvPr/>
        </p:nvSpPr>
        <p:spPr>
          <a:xfrm>
            <a:off x="9326880" y="2532888"/>
            <a:ext cx="566928" cy="566928"/>
          </a:xfrm>
          <a:prstGeom prst="ellipse">
            <a:avLst/>
          </a:prstGeom>
          <a:solidFill>
            <a:srgbClr val="0D1B3E"/>
          </a:solidFill>
          <a:ln w="12700">
            <a:solidFill>
              <a:srgbClr val="0D1B3E"/>
            </a:solidFill>
            <a:prstDash val="solid"/>
          </a:ln>
        </p:spPr>
      </p:sp>
      <p:pic>
        <p:nvPicPr>
          <p:cNvPr id="39" name="step-icon-3" descr="preencoded.png">    </p:cNvPr>
          <p:cNvPicPr>
            <a:picLocks noChangeAspect="1"/>
          </p:cNvPicPr>
          <p:nvPr/>
        </p:nvPicPr>
        <p:blipFill>
          <a:blip r:embed="rId4"/>
          <a:stretch>
            <a:fillRect/>
          </a:stretch>
        </p:blipFill>
        <p:spPr>
          <a:xfrm>
            <a:off x="9464040" y="2670048"/>
            <a:ext cx="292608" cy="292608"/>
          </a:xfrm>
          <a:prstGeom prst="rect">
            <a:avLst/>
          </a:prstGeom>
        </p:spPr>
      </p:pic>
      <p:sp>
        <p:nvSpPr>
          <p:cNvPr id="40" name="step-t-3"/>
          <p:cNvSpPr txBox="1"/>
          <p:nvPr/>
        </p:nvSpPr>
        <p:spPr>
          <a:xfrm>
            <a:off x="10040112" y="2487168"/>
            <a:ext cx="1234440" cy="320040"/>
          </a:xfrm>
          <a:prstGeom prst="rect">
            <a:avLst/>
          </a:prstGeom>
          <a:noFill/>
          <a:ln/>
        </p:spPr>
        <p:txBody>
          <a:bodyPr wrap="square" lIns="0" tIns="0" rIns="0" bIns="0" rtlCol="0" anchor="ctr"/>
          <a:lstStyle/>
          <a:p>
            <a:pPr indent="0" marL="0">
              <a:buNone/>
            </a:pPr>
            <a:r>
              <a:rPr lang="en-US" sz="1600" b="1" dirty="0">
                <a:solidFill>
                  <a:srgbClr val="0D1B3E"/>
                </a:solidFill>
                <a:latin typeface="Century Gothic" pitchFamily="34" charset="0"/>
                <a:ea typeface="Century Gothic" pitchFamily="34" charset="-122"/>
                <a:cs typeface="Century Gothic" pitchFamily="34" charset="-120"/>
              </a:rPr>
              <a:t>Listen</a:t>
            </a:r>
            <a:endParaRPr lang="en-US" sz="1600" dirty="0"/>
          </a:p>
        </p:txBody>
      </p:sp>
      <p:sp>
        <p:nvSpPr>
          <p:cNvPr id="41" name="step-d-3"/>
          <p:cNvSpPr txBox="1"/>
          <p:nvPr/>
        </p:nvSpPr>
        <p:spPr>
          <a:xfrm>
            <a:off x="10040112" y="2807208"/>
            <a:ext cx="1600200" cy="658368"/>
          </a:xfrm>
          <a:prstGeom prst="rect">
            <a:avLst/>
          </a:prstGeom>
          <a:noFill/>
          <a:ln/>
        </p:spPr>
        <p:txBody>
          <a:bodyPr wrap="square" lIns="0" tIns="0" rIns="0" bIns="0" rtlCol="0" anchor="t"/>
          <a:lstStyle/>
          <a:p>
            <a:pPr indent="0" marL="0">
              <a:buNone/>
            </a:pPr>
            <a:r>
              <a:rPr lang="en-US" sz="1150" dirty="0">
                <a:solidFill>
                  <a:srgbClr val="4A5875"/>
                </a:solidFill>
                <a:latin typeface="Calibri" pitchFamily="34" charset="0"/>
                <a:ea typeface="Calibri" pitchFamily="34" charset="-122"/>
                <a:cs typeface="Calibri" pitchFamily="34" charset="-120"/>
              </a:rPr>
              <a:t>Whisper hears lectures and spoken quiz answers</a:t>
            </a:r>
            <a:endParaRPr lang="en-US" sz="1150" dirty="0"/>
          </a:p>
        </p:txBody>
      </p:sp>
      <p:sp>
        <p:nvSpPr>
          <p:cNvPr id="42" name="step-ai-3"/>
          <p:cNvSpPr txBox="1"/>
          <p:nvPr/>
        </p:nvSpPr>
        <p:spPr>
          <a:xfrm>
            <a:off x="11301984" y="2395728"/>
            <a:ext cx="365760" cy="219456"/>
          </a:xfrm>
          <a:prstGeom prst="rect">
            <a:avLst/>
          </a:prstGeom>
          <a:solidFill>
            <a:srgbClr val="FFF0CC"/>
          </a:solidFill>
          <a:ln/>
        </p:spPr>
        <p:txBody>
          <a:bodyPr wrap="square" lIns="0" tIns="0" rIns="0" bIns="0" rtlCol="0" anchor="ctr"/>
          <a:lstStyle/>
          <a:p>
            <a:pPr algn="ctr" indent="0" marL="0">
              <a:buNone/>
            </a:pPr>
            <a:r>
              <a:rPr lang="en-US" sz="900" b="1" dirty="0">
                <a:solidFill>
                  <a:srgbClr val="7F5100"/>
                </a:solidFill>
                <a:latin typeface="Calibri" pitchFamily="34" charset="0"/>
                <a:ea typeface="Calibri" pitchFamily="34" charset="-122"/>
                <a:cs typeface="Calibri" pitchFamily="34" charset="-120"/>
              </a:rPr>
              <a:t>AI</a:t>
            </a:r>
            <a:endParaRPr lang="en-US" sz="900" dirty="0"/>
          </a:p>
        </p:txBody>
      </p:sp>
      <p:sp>
        <p:nvSpPr>
          <p:cNvPr id="43" name="!!card-0"/>
          <p:cNvSpPr/>
          <p:nvPr/>
        </p:nvSpPr>
        <p:spPr>
          <a:xfrm>
            <a:off x="731520" y="3840480"/>
            <a:ext cx="2057400" cy="2331720"/>
          </a:xfrm>
          <a:prstGeom prst="roundRect">
            <a:avLst>
              <a:gd name="adj" fmla="val 8889"/>
            </a:avLst>
          </a:prstGeom>
          <a:solidFill>
            <a:srgbClr val="FFFFFF"/>
          </a:solidFill>
          <a:ln w="12700">
            <a:solidFill>
              <a:srgbClr val="D3DEDC"/>
            </a:solidFill>
            <a:prstDash val="solid"/>
          </a:ln>
          <a:effectLst>
            <a:outerShdw sx="100000" sy="100000" kx="0" ky="0" algn="bl" rotWithShape="0" blurRad="152400" dist="38100" dir="5400000">
              <a:srgbClr val="0D1B3E">
                <a:alpha val="13000"/>
              </a:srgbClr>
            </a:outerShdw>
          </a:effectLst>
        </p:spPr>
      </p:sp>
      <p:sp>
        <p:nvSpPr>
          <p:cNvPr id="44" name="!!cdot-0"/>
          <p:cNvSpPr/>
          <p:nvPr/>
        </p:nvSpPr>
        <p:spPr>
          <a:xfrm>
            <a:off x="1005840" y="4114800"/>
            <a:ext cx="566928" cy="566928"/>
          </a:xfrm>
          <a:prstGeom prst="ellipse">
            <a:avLst/>
          </a:prstGeom>
          <a:solidFill>
            <a:srgbClr val="D8F1EF"/>
          </a:solidFill>
          <a:ln w="12700">
            <a:solidFill>
              <a:srgbClr val="D8F1EF"/>
            </a:solidFill>
            <a:prstDash val="solid"/>
          </a:ln>
        </p:spPr>
      </p:sp>
      <p:pic>
        <p:nvPicPr>
          <p:cNvPr id="45" name="!!cicon-0" descr="preencoded.png">    </p:cNvPr>
          <p:cNvPicPr>
            <a:picLocks noChangeAspect="1"/>
          </p:cNvPicPr>
          <p:nvPr/>
        </p:nvPicPr>
        <p:blipFill>
          <a:blip r:embed="rId5"/>
          <a:stretch>
            <a:fillRect/>
          </a:stretch>
        </p:blipFill>
        <p:spPr>
          <a:xfrm>
            <a:off x="1141903" y="4250863"/>
            <a:ext cx="294803" cy="294803"/>
          </a:xfrm>
          <a:prstGeom prst="rect">
            <a:avLst/>
          </a:prstGeom>
        </p:spPr>
      </p:pic>
      <p:sp>
        <p:nvSpPr>
          <p:cNvPr id="46" name="!!ctitle-0"/>
          <p:cNvSpPr txBox="1"/>
          <p:nvPr/>
        </p:nvSpPr>
        <p:spPr>
          <a:xfrm>
            <a:off x="1005840" y="4645152"/>
            <a:ext cx="1691640" cy="457200"/>
          </a:xfrm>
          <a:prstGeom prst="rect">
            <a:avLst/>
          </a:prstGeom>
          <a:noFill/>
          <a:ln/>
        </p:spPr>
        <p:txBody>
          <a:bodyPr wrap="square" lIns="0" tIns="0" rIns="0" bIns="0" rtlCol="0" anchor="ctr"/>
          <a:lstStyle/>
          <a:p>
            <a:pPr indent="0" marL="0">
              <a:buNone/>
            </a:pPr>
            <a:r>
              <a:rPr lang="en-US" sz="1700" b="1" dirty="0">
                <a:solidFill>
                  <a:srgbClr val="0D1B3E"/>
                </a:solidFill>
                <a:latin typeface="Century Gothic" pitchFamily="34" charset="0"/>
                <a:ea typeface="Century Gothic" pitchFamily="34" charset="-122"/>
                <a:cs typeface="Century Gothic" pitchFamily="34" charset="-120"/>
              </a:rPr>
              <a:t>Listen</a:t>
            </a:r>
            <a:endParaRPr lang="en-US" sz="1700" dirty="0"/>
          </a:p>
        </p:txBody>
      </p:sp>
      <p:sp>
        <p:nvSpPr>
          <p:cNvPr id="47" name="!!cdesc-0"/>
          <p:cNvSpPr txBox="1"/>
          <p:nvPr/>
        </p:nvSpPr>
        <p:spPr>
          <a:xfrm>
            <a:off x="1005840" y="5074920"/>
            <a:ext cx="1645920" cy="1005840"/>
          </a:xfrm>
          <a:prstGeom prst="rect">
            <a:avLst/>
          </a:prstGeom>
          <a:noFill/>
          <a:ln/>
        </p:spPr>
        <p:txBody>
          <a:bodyPr wrap="square" lIns="0" tIns="0" rIns="0" bIns="0" rtlCol="0" anchor="t"/>
          <a:lstStyle/>
          <a:p>
            <a:pPr indent="0" marL="0">
              <a:buNone/>
            </a:pPr>
            <a:r>
              <a:rPr lang="en-US" sz="1250" dirty="0">
                <a:solidFill>
                  <a:srgbClr val="4A5875"/>
                </a:solidFill>
                <a:latin typeface="Calibri" pitchFamily="34" charset="0"/>
                <a:ea typeface="Calibri" pitchFamily="34" charset="-122"/>
                <a:cs typeface="Calibri" pitchFamily="34" charset="-120"/>
              </a:rPr>
              <a:t>For Bilal: read aloud, every figure described, full keyboard control.</a:t>
            </a:r>
            <a:endParaRPr lang="en-US" sz="1250" dirty="0"/>
          </a:p>
        </p:txBody>
      </p:sp>
      <p:sp>
        <p:nvSpPr>
          <p:cNvPr id="48" name="!!card-1"/>
          <p:cNvSpPr/>
          <p:nvPr/>
        </p:nvSpPr>
        <p:spPr>
          <a:xfrm>
            <a:off x="2898648" y="3840480"/>
            <a:ext cx="2057400" cy="2331720"/>
          </a:xfrm>
          <a:prstGeom prst="roundRect">
            <a:avLst>
              <a:gd name="adj" fmla="val 8889"/>
            </a:avLst>
          </a:prstGeom>
          <a:solidFill>
            <a:srgbClr val="FFFFFF"/>
          </a:solidFill>
          <a:ln w="12700">
            <a:solidFill>
              <a:srgbClr val="D3DEDC"/>
            </a:solidFill>
            <a:prstDash val="solid"/>
          </a:ln>
          <a:effectLst>
            <a:outerShdw sx="100000" sy="100000" kx="0" ky="0" algn="bl" rotWithShape="0" blurRad="152400" dist="38100" dir="5400000">
              <a:srgbClr val="0D1B3E">
                <a:alpha val="13000"/>
              </a:srgbClr>
            </a:outerShdw>
          </a:effectLst>
        </p:spPr>
      </p:sp>
      <p:sp>
        <p:nvSpPr>
          <p:cNvPr id="49" name="!!cdot-1"/>
          <p:cNvSpPr/>
          <p:nvPr/>
        </p:nvSpPr>
        <p:spPr>
          <a:xfrm>
            <a:off x="3172968" y="4114800"/>
            <a:ext cx="566928" cy="566928"/>
          </a:xfrm>
          <a:prstGeom prst="ellipse">
            <a:avLst/>
          </a:prstGeom>
          <a:solidFill>
            <a:srgbClr val="E7EEF9"/>
          </a:solidFill>
          <a:ln w="12700">
            <a:solidFill>
              <a:srgbClr val="E7EEF9"/>
            </a:solidFill>
            <a:prstDash val="solid"/>
          </a:ln>
        </p:spPr>
      </p:sp>
      <p:pic>
        <p:nvPicPr>
          <p:cNvPr id="50" name="!!cicon-1" descr="preencoded.png">    </p:cNvPr>
          <p:cNvPicPr>
            <a:picLocks noChangeAspect="1"/>
          </p:cNvPicPr>
          <p:nvPr/>
        </p:nvPicPr>
        <p:blipFill>
          <a:blip r:embed="rId6"/>
          <a:stretch>
            <a:fillRect/>
          </a:stretch>
        </p:blipFill>
        <p:spPr>
          <a:xfrm>
            <a:off x="3309031" y="4250863"/>
            <a:ext cx="294803" cy="294803"/>
          </a:xfrm>
          <a:prstGeom prst="rect">
            <a:avLst/>
          </a:prstGeom>
        </p:spPr>
      </p:pic>
      <p:sp>
        <p:nvSpPr>
          <p:cNvPr id="51" name="!!ctitle-1"/>
          <p:cNvSpPr txBox="1"/>
          <p:nvPr/>
        </p:nvSpPr>
        <p:spPr>
          <a:xfrm>
            <a:off x="3172968" y="4645152"/>
            <a:ext cx="1691640" cy="457200"/>
          </a:xfrm>
          <a:prstGeom prst="rect">
            <a:avLst/>
          </a:prstGeom>
          <a:noFill/>
          <a:ln/>
        </p:spPr>
        <p:txBody>
          <a:bodyPr wrap="square" lIns="0" tIns="0" rIns="0" bIns="0" rtlCol="0" anchor="ctr"/>
          <a:lstStyle/>
          <a:p>
            <a:pPr indent="0" marL="0">
              <a:buNone/>
            </a:pPr>
            <a:r>
              <a:rPr lang="en-US" sz="1700" b="1" dirty="0">
                <a:solidFill>
                  <a:srgbClr val="0D1B3E"/>
                </a:solidFill>
                <a:latin typeface="Century Gothic" pitchFamily="34" charset="0"/>
                <a:ea typeface="Century Gothic" pitchFamily="34" charset="-122"/>
                <a:cs typeface="Century Gothic" pitchFamily="34" charset="-120"/>
              </a:rPr>
              <a:t>Read Easy</a:t>
            </a:r>
            <a:endParaRPr lang="en-US" sz="1700" dirty="0"/>
          </a:p>
        </p:txBody>
      </p:sp>
      <p:sp>
        <p:nvSpPr>
          <p:cNvPr id="52" name="!!cdesc-1"/>
          <p:cNvSpPr txBox="1"/>
          <p:nvPr/>
        </p:nvSpPr>
        <p:spPr>
          <a:xfrm>
            <a:off x="3172968" y="5074920"/>
            <a:ext cx="1645920" cy="1005840"/>
          </a:xfrm>
          <a:prstGeom prst="rect">
            <a:avLst/>
          </a:prstGeom>
          <a:noFill/>
          <a:ln/>
        </p:spPr>
        <p:txBody>
          <a:bodyPr wrap="square" lIns="0" tIns="0" rIns="0" bIns="0" rtlCol="0" anchor="t"/>
          <a:lstStyle/>
          <a:p>
            <a:pPr indent="0" marL="0">
              <a:buNone/>
            </a:pPr>
            <a:r>
              <a:rPr lang="en-US" sz="1250" dirty="0">
                <a:solidFill>
                  <a:srgbClr val="4A5875"/>
                </a:solidFill>
                <a:latin typeface="Calibri" pitchFamily="34" charset="0"/>
                <a:ea typeface="Calibri" pitchFamily="34" charset="-122"/>
                <a:cs typeface="Calibri" pitchFamily="34" charset="-120"/>
              </a:rPr>
              <a:t>For Sara: simpler text beside the original, word help, read-aloud.</a:t>
            </a:r>
            <a:endParaRPr lang="en-US" sz="1250" dirty="0"/>
          </a:p>
        </p:txBody>
      </p:sp>
      <p:sp>
        <p:nvSpPr>
          <p:cNvPr id="53" name="!!card-2"/>
          <p:cNvSpPr/>
          <p:nvPr/>
        </p:nvSpPr>
        <p:spPr>
          <a:xfrm>
            <a:off x="5065776" y="3840480"/>
            <a:ext cx="2057400" cy="2331720"/>
          </a:xfrm>
          <a:prstGeom prst="roundRect">
            <a:avLst>
              <a:gd name="adj" fmla="val 8889"/>
            </a:avLst>
          </a:prstGeom>
          <a:solidFill>
            <a:srgbClr val="FFFFFF"/>
          </a:solidFill>
          <a:ln w="12700">
            <a:solidFill>
              <a:srgbClr val="D3DEDC"/>
            </a:solidFill>
            <a:prstDash val="solid"/>
          </a:ln>
          <a:effectLst>
            <a:outerShdw sx="100000" sy="100000" kx="0" ky="0" algn="bl" rotWithShape="0" blurRad="152400" dist="38100" dir="5400000">
              <a:srgbClr val="0D1B3E">
                <a:alpha val="13000"/>
              </a:srgbClr>
            </a:outerShdw>
          </a:effectLst>
        </p:spPr>
      </p:sp>
      <p:sp>
        <p:nvSpPr>
          <p:cNvPr id="54" name="!!cdot-2"/>
          <p:cNvSpPr/>
          <p:nvPr/>
        </p:nvSpPr>
        <p:spPr>
          <a:xfrm>
            <a:off x="5340096" y="4114800"/>
            <a:ext cx="566928" cy="566928"/>
          </a:xfrm>
          <a:prstGeom prst="ellipse">
            <a:avLst/>
          </a:prstGeom>
          <a:solidFill>
            <a:srgbClr val="FFF0CC"/>
          </a:solidFill>
          <a:ln w="12700">
            <a:solidFill>
              <a:srgbClr val="FFF0CC"/>
            </a:solidFill>
            <a:prstDash val="solid"/>
          </a:ln>
        </p:spPr>
      </p:sp>
      <p:pic>
        <p:nvPicPr>
          <p:cNvPr id="55" name="!!cicon-2" descr="preencoded.png">    </p:cNvPr>
          <p:cNvPicPr>
            <a:picLocks noChangeAspect="1"/>
          </p:cNvPicPr>
          <p:nvPr/>
        </p:nvPicPr>
        <p:blipFill>
          <a:blip r:embed="rId7"/>
          <a:stretch>
            <a:fillRect/>
          </a:stretch>
        </p:blipFill>
        <p:spPr>
          <a:xfrm>
            <a:off x="5476159" y="4250863"/>
            <a:ext cx="294803" cy="294803"/>
          </a:xfrm>
          <a:prstGeom prst="rect">
            <a:avLst/>
          </a:prstGeom>
        </p:spPr>
      </p:pic>
      <p:sp>
        <p:nvSpPr>
          <p:cNvPr id="56" name="!!ctitle-2"/>
          <p:cNvSpPr txBox="1"/>
          <p:nvPr/>
        </p:nvSpPr>
        <p:spPr>
          <a:xfrm>
            <a:off x="5340096" y="4645152"/>
            <a:ext cx="1691640" cy="457200"/>
          </a:xfrm>
          <a:prstGeom prst="rect">
            <a:avLst/>
          </a:prstGeom>
          <a:noFill/>
          <a:ln/>
        </p:spPr>
        <p:txBody>
          <a:bodyPr wrap="square" lIns="0" tIns="0" rIns="0" bIns="0" rtlCol="0" anchor="ctr"/>
          <a:lstStyle/>
          <a:p>
            <a:pPr indent="0" marL="0">
              <a:buNone/>
            </a:pPr>
            <a:r>
              <a:rPr lang="en-US" sz="1700" b="1" dirty="0">
                <a:solidFill>
                  <a:srgbClr val="0D1B3E"/>
                </a:solidFill>
                <a:latin typeface="Century Gothic" pitchFamily="34" charset="0"/>
                <a:ea typeface="Century Gothic" pitchFamily="34" charset="-122"/>
                <a:cs typeface="Century Gothic" pitchFamily="34" charset="-120"/>
              </a:rPr>
              <a:t>Captions</a:t>
            </a:r>
            <a:endParaRPr lang="en-US" sz="1700" dirty="0"/>
          </a:p>
        </p:txBody>
      </p:sp>
      <p:sp>
        <p:nvSpPr>
          <p:cNvPr id="57" name="!!cdesc-2"/>
          <p:cNvSpPr txBox="1"/>
          <p:nvPr/>
        </p:nvSpPr>
        <p:spPr>
          <a:xfrm>
            <a:off x="5340096" y="5074920"/>
            <a:ext cx="1645920" cy="1005840"/>
          </a:xfrm>
          <a:prstGeom prst="rect">
            <a:avLst/>
          </a:prstGeom>
          <a:noFill/>
          <a:ln/>
        </p:spPr>
        <p:txBody>
          <a:bodyPr wrap="square" lIns="0" tIns="0" rIns="0" bIns="0" rtlCol="0" anchor="t"/>
          <a:lstStyle/>
          <a:p>
            <a:pPr indent="0" marL="0">
              <a:buNone/>
            </a:pPr>
            <a:r>
              <a:rPr lang="en-US" sz="1250" dirty="0">
                <a:solidFill>
                  <a:srgbClr val="4A5875"/>
                </a:solidFill>
                <a:latin typeface="Calibri" pitchFamily="34" charset="0"/>
                <a:ea typeface="Calibri" pitchFamily="34" charset="-122"/>
                <a:cs typeface="Calibri" pitchFamily="34" charset="-120"/>
              </a:rPr>
              <a:t>For Hamza: lecture transcript plus a checked summary.</a:t>
            </a:r>
            <a:endParaRPr lang="en-US" sz="1250" dirty="0"/>
          </a:p>
        </p:txBody>
      </p:sp>
      <p:sp>
        <p:nvSpPr>
          <p:cNvPr id="58" name="!!card-3"/>
          <p:cNvSpPr/>
          <p:nvPr/>
        </p:nvSpPr>
        <p:spPr>
          <a:xfrm>
            <a:off x="7232904" y="3840480"/>
            <a:ext cx="2057400" cy="2331720"/>
          </a:xfrm>
          <a:prstGeom prst="roundRect">
            <a:avLst>
              <a:gd name="adj" fmla="val 8889"/>
            </a:avLst>
          </a:prstGeom>
          <a:solidFill>
            <a:srgbClr val="FFFFFF"/>
          </a:solidFill>
          <a:ln w="12700">
            <a:solidFill>
              <a:srgbClr val="D3DEDC"/>
            </a:solidFill>
            <a:prstDash val="solid"/>
          </a:ln>
          <a:effectLst>
            <a:outerShdw sx="100000" sy="100000" kx="0" ky="0" algn="bl" rotWithShape="0" blurRad="152400" dist="38100" dir="5400000">
              <a:srgbClr val="0D1B3E">
                <a:alpha val="13000"/>
              </a:srgbClr>
            </a:outerShdw>
          </a:effectLst>
        </p:spPr>
      </p:sp>
      <p:sp>
        <p:nvSpPr>
          <p:cNvPr id="59" name="!!cdot-3"/>
          <p:cNvSpPr/>
          <p:nvPr/>
        </p:nvSpPr>
        <p:spPr>
          <a:xfrm>
            <a:off x="7507224" y="4114800"/>
            <a:ext cx="566928" cy="566928"/>
          </a:xfrm>
          <a:prstGeom prst="ellipse">
            <a:avLst/>
          </a:prstGeom>
          <a:solidFill>
            <a:srgbClr val="D8F1EF"/>
          </a:solidFill>
          <a:ln w="12700">
            <a:solidFill>
              <a:srgbClr val="D8F1EF"/>
            </a:solidFill>
            <a:prstDash val="solid"/>
          </a:ln>
        </p:spPr>
      </p:sp>
      <p:pic>
        <p:nvPicPr>
          <p:cNvPr id="60" name="!!cicon-3" descr="preencoded.png">    </p:cNvPr>
          <p:cNvPicPr>
            <a:picLocks noChangeAspect="1"/>
          </p:cNvPicPr>
          <p:nvPr/>
        </p:nvPicPr>
        <p:blipFill>
          <a:blip r:embed="rId8"/>
          <a:stretch>
            <a:fillRect/>
          </a:stretch>
        </p:blipFill>
        <p:spPr>
          <a:xfrm>
            <a:off x="7643287" y="4250863"/>
            <a:ext cx="294803" cy="294803"/>
          </a:xfrm>
          <a:prstGeom prst="rect">
            <a:avLst/>
          </a:prstGeom>
        </p:spPr>
      </p:pic>
      <p:sp>
        <p:nvSpPr>
          <p:cNvPr id="61" name="!!ctitle-3"/>
          <p:cNvSpPr txBox="1"/>
          <p:nvPr/>
        </p:nvSpPr>
        <p:spPr>
          <a:xfrm>
            <a:off x="7507224" y="4645152"/>
            <a:ext cx="1691640" cy="457200"/>
          </a:xfrm>
          <a:prstGeom prst="rect">
            <a:avLst/>
          </a:prstGeom>
          <a:noFill/>
          <a:ln/>
        </p:spPr>
        <p:txBody>
          <a:bodyPr wrap="square" lIns="0" tIns="0" rIns="0" bIns="0" rtlCol="0" anchor="ctr"/>
          <a:lstStyle/>
          <a:p>
            <a:pPr indent="0" marL="0">
              <a:buNone/>
            </a:pPr>
            <a:r>
              <a:rPr lang="en-US" sz="1700" b="1" dirty="0">
                <a:solidFill>
                  <a:srgbClr val="0D1B3E"/>
                </a:solidFill>
                <a:latin typeface="Century Gothic" pitchFamily="34" charset="0"/>
                <a:ea typeface="Century Gothic" pitchFamily="34" charset="-122"/>
                <a:cs typeface="Century Gothic" pitchFamily="34" charset="-120"/>
              </a:rPr>
              <a:t>Videos</a:t>
            </a:r>
            <a:endParaRPr lang="en-US" sz="1700" dirty="0"/>
          </a:p>
        </p:txBody>
      </p:sp>
      <p:sp>
        <p:nvSpPr>
          <p:cNvPr id="62" name="!!cdesc-3"/>
          <p:cNvSpPr txBox="1"/>
          <p:nvPr/>
        </p:nvSpPr>
        <p:spPr>
          <a:xfrm>
            <a:off x="7507224" y="5074920"/>
            <a:ext cx="1645920" cy="1005840"/>
          </a:xfrm>
          <a:prstGeom prst="rect">
            <a:avLst/>
          </a:prstGeom>
          <a:noFill/>
          <a:ln/>
        </p:spPr>
        <p:txBody>
          <a:bodyPr wrap="square" lIns="0" tIns="0" rIns="0" bIns="0" rtlCol="0" anchor="t"/>
          <a:lstStyle/>
          <a:p>
            <a:pPr indent="0" marL="0">
              <a:buNone/>
            </a:pPr>
            <a:r>
              <a:rPr lang="en-US" sz="1250" dirty="0">
                <a:solidFill>
                  <a:srgbClr val="4A5875"/>
                </a:solidFill>
                <a:latin typeface="Calibri" pitchFamily="34" charset="0"/>
                <a:ea typeface="Calibri" pitchFamily="34" charset="-122"/>
                <a:cs typeface="Calibri" pitchFamily="34" charset="-120"/>
              </a:rPr>
              <a:t>Any YouTube video becomes timestamped, checked notes.</a:t>
            </a:r>
            <a:endParaRPr lang="en-US" sz="1250" dirty="0"/>
          </a:p>
        </p:txBody>
      </p:sp>
      <p:sp>
        <p:nvSpPr>
          <p:cNvPr id="63" name="!!card-4"/>
          <p:cNvSpPr/>
          <p:nvPr/>
        </p:nvSpPr>
        <p:spPr>
          <a:xfrm>
            <a:off x="9400032" y="3840480"/>
            <a:ext cx="2057400" cy="2331720"/>
          </a:xfrm>
          <a:prstGeom prst="roundRect">
            <a:avLst>
              <a:gd name="adj" fmla="val 8889"/>
            </a:avLst>
          </a:prstGeom>
          <a:solidFill>
            <a:srgbClr val="FFFFFF"/>
          </a:solidFill>
          <a:ln w="12700">
            <a:solidFill>
              <a:srgbClr val="D3DEDC"/>
            </a:solidFill>
            <a:prstDash val="solid"/>
          </a:ln>
          <a:effectLst>
            <a:outerShdw sx="100000" sy="100000" kx="0" ky="0" algn="bl" rotWithShape="0" blurRad="152400" dist="38100" dir="5400000">
              <a:srgbClr val="0D1B3E">
                <a:alpha val="13000"/>
              </a:srgbClr>
            </a:outerShdw>
          </a:effectLst>
        </p:spPr>
      </p:sp>
      <p:sp>
        <p:nvSpPr>
          <p:cNvPr id="64" name="!!cdot-4"/>
          <p:cNvSpPr/>
          <p:nvPr/>
        </p:nvSpPr>
        <p:spPr>
          <a:xfrm>
            <a:off x="9674352" y="4114800"/>
            <a:ext cx="566928" cy="566928"/>
          </a:xfrm>
          <a:prstGeom prst="ellipse">
            <a:avLst/>
          </a:prstGeom>
          <a:solidFill>
            <a:srgbClr val="FFF0CC"/>
          </a:solidFill>
          <a:ln w="12700">
            <a:solidFill>
              <a:srgbClr val="FFF0CC"/>
            </a:solidFill>
            <a:prstDash val="solid"/>
          </a:ln>
        </p:spPr>
      </p:sp>
      <p:pic>
        <p:nvPicPr>
          <p:cNvPr id="65" name="!!cicon-4" descr="preencoded.png">    </p:cNvPr>
          <p:cNvPicPr>
            <a:picLocks noChangeAspect="1"/>
          </p:cNvPicPr>
          <p:nvPr/>
        </p:nvPicPr>
        <p:blipFill>
          <a:blip r:embed="rId9"/>
          <a:stretch>
            <a:fillRect/>
          </a:stretch>
        </p:blipFill>
        <p:spPr>
          <a:xfrm>
            <a:off x="9810415" y="4250863"/>
            <a:ext cx="294803" cy="294803"/>
          </a:xfrm>
          <a:prstGeom prst="rect">
            <a:avLst/>
          </a:prstGeom>
        </p:spPr>
      </p:pic>
      <p:sp>
        <p:nvSpPr>
          <p:cNvPr id="66" name="!!ctitle-4"/>
          <p:cNvSpPr txBox="1"/>
          <p:nvPr/>
        </p:nvSpPr>
        <p:spPr>
          <a:xfrm>
            <a:off x="9674352" y="4645152"/>
            <a:ext cx="1691640" cy="457200"/>
          </a:xfrm>
          <a:prstGeom prst="rect">
            <a:avLst/>
          </a:prstGeom>
          <a:noFill/>
          <a:ln/>
        </p:spPr>
        <p:txBody>
          <a:bodyPr wrap="square" lIns="0" tIns="0" rIns="0" bIns="0" rtlCol="0" anchor="ctr"/>
          <a:lstStyle/>
          <a:p>
            <a:pPr indent="0" marL="0">
              <a:buNone/>
            </a:pPr>
            <a:r>
              <a:rPr lang="en-US" sz="1700" b="1" dirty="0">
                <a:solidFill>
                  <a:srgbClr val="0D1B3E"/>
                </a:solidFill>
                <a:latin typeface="Century Gothic" pitchFamily="34" charset="0"/>
                <a:ea typeface="Century Gothic" pitchFamily="34" charset="-122"/>
                <a:cs typeface="Century Gothic" pitchFamily="34" charset="-120"/>
              </a:rPr>
              <a:t>Practice</a:t>
            </a:r>
            <a:endParaRPr lang="en-US" sz="1700" dirty="0"/>
          </a:p>
        </p:txBody>
      </p:sp>
      <p:sp>
        <p:nvSpPr>
          <p:cNvPr id="67" name="!!cdesc-4"/>
          <p:cNvSpPr txBox="1"/>
          <p:nvPr/>
        </p:nvSpPr>
        <p:spPr>
          <a:xfrm>
            <a:off x="9674352" y="5074920"/>
            <a:ext cx="1645920" cy="1005840"/>
          </a:xfrm>
          <a:prstGeom prst="rect">
            <a:avLst/>
          </a:prstGeom>
          <a:noFill/>
          <a:ln/>
        </p:spPr>
        <p:txBody>
          <a:bodyPr wrap="square" lIns="0" tIns="0" rIns="0" bIns="0" rtlCol="0" anchor="t"/>
          <a:lstStyle/>
          <a:p>
            <a:pPr indent="0" marL="0">
              <a:buNone/>
            </a:pPr>
            <a:r>
              <a:rPr lang="en-US" sz="1250" dirty="0">
                <a:solidFill>
                  <a:srgbClr val="4A5875"/>
                </a:solidFill>
                <a:latin typeface="Calibri" pitchFamily="34" charset="0"/>
                <a:ea typeface="Calibri" pitchFamily="34" charset="-122"/>
                <a:cs typeface="Calibri" pitchFamily="34" charset="-120"/>
              </a:rPr>
              <a:t>Quiz by tap or voice, weak areas and a study plan.</a:t>
            </a:r>
            <a:endParaRPr lang="en-US" sz="1250" dirty="0"/>
          </a:p>
        </p:txBody>
      </p:sp>
      <p:sp>
        <p:nvSpPr>
          <p:cNvPr id="68" name="!!dot-0"/>
          <p:cNvSpPr/>
          <p:nvPr/>
        </p:nvSpPr>
        <p:spPr>
          <a:xfrm>
            <a:off x="10012680" y="6400800"/>
            <a:ext cx="100584" cy="100584"/>
          </a:xfrm>
          <a:prstGeom prst="ellipse">
            <a:avLst/>
          </a:prstGeom>
          <a:solidFill>
            <a:srgbClr val="C3CDDD"/>
          </a:solidFill>
          <a:ln w="12700">
            <a:solidFill>
              <a:srgbClr val="C3CDDD"/>
            </a:solidFill>
            <a:prstDash val="solid"/>
          </a:ln>
        </p:spPr>
      </p:sp>
      <p:sp>
        <p:nvSpPr>
          <p:cNvPr id="69" name="!!dot-1"/>
          <p:cNvSpPr/>
          <p:nvPr/>
        </p:nvSpPr>
        <p:spPr>
          <a:xfrm>
            <a:off x="10250424" y="6400800"/>
            <a:ext cx="100584" cy="100584"/>
          </a:xfrm>
          <a:prstGeom prst="ellipse">
            <a:avLst/>
          </a:prstGeom>
          <a:solidFill>
            <a:srgbClr val="C3CDDD"/>
          </a:solidFill>
          <a:ln w="12700">
            <a:solidFill>
              <a:srgbClr val="C3CDDD"/>
            </a:solidFill>
            <a:prstDash val="solid"/>
          </a:ln>
        </p:spPr>
      </p:sp>
      <p:sp>
        <p:nvSpPr>
          <p:cNvPr id="70" name="!!dot-2"/>
          <p:cNvSpPr/>
          <p:nvPr/>
        </p:nvSpPr>
        <p:spPr>
          <a:xfrm>
            <a:off x="10488168" y="6400800"/>
            <a:ext cx="155448" cy="155448"/>
          </a:xfrm>
          <a:prstGeom prst="ellipse">
            <a:avLst/>
          </a:prstGeom>
          <a:solidFill>
            <a:srgbClr val="F2A40E"/>
          </a:solidFill>
          <a:ln w="12700">
            <a:solidFill>
              <a:srgbClr val="F2A40E"/>
            </a:solidFill>
            <a:prstDash val="solid"/>
          </a:ln>
        </p:spPr>
      </p:sp>
      <p:sp>
        <p:nvSpPr>
          <p:cNvPr id="71" name="!!dot-3"/>
          <p:cNvSpPr/>
          <p:nvPr/>
        </p:nvSpPr>
        <p:spPr>
          <a:xfrm>
            <a:off x="10725912" y="6400800"/>
            <a:ext cx="100584" cy="100584"/>
          </a:xfrm>
          <a:prstGeom prst="ellipse">
            <a:avLst/>
          </a:prstGeom>
          <a:solidFill>
            <a:srgbClr val="C3CDDD"/>
          </a:solidFill>
          <a:ln w="12700">
            <a:solidFill>
              <a:srgbClr val="C3CDDD"/>
            </a:solidFill>
            <a:prstDash val="solid"/>
          </a:ln>
        </p:spPr>
      </p:sp>
      <p:sp>
        <p:nvSpPr>
          <p:cNvPr id="72" name="!!dot-4"/>
          <p:cNvSpPr/>
          <p:nvPr/>
        </p:nvSpPr>
        <p:spPr>
          <a:xfrm>
            <a:off x="10963656" y="6400800"/>
            <a:ext cx="100584" cy="100584"/>
          </a:xfrm>
          <a:prstGeom prst="ellipse">
            <a:avLst/>
          </a:prstGeom>
          <a:solidFill>
            <a:srgbClr val="C3CDDD"/>
          </a:solidFill>
          <a:ln w="12700">
            <a:solidFill>
              <a:srgbClr val="C3CDDD"/>
            </a:solidFill>
            <a:prstDash val="solid"/>
          </a:ln>
        </p:spPr>
      </p:sp>
      <p:sp>
        <p:nvSpPr>
          <p:cNvPr id="73" name="!!dot-5"/>
          <p:cNvSpPr/>
          <p:nvPr/>
        </p:nvSpPr>
        <p:spPr>
          <a:xfrm>
            <a:off x="11201400" y="6400800"/>
            <a:ext cx="100584" cy="100584"/>
          </a:xfrm>
          <a:prstGeom prst="ellipse">
            <a:avLst/>
          </a:prstGeom>
          <a:solidFill>
            <a:srgbClr val="C3CDDD"/>
          </a:solidFill>
          <a:ln w="12700">
            <a:solidFill>
              <a:srgbClr val="C3CDDD"/>
            </a:solidFill>
            <a:prstDash val="solid"/>
          </a:ln>
        </p:spPr>
      </p:sp>
      <p:sp>
        <p:nvSpPr>
          <p:cNvPr id="74" name="!!dot-6"/>
          <p:cNvSpPr/>
          <p:nvPr/>
        </p:nvSpPr>
        <p:spPr>
          <a:xfrm>
            <a:off x="11439144" y="6400800"/>
            <a:ext cx="100584" cy="100584"/>
          </a:xfrm>
          <a:prstGeom prst="ellipse">
            <a:avLst/>
          </a:prstGeom>
          <a:solidFill>
            <a:srgbClr val="C3CDDD"/>
          </a:solidFill>
          <a:ln w="12700">
            <a:solidFill>
              <a:srgbClr val="C3CDDD"/>
            </a:solidFill>
            <a:prstDash val="solid"/>
          </a:ln>
        </p:spPr>
      </p:sp>
      <p:sp>
        <p:nvSpPr>
          <p:cNvPr id="75" name="!!dot-7"/>
          <p:cNvSpPr/>
          <p:nvPr/>
        </p:nvSpPr>
        <p:spPr>
          <a:xfrm>
            <a:off x="11676888" y="6400800"/>
            <a:ext cx="100584" cy="100584"/>
          </a:xfrm>
          <a:prstGeom prst="ellipse">
            <a:avLst/>
          </a:prstGeom>
          <a:solidFill>
            <a:srgbClr val="C3CDDD"/>
          </a:solidFill>
          <a:ln w="12700">
            <a:solidFill>
              <a:srgbClr val="C3CDDD"/>
            </a:solidFill>
            <a:prstDash val="solid"/>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B3E"/>
        </a:solidFill>
      </p:bgPr>
    </p:bg>
    <p:spTree>
      <p:nvGrpSpPr>
        <p:cNvPr id="1" name=""/>
        <p:cNvGrpSpPr/>
        <p:nvPr/>
      </p:nvGrpSpPr>
      <p:grpSpPr>
        <a:xfrm>
          <a:off x="0" y="0"/>
          <a:ext cx="0" cy="0"/>
          <a:chOff x="0" y="0"/>
          <a:chExt cx="0" cy="0"/>
        </a:xfrm>
      </p:grpSpPr>
      <p:sp>
        <p:nvSpPr>
          <p:cNvPr id="2" name="!!panel"/>
          <p:cNvSpPr/>
          <p:nvPr/>
        </p:nvSpPr>
        <p:spPr>
          <a:xfrm>
            <a:off x="0" y="0"/>
            <a:ext cx="12191695" cy="6858000"/>
          </a:xfrm>
          <a:prstGeom prst="roundRect">
            <a:avLst/>
          </a:prstGeom>
          <a:solidFill>
            <a:srgbClr val="0D1B3E"/>
          </a:solidFill>
          <a:ln w="12700">
            <a:solidFill>
              <a:srgbClr val="0D1B3E"/>
            </a:solidFill>
            <a:prstDash val="solid"/>
          </a:ln>
        </p:spPr>
      </p:sp>
      <p:sp>
        <p:nvSpPr>
          <p:cNvPr id="3" name="!!ray-0"/>
          <p:cNvSpPr/>
          <p:nvPr/>
        </p:nvSpPr>
        <p:spPr>
          <a:xfrm>
            <a:off x="1789938" y="1143000"/>
            <a:ext cx="288036" cy="914"/>
          </a:xfrm>
          <a:prstGeom prst="line">
            <a:avLst/>
          </a:prstGeom>
          <a:noFill/>
          <a:ln w="19050">
            <a:solidFill>
              <a:srgbClr val="F2A40E"/>
            </a:solidFill>
            <a:prstDash val="solid"/>
          </a:ln>
        </p:spPr>
      </p:sp>
      <p:sp>
        <p:nvSpPr>
          <p:cNvPr id="4" name="!!ray-1"/>
          <p:cNvSpPr/>
          <p:nvPr/>
        </p:nvSpPr>
        <p:spPr>
          <a:xfrm>
            <a:off x="1715515" y="1420749"/>
            <a:ext cx="249446" cy="144018"/>
          </a:xfrm>
          <a:prstGeom prst="line">
            <a:avLst/>
          </a:prstGeom>
          <a:noFill/>
          <a:ln w="19050">
            <a:solidFill>
              <a:srgbClr val="F2A40E">
                <a:alpha val="55000"/>
              </a:srgbClr>
            </a:solidFill>
            <a:prstDash val="solid"/>
          </a:ln>
        </p:spPr>
      </p:sp>
      <p:sp>
        <p:nvSpPr>
          <p:cNvPr id="5" name="!!ray-2"/>
          <p:cNvSpPr/>
          <p:nvPr/>
        </p:nvSpPr>
        <p:spPr>
          <a:xfrm>
            <a:off x="1512189" y="1624075"/>
            <a:ext cx="144018" cy="249446"/>
          </a:xfrm>
          <a:prstGeom prst="line">
            <a:avLst/>
          </a:prstGeom>
          <a:noFill/>
          <a:ln w="19050">
            <a:solidFill>
              <a:srgbClr val="F2A40E"/>
            </a:solidFill>
            <a:prstDash val="solid"/>
          </a:ln>
        </p:spPr>
      </p:sp>
      <p:sp>
        <p:nvSpPr>
          <p:cNvPr id="6" name="!!ray-3"/>
          <p:cNvSpPr/>
          <p:nvPr/>
        </p:nvSpPr>
        <p:spPr>
          <a:xfrm>
            <a:off x="1234440" y="1698498"/>
            <a:ext cx="914" cy="288036"/>
          </a:xfrm>
          <a:prstGeom prst="line">
            <a:avLst/>
          </a:prstGeom>
          <a:noFill/>
          <a:ln w="19050">
            <a:solidFill>
              <a:srgbClr val="F2A40E">
                <a:alpha val="55000"/>
              </a:srgbClr>
            </a:solidFill>
            <a:prstDash val="solid"/>
          </a:ln>
        </p:spPr>
      </p:sp>
      <p:sp>
        <p:nvSpPr>
          <p:cNvPr id="7" name="!!ray-4"/>
          <p:cNvSpPr/>
          <p:nvPr/>
        </p:nvSpPr>
        <p:spPr>
          <a:xfrm flipH="1">
            <a:off x="812673" y="1624075"/>
            <a:ext cx="144018" cy="249446"/>
          </a:xfrm>
          <a:prstGeom prst="line">
            <a:avLst/>
          </a:prstGeom>
          <a:noFill/>
          <a:ln w="19050">
            <a:solidFill>
              <a:srgbClr val="F2A40E"/>
            </a:solidFill>
            <a:prstDash val="solid"/>
          </a:ln>
        </p:spPr>
      </p:sp>
      <p:sp>
        <p:nvSpPr>
          <p:cNvPr id="8" name="!!ray-5"/>
          <p:cNvSpPr/>
          <p:nvPr/>
        </p:nvSpPr>
        <p:spPr>
          <a:xfrm flipH="1">
            <a:off x="503918" y="1420749"/>
            <a:ext cx="249446" cy="144018"/>
          </a:xfrm>
          <a:prstGeom prst="line">
            <a:avLst/>
          </a:prstGeom>
          <a:noFill/>
          <a:ln w="19050">
            <a:solidFill>
              <a:srgbClr val="F2A40E">
                <a:alpha val="55000"/>
              </a:srgbClr>
            </a:solidFill>
            <a:prstDash val="solid"/>
          </a:ln>
        </p:spPr>
      </p:sp>
      <p:sp>
        <p:nvSpPr>
          <p:cNvPr id="9" name="!!ray-6"/>
          <p:cNvSpPr/>
          <p:nvPr/>
        </p:nvSpPr>
        <p:spPr>
          <a:xfrm flipH="1">
            <a:off x="390906" y="1143000"/>
            <a:ext cx="288036" cy="914"/>
          </a:xfrm>
          <a:prstGeom prst="line">
            <a:avLst/>
          </a:prstGeom>
          <a:noFill/>
          <a:ln w="19050">
            <a:solidFill>
              <a:srgbClr val="F2A40E"/>
            </a:solidFill>
            <a:prstDash val="solid"/>
          </a:ln>
        </p:spPr>
      </p:sp>
      <p:sp>
        <p:nvSpPr>
          <p:cNvPr id="10" name="!!ray-7"/>
          <p:cNvSpPr/>
          <p:nvPr/>
        </p:nvSpPr>
        <p:spPr>
          <a:xfrm flipH="1" flipV="1">
            <a:off x="503918" y="721233"/>
            <a:ext cx="249446" cy="144018"/>
          </a:xfrm>
          <a:prstGeom prst="line">
            <a:avLst/>
          </a:prstGeom>
          <a:noFill/>
          <a:ln w="19050">
            <a:solidFill>
              <a:srgbClr val="F2A40E">
                <a:alpha val="55000"/>
              </a:srgbClr>
            </a:solidFill>
            <a:prstDash val="solid"/>
          </a:ln>
        </p:spPr>
      </p:sp>
      <p:sp>
        <p:nvSpPr>
          <p:cNvPr id="11" name="!!ray-8"/>
          <p:cNvSpPr/>
          <p:nvPr/>
        </p:nvSpPr>
        <p:spPr>
          <a:xfrm flipH="1" flipV="1">
            <a:off x="812673" y="412478"/>
            <a:ext cx="144018" cy="249446"/>
          </a:xfrm>
          <a:prstGeom prst="line">
            <a:avLst/>
          </a:prstGeom>
          <a:noFill/>
          <a:ln w="19050">
            <a:solidFill>
              <a:srgbClr val="F2A40E"/>
            </a:solidFill>
            <a:prstDash val="solid"/>
          </a:ln>
        </p:spPr>
      </p:sp>
      <p:sp>
        <p:nvSpPr>
          <p:cNvPr id="12" name="!!ray-9"/>
          <p:cNvSpPr/>
          <p:nvPr/>
        </p:nvSpPr>
        <p:spPr>
          <a:xfrm flipH="1" flipV="1">
            <a:off x="1234440" y="299466"/>
            <a:ext cx="914" cy="288036"/>
          </a:xfrm>
          <a:prstGeom prst="line">
            <a:avLst/>
          </a:prstGeom>
          <a:noFill/>
          <a:ln w="19050">
            <a:solidFill>
              <a:srgbClr val="F2A40E">
                <a:alpha val="55000"/>
              </a:srgbClr>
            </a:solidFill>
            <a:prstDash val="solid"/>
          </a:ln>
        </p:spPr>
      </p:sp>
      <p:sp>
        <p:nvSpPr>
          <p:cNvPr id="13" name="!!ray-10"/>
          <p:cNvSpPr/>
          <p:nvPr/>
        </p:nvSpPr>
        <p:spPr>
          <a:xfrm flipV="1">
            <a:off x="1512189" y="412478"/>
            <a:ext cx="144018" cy="249446"/>
          </a:xfrm>
          <a:prstGeom prst="line">
            <a:avLst/>
          </a:prstGeom>
          <a:noFill/>
          <a:ln w="19050">
            <a:solidFill>
              <a:srgbClr val="F2A40E"/>
            </a:solidFill>
            <a:prstDash val="solid"/>
          </a:ln>
        </p:spPr>
      </p:sp>
      <p:sp>
        <p:nvSpPr>
          <p:cNvPr id="14" name="!!ray-11"/>
          <p:cNvSpPr/>
          <p:nvPr/>
        </p:nvSpPr>
        <p:spPr>
          <a:xfrm flipV="1">
            <a:off x="1715515" y="721233"/>
            <a:ext cx="249446" cy="144018"/>
          </a:xfrm>
          <a:prstGeom prst="line">
            <a:avLst/>
          </a:prstGeom>
          <a:noFill/>
          <a:ln w="19050">
            <a:solidFill>
              <a:srgbClr val="F2A40E">
                <a:alpha val="55000"/>
              </a:srgbClr>
            </a:solidFill>
            <a:prstDash val="solid"/>
          </a:ln>
        </p:spPr>
      </p:sp>
      <p:sp>
        <p:nvSpPr>
          <p:cNvPr id="15" name="!!ring"/>
          <p:cNvSpPr/>
          <p:nvPr/>
        </p:nvSpPr>
        <p:spPr>
          <a:xfrm>
            <a:off x="822960" y="731520"/>
            <a:ext cx="822960" cy="822960"/>
          </a:xfrm>
          <a:prstGeom prst="ellipse">
            <a:avLst/>
          </a:prstGeom>
          <a:solidFill>
            <a:srgbClr val="1C3EA6"/>
          </a:solidFill>
          <a:ln w="12700">
            <a:solidFill>
              <a:srgbClr val="FFFFFF"/>
            </a:solidFill>
            <a:prstDash val="solid"/>
          </a:ln>
        </p:spPr>
      </p:sp>
      <p:sp>
        <p:nvSpPr>
          <p:cNvPr id="16" name="!!flame"/>
          <p:cNvSpPr/>
          <p:nvPr/>
        </p:nvSpPr>
        <p:spPr>
          <a:xfrm>
            <a:off x="1061618" y="970178"/>
            <a:ext cx="345643" cy="345643"/>
          </a:xfrm>
          <a:prstGeom prst="ellipse">
            <a:avLst/>
          </a:prstGeom>
          <a:solidFill>
            <a:srgbClr val="F2A40E"/>
          </a:solidFill>
          <a:ln w="12700">
            <a:solidFill>
              <a:srgbClr val="F2A40E"/>
            </a:solidFill>
            <a:prstDash val="solid"/>
          </a:ln>
        </p:spPr>
      </p:sp>
      <p:sp>
        <p:nvSpPr>
          <p:cNvPr id="17" name="!!kicker"/>
          <p:cNvSpPr txBox="1"/>
          <p:nvPr/>
        </p:nvSpPr>
        <p:spPr>
          <a:xfrm>
            <a:off x="2606040" y="987552"/>
            <a:ext cx="4572000" cy="320040"/>
          </a:xfrm>
          <a:prstGeom prst="rect">
            <a:avLst/>
          </a:prstGeom>
          <a:noFill/>
          <a:ln/>
        </p:spPr>
        <p:txBody>
          <a:bodyPr wrap="square" lIns="0" tIns="0" rIns="0" bIns="0" rtlCol="0" anchor="ctr"/>
          <a:lstStyle/>
          <a:p>
            <a:pPr indent="0" marL="0">
              <a:buNone/>
            </a:pPr>
            <a:r>
              <a:rPr lang="en-US" sz="1300" b="1" spc="300" kern="0" dirty="0">
                <a:solidFill>
                  <a:srgbClr val="F2A40E"/>
                </a:solidFill>
                <a:latin typeface="Calibri" pitchFamily="34" charset="0"/>
                <a:ea typeface="Calibri" pitchFamily="34" charset="-122"/>
                <a:cs typeface="Calibri" pitchFamily="34" charset="-120"/>
              </a:rPr>
              <a:t>03 · LIVE DEMO · 100 SECONDS</a:t>
            </a:r>
            <a:endParaRPr lang="en-US" sz="1300" dirty="0"/>
          </a:p>
        </p:txBody>
      </p:sp>
      <p:sp>
        <p:nvSpPr>
          <p:cNvPr id="18" name="!!title"/>
          <p:cNvSpPr txBox="1"/>
          <p:nvPr/>
        </p:nvSpPr>
        <p:spPr>
          <a:xfrm>
            <a:off x="731520" y="1920240"/>
            <a:ext cx="5577840" cy="1280160"/>
          </a:xfrm>
          <a:prstGeom prst="rect">
            <a:avLst/>
          </a:prstGeom>
          <a:noFill/>
          <a:ln/>
        </p:spPr>
        <p:txBody>
          <a:bodyPr wrap="square" lIns="0" tIns="0" rIns="0" bIns="0" rtlCol="0" anchor="t"/>
          <a:lstStyle/>
          <a:p>
            <a:pPr indent="0" marL="0">
              <a:buNone/>
            </a:pPr>
            <a:r>
              <a:rPr lang="en-US" sz="3200" b="1" dirty="0">
                <a:solidFill>
                  <a:srgbClr val="FFFFFF"/>
                </a:solidFill>
                <a:latin typeface="Century Gothic" pitchFamily="34" charset="0"/>
                <a:ea typeface="Century Gothic" pitchFamily="34" charset="-122"/>
                <a:cs typeface="Century Gothic" pitchFamily="34" charset="-120"/>
              </a:rPr>
              <a:t>Watch a real page become a lesson</a:t>
            </a:r>
            <a:endParaRPr lang="en-US" sz="3200" dirty="0"/>
          </a:p>
        </p:txBody>
      </p:sp>
      <p:sp>
        <p:nvSpPr>
          <p:cNvPr id="19" name="demo-n-0"/>
          <p:cNvSpPr/>
          <p:nvPr/>
        </p:nvSpPr>
        <p:spPr>
          <a:xfrm>
            <a:off x="731520" y="3465576"/>
            <a:ext cx="420624" cy="420624"/>
          </a:xfrm>
          <a:prstGeom prst="ellipse">
            <a:avLst/>
          </a:prstGeom>
          <a:solidFill>
            <a:srgbClr val="F2A40E"/>
          </a:solidFill>
          <a:ln w="12700">
            <a:solidFill>
              <a:srgbClr val="F2A40E"/>
            </a:solidFill>
            <a:prstDash val="solid"/>
          </a:ln>
        </p:spPr>
      </p:sp>
      <p:sp>
        <p:nvSpPr>
          <p:cNvPr id="20" name="demo-num-0"/>
          <p:cNvSpPr txBox="1"/>
          <p:nvPr/>
        </p:nvSpPr>
        <p:spPr>
          <a:xfrm>
            <a:off x="731520" y="3465576"/>
            <a:ext cx="420624" cy="420624"/>
          </a:xfrm>
          <a:prstGeom prst="rect">
            <a:avLst/>
          </a:prstGeom>
          <a:noFill/>
          <a:ln/>
        </p:spPr>
        <p:txBody>
          <a:bodyPr wrap="square" lIns="0" tIns="0" rIns="0" bIns="0" rtlCol="0" anchor="ctr"/>
          <a:lstStyle/>
          <a:p>
            <a:pPr algn="ctr" indent="0" marL="0">
              <a:buNone/>
            </a:pPr>
            <a:r>
              <a:rPr lang="en-US" sz="1500" b="1" dirty="0">
                <a:solidFill>
                  <a:srgbClr val="0D1B3E"/>
                </a:solidFill>
                <a:latin typeface="Calibri" pitchFamily="34" charset="0"/>
                <a:ea typeface="Calibri" pitchFamily="34" charset="-122"/>
                <a:cs typeface="Calibri" pitchFamily="34" charset="-120"/>
              </a:rPr>
              <a:t>1</a:t>
            </a:r>
            <a:endParaRPr lang="en-US" sz="1500" dirty="0"/>
          </a:p>
        </p:txBody>
      </p:sp>
      <p:sp>
        <p:nvSpPr>
          <p:cNvPr id="21" name="demo-t-0"/>
          <p:cNvSpPr txBox="1"/>
          <p:nvPr/>
        </p:nvSpPr>
        <p:spPr>
          <a:xfrm>
            <a:off x="1325880" y="3410712"/>
            <a:ext cx="4754880" cy="329184"/>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Set up for you</a:t>
            </a:r>
            <a:endParaRPr lang="en-US" sz="1800" dirty="0"/>
          </a:p>
        </p:txBody>
      </p:sp>
      <p:sp>
        <p:nvSpPr>
          <p:cNvPr id="22" name="demo-d-0"/>
          <p:cNvSpPr txBox="1"/>
          <p:nvPr/>
        </p:nvSpPr>
        <p:spPr>
          <a:xfrm>
            <a:off x="1325880" y="3730752"/>
            <a:ext cx="4846320" cy="292608"/>
          </a:xfrm>
          <a:prstGeom prst="rect">
            <a:avLst/>
          </a:prstGeom>
          <a:noFill/>
          <a:ln/>
        </p:spPr>
        <p:txBody>
          <a:bodyPr wrap="square" lIns="0" tIns="0" rIns="0" bIns="0" rtlCol="0" anchor="ctr"/>
          <a:lstStyle/>
          <a:p>
            <a:pPr indent="0" marL="0">
              <a:buNone/>
            </a:pPr>
            <a:r>
              <a:rPr lang="en-US" sz="1300" dirty="0">
                <a:solidFill>
                  <a:srgbClr val="C9D4F2"/>
                </a:solidFill>
                <a:latin typeface="Calibri" pitchFamily="34" charset="0"/>
                <a:ea typeface="Calibri" pitchFamily="34" charset="-122"/>
                <a:cs typeface="Calibri" pitchFamily="34" charset="-120"/>
              </a:rPr>
              <a:t>Two questions; the lesson opens your way and says why</a:t>
            </a:r>
            <a:endParaRPr lang="en-US" sz="1300" dirty="0"/>
          </a:p>
        </p:txBody>
      </p:sp>
      <p:sp>
        <p:nvSpPr>
          <p:cNvPr id="23" name="demo-n-1"/>
          <p:cNvSpPr/>
          <p:nvPr/>
        </p:nvSpPr>
        <p:spPr>
          <a:xfrm>
            <a:off x="731520" y="4178808"/>
            <a:ext cx="420624" cy="420624"/>
          </a:xfrm>
          <a:prstGeom prst="ellipse">
            <a:avLst/>
          </a:prstGeom>
          <a:solidFill>
            <a:srgbClr val="F2A40E"/>
          </a:solidFill>
          <a:ln w="12700">
            <a:solidFill>
              <a:srgbClr val="F2A40E"/>
            </a:solidFill>
            <a:prstDash val="solid"/>
          </a:ln>
        </p:spPr>
      </p:sp>
      <p:sp>
        <p:nvSpPr>
          <p:cNvPr id="24" name="demo-num-1"/>
          <p:cNvSpPr txBox="1"/>
          <p:nvPr/>
        </p:nvSpPr>
        <p:spPr>
          <a:xfrm>
            <a:off x="731520" y="4178808"/>
            <a:ext cx="420624" cy="420624"/>
          </a:xfrm>
          <a:prstGeom prst="rect">
            <a:avLst/>
          </a:prstGeom>
          <a:noFill/>
          <a:ln/>
        </p:spPr>
        <p:txBody>
          <a:bodyPr wrap="square" lIns="0" tIns="0" rIns="0" bIns="0" rtlCol="0" anchor="ctr"/>
          <a:lstStyle/>
          <a:p>
            <a:pPr algn="ctr" indent="0" marL="0">
              <a:buNone/>
            </a:pPr>
            <a:r>
              <a:rPr lang="en-US" sz="1500" b="1" dirty="0">
                <a:solidFill>
                  <a:srgbClr val="0D1B3E"/>
                </a:solidFill>
                <a:latin typeface="Calibri" pitchFamily="34" charset="0"/>
                <a:ea typeface="Calibri" pitchFamily="34" charset="-122"/>
                <a:cs typeface="Calibri" pitchFamily="34" charset="-120"/>
              </a:rPr>
              <a:t>2</a:t>
            </a:r>
            <a:endParaRPr lang="en-US" sz="1500" dirty="0"/>
          </a:p>
        </p:txBody>
      </p:sp>
      <p:sp>
        <p:nvSpPr>
          <p:cNvPr id="25" name="demo-t-1"/>
          <p:cNvSpPr txBox="1"/>
          <p:nvPr/>
        </p:nvSpPr>
        <p:spPr>
          <a:xfrm>
            <a:off x="1325880" y="4123944"/>
            <a:ext cx="4754880" cy="329184"/>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Read Easy</a:t>
            </a:r>
            <a:endParaRPr lang="en-US" sz="1800" dirty="0"/>
          </a:p>
        </p:txBody>
      </p:sp>
      <p:sp>
        <p:nvSpPr>
          <p:cNvPr id="26" name="demo-d-1"/>
          <p:cNvSpPr txBox="1"/>
          <p:nvPr/>
        </p:nvSpPr>
        <p:spPr>
          <a:xfrm>
            <a:off x="1325880" y="4443984"/>
            <a:ext cx="4846320" cy="292608"/>
          </a:xfrm>
          <a:prstGeom prst="rect">
            <a:avLst/>
          </a:prstGeom>
          <a:noFill/>
          <a:ln/>
        </p:spPr>
        <p:txBody>
          <a:bodyPr wrap="square" lIns="0" tIns="0" rIns="0" bIns="0" rtlCol="0" anchor="ctr"/>
          <a:lstStyle/>
          <a:p>
            <a:pPr indent="0" marL="0">
              <a:buNone/>
            </a:pPr>
            <a:r>
              <a:rPr lang="en-US" sz="1300" dirty="0">
                <a:solidFill>
                  <a:srgbClr val="C9D4F2"/>
                </a:solidFill>
                <a:latin typeface="Calibri" pitchFamily="34" charset="0"/>
                <a:ea typeface="Calibri" pitchFamily="34" charset="-122"/>
                <a:cs typeface="Calibri" pitchFamily="34" charset="-120"/>
              </a:rPr>
              <a:t>Read-aloud highlighting, Urdu/Pashto word help</a:t>
            </a:r>
            <a:endParaRPr lang="en-US" sz="1300" dirty="0"/>
          </a:p>
        </p:txBody>
      </p:sp>
      <p:sp>
        <p:nvSpPr>
          <p:cNvPr id="27" name="demo-n-2"/>
          <p:cNvSpPr/>
          <p:nvPr/>
        </p:nvSpPr>
        <p:spPr>
          <a:xfrm>
            <a:off x="731520" y="4892040"/>
            <a:ext cx="420624" cy="420624"/>
          </a:xfrm>
          <a:prstGeom prst="ellipse">
            <a:avLst/>
          </a:prstGeom>
          <a:solidFill>
            <a:srgbClr val="F2A40E"/>
          </a:solidFill>
          <a:ln w="12700">
            <a:solidFill>
              <a:srgbClr val="F2A40E"/>
            </a:solidFill>
            <a:prstDash val="solid"/>
          </a:ln>
        </p:spPr>
      </p:sp>
      <p:sp>
        <p:nvSpPr>
          <p:cNvPr id="28" name="demo-num-2"/>
          <p:cNvSpPr txBox="1"/>
          <p:nvPr/>
        </p:nvSpPr>
        <p:spPr>
          <a:xfrm>
            <a:off x="731520" y="4892040"/>
            <a:ext cx="420624" cy="420624"/>
          </a:xfrm>
          <a:prstGeom prst="rect">
            <a:avLst/>
          </a:prstGeom>
          <a:noFill/>
          <a:ln/>
        </p:spPr>
        <p:txBody>
          <a:bodyPr wrap="square" lIns="0" tIns="0" rIns="0" bIns="0" rtlCol="0" anchor="ctr"/>
          <a:lstStyle/>
          <a:p>
            <a:pPr algn="ctr" indent="0" marL="0">
              <a:buNone/>
            </a:pPr>
            <a:r>
              <a:rPr lang="en-US" sz="1500" b="1" dirty="0">
                <a:solidFill>
                  <a:srgbClr val="0D1B3E"/>
                </a:solidFill>
                <a:latin typeface="Calibri" pitchFamily="34" charset="0"/>
                <a:ea typeface="Calibri" pitchFamily="34" charset="-122"/>
                <a:cs typeface="Calibri" pitchFamily="34" charset="-120"/>
              </a:rPr>
              <a:t>3</a:t>
            </a:r>
            <a:endParaRPr lang="en-US" sz="1500" dirty="0"/>
          </a:p>
        </p:txBody>
      </p:sp>
      <p:sp>
        <p:nvSpPr>
          <p:cNvPr id="29" name="demo-t-2"/>
          <p:cNvSpPr txBox="1"/>
          <p:nvPr/>
        </p:nvSpPr>
        <p:spPr>
          <a:xfrm>
            <a:off x="1325880" y="4837176"/>
            <a:ext cx="4754880" cy="329184"/>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Plant 3 errors</a:t>
            </a:r>
            <a:endParaRPr lang="en-US" sz="1800" dirty="0"/>
          </a:p>
        </p:txBody>
      </p:sp>
      <p:sp>
        <p:nvSpPr>
          <p:cNvPr id="30" name="demo-d-2"/>
          <p:cNvSpPr txBox="1"/>
          <p:nvPr/>
        </p:nvSpPr>
        <p:spPr>
          <a:xfrm>
            <a:off x="1325880" y="5157216"/>
            <a:ext cx="4846320" cy="292608"/>
          </a:xfrm>
          <a:prstGeom prst="rect">
            <a:avLst/>
          </a:prstGeom>
          <a:noFill/>
          <a:ln/>
        </p:spPr>
        <p:txBody>
          <a:bodyPr wrap="square" lIns="0" tIns="0" rIns="0" bIns="0" rtlCol="0" anchor="ctr"/>
          <a:lstStyle/>
          <a:p>
            <a:pPr indent="0" marL="0">
              <a:buNone/>
            </a:pPr>
            <a:r>
              <a:rPr lang="en-US" sz="1300" dirty="0">
                <a:solidFill>
                  <a:srgbClr val="C9D4F2"/>
                </a:solidFill>
                <a:latin typeface="Calibri" pitchFamily="34" charset="0"/>
                <a:ea typeface="Calibri" pitchFamily="34" charset="-122"/>
                <a:cs typeface="Calibri" pitchFamily="34" charset="-120"/>
              </a:rPr>
              <a:t>Fact Guard catches them and repairs the rewrite</a:t>
            </a:r>
            <a:endParaRPr lang="en-US" sz="1300" dirty="0"/>
          </a:p>
        </p:txBody>
      </p:sp>
      <p:sp>
        <p:nvSpPr>
          <p:cNvPr id="31" name="demo-n-3"/>
          <p:cNvSpPr/>
          <p:nvPr/>
        </p:nvSpPr>
        <p:spPr>
          <a:xfrm>
            <a:off x="731520" y="5605272"/>
            <a:ext cx="420624" cy="420624"/>
          </a:xfrm>
          <a:prstGeom prst="ellipse">
            <a:avLst/>
          </a:prstGeom>
          <a:solidFill>
            <a:srgbClr val="F2A40E"/>
          </a:solidFill>
          <a:ln w="12700">
            <a:solidFill>
              <a:srgbClr val="F2A40E"/>
            </a:solidFill>
            <a:prstDash val="solid"/>
          </a:ln>
        </p:spPr>
      </p:sp>
      <p:sp>
        <p:nvSpPr>
          <p:cNvPr id="32" name="demo-num-3"/>
          <p:cNvSpPr txBox="1"/>
          <p:nvPr/>
        </p:nvSpPr>
        <p:spPr>
          <a:xfrm>
            <a:off x="731520" y="5605272"/>
            <a:ext cx="420624" cy="420624"/>
          </a:xfrm>
          <a:prstGeom prst="rect">
            <a:avLst/>
          </a:prstGeom>
          <a:noFill/>
          <a:ln/>
        </p:spPr>
        <p:txBody>
          <a:bodyPr wrap="square" lIns="0" tIns="0" rIns="0" bIns="0" rtlCol="0" anchor="ctr"/>
          <a:lstStyle/>
          <a:p>
            <a:pPr algn="ctr" indent="0" marL="0">
              <a:buNone/>
            </a:pPr>
            <a:r>
              <a:rPr lang="en-US" sz="1500" b="1" dirty="0">
                <a:solidFill>
                  <a:srgbClr val="0D1B3E"/>
                </a:solidFill>
                <a:latin typeface="Calibri" pitchFamily="34" charset="0"/>
                <a:ea typeface="Calibri" pitchFamily="34" charset="-122"/>
                <a:cs typeface="Calibri" pitchFamily="34" charset="-120"/>
              </a:rPr>
              <a:t>4</a:t>
            </a:r>
            <a:endParaRPr lang="en-US" sz="1500" dirty="0"/>
          </a:p>
        </p:txBody>
      </p:sp>
      <p:sp>
        <p:nvSpPr>
          <p:cNvPr id="33" name="demo-t-3"/>
          <p:cNvSpPr txBox="1"/>
          <p:nvPr/>
        </p:nvSpPr>
        <p:spPr>
          <a:xfrm>
            <a:off x="1325880" y="5550408"/>
            <a:ext cx="4754880" cy="329184"/>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Voice quiz</a:t>
            </a:r>
            <a:endParaRPr lang="en-US" sz="1800" dirty="0"/>
          </a:p>
        </p:txBody>
      </p:sp>
      <p:sp>
        <p:nvSpPr>
          <p:cNvPr id="34" name="demo-d-3"/>
          <p:cNvSpPr txBox="1"/>
          <p:nvPr/>
        </p:nvSpPr>
        <p:spPr>
          <a:xfrm>
            <a:off x="1325880" y="5870448"/>
            <a:ext cx="4846320" cy="292608"/>
          </a:xfrm>
          <a:prstGeom prst="rect">
            <a:avLst/>
          </a:prstGeom>
          <a:noFill/>
          <a:ln/>
        </p:spPr>
        <p:txBody>
          <a:bodyPr wrap="square" lIns="0" tIns="0" rIns="0" bIns="0" rtlCol="0" anchor="ctr"/>
          <a:lstStyle/>
          <a:p>
            <a:pPr indent="0" marL="0">
              <a:buNone/>
            </a:pPr>
            <a:r>
              <a:rPr lang="en-US" sz="1300" dirty="0">
                <a:solidFill>
                  <a:srgbClr val="C9D4F2"/>
                </a:solidFill>
                <a:latin typeface="Calibri" pitchFamily="34" charset="0"/>
                <a:ea typeface="Calibri" pitchFamily="34" charset="-122"/>
                <a:cs typeface="Calibri" pitchFamily="34" charset="-120"/>
              </a:rPr>
              <a:t>Say “B” → weak areas → a study plan to the exact spot</a:t>
            </a:r>
            <a:endParaRPr lang="en-US" sz="1300" dirty="0"/>
          </a:p>
        </p:txBody>
      </p:sp>
      <p:sp>
        <p:nvSpPr>
          <p:cNvPr id="35" name="shot-frame"/>
          <p:cNvSpPr/>
          <p:nvPr/>
        </p:nvSpPr>
        <p:spPr>
          <a:xfrm>
            <a:off x="6629400" y="1234440"/>
            <a:ext cx="5120640" cy="3291840"/>
          </a:xfrm>
          <a:prstGeom prst="roundRect">
            <a:avLst>
              <a:gd name="adj" fmla="val 3889"/>
            </a:avLst>
          </a:prstGeom>
          <a:solidFill>
            <a:srgbClr val="FFFFFF"/>
          </a:solidFill>
          <a:ln w="12700">
            <a:solidFill>
              <a:srgbClr val="2A3A6E"/>
            </a:solidFill>
            <a:prstDash val="solid"/>
          </a:ln>
        </p:spPr>
      </p:sp>
      <p:pic>
        <p:nvPicPr>
          <p:cNvPr id="36" name="shot" descr="C:\Users\rahee\AppData\Local\Temp\claude\C--Users-rahee-Desktop-AICon\b0d77b2b-594c-418c-bce0-e4f2d230c288\scratchpad\deck-assets\deck-read.png">    </p:cNvPr>
          <p:cNvPicPr>
            <a:picLocks noChangeAspect="1"/>
          </p:cNvPicPr>
          <p:nvPr/>
        </p:nvPicPr>
        <p:blipFill>
          <a:blip r:embed="rId1"/>
          <a:srcRect l="0" r="0" t="0" b="0"/>
          <a:stretch/>
        </p:blipFill>
        <p:spPr>
          <a:xfrm>
            <a:off x="6702552" y="1307592"/>
            <a:ext cx="4974336" cy="3145536"/>
          </a:xfrm>
          <a:prstGeom prst="rect">
            <a:avLst/>
          </a:prstGeom>
        </p:spPr>
      </p:pic>
      <p:sp>
        <p:nvSpPr>
          <p:cNvPr id="37" name="shot-note"/>
          <p:cNvSpPr txBox="1"/>
          <p:nvPr/>
        </p:nvSpPr>
        <p:spPr>
          <a:xfrm>
            <a:off x="6629400" y="4709160"/>
            <a:ext cx="5120640" cy="548640"/>
          </a:xfrm>
          <a:prstGeom prst="rect">
            <a:avLst/>
          </a:prstGeom>
          <a:noFill/>
          <a:ln/>
        </p:spPr>
        <p:txBody>
          <a:bodyPr wrap="square" lIns="0" tIns="0" rIns="0" bIns="0" rtlCol="0" anchor="ctr"/>
          <a:lstStyle/>
          <a:p>
            <a:pPr indent="0" marL="0">
              <a:buNone/>
            </a:pPr>
            <a:r>
              <a:rPr lang="en-US" sz="1300" i="1" dirty="0">
                <a:solidFill>
                  <a:srgbClr val="C9D4F2"/>
                </a:solidFill>
                <a:latin typeface="Calibri" pitchFamily="34" charset="0"/>
                <a:ea typeface="Calibri" pitchFamily="34" charset="-122"/>
                <a:cs typeface="Calibri" pitchFamily="34" charset="-120"/>
              </a:rPr>
              <a:t>Backup if the Wi-Fi fails: the same features on cached sample lessons (demo mode).</a:t>
            </a:r>
            <a:endParaRPr lang="en-US" sz="1300" dirty="0"/>
          </a:p>
        </p:txBody>
      </p:sp>
      <p:sp>
        <p:nvSpPr>
          <p:cNvPr id="38" name="!!dot-0"/>
          <p:cNvSpPr/>
          <p:nvPr/>
        </p:nvSpPr>
        <p:spPr>
          <a:xfrm>
            <a:off x="10012680" y="6400800"/>
            <a:ext cx="100584" cy="100584"/>
          </a:xfrm>
          <a:prstGeom prst="ellipse">
            <a:avLst/>
          </a:prstGeom>
          <a:solidFill>
            <a:srgbClr val="3A4A7A"/>
          </a:solidFill>
          <a:ln w="12700">
            <a:solidFill>
              <a:srgbClr val="3A4A7A"/>
            </a:solidFill>
            <a:prstDash val="solid"/>
          </a:ln>
        </p:spPr>
      </p:sp>
      <p:sp>
        <p:nvSpPr>
          <p:cNvPr id="39" name="!!dot-1"/>
          <p:cNvSpPr/>
          <p:nvPr/>
        </p:nvSpPr>
        <p:spPr>
          <a:xfrm>
            <a:off x="10250424" y="6400800"/>
            <a:ext cx="100584" cy="100584"/>
          </a:xfrm>
          <a:prstGeom prst="ellipse">
            <a:avLst/>
          </a:prstGeom>
          <a:solidFill>
            <a:srgbClr val="3A4A7A"/>
          </a:solidFill>
          <a:ln w="12700">
            <a:solidFill>
              <a:srgbClr val="3A4A7A"/>
            </a:solidFill>
            <a:prstDash val="solid"/>
          </a:ln>
        </p:spPr>
      </p:sp>
      <p:sp>
        <p:nvSpPr>
          <p:cNvPr id="40" name="!!dot-2"/>
          <p:cNvSpPr/>
          <p:nvPr/>
        </p:nvSpPr>
        <p:spPr>
          <a:xfrm>
            <a:off x="10488168" y="6400800"/>
            <a:ext cx="100584" cy="100584"/>
          </a:xfrm>
          <a:prstGeom prst="ellipse">
            <a:avLst/>
          </a:prstGeom>
          <a:solidFill>
            <a:srgbClr val="3A4A7A"/>
          </a:solidFill>
          <a:ln w="12700">
            <a:solidFill>
              <a:srgbClr val="3A4A7A"/>
            </a:solidFill>
            <a:prstDash val="solid"/>
          </a:ln>
        </p:spPr>
      </p:sp>
      <p:sp>
        <p:nvSpPr>
          <p:cNvPr id="41" name="!!dot-3"/>
          <p:cNvSpPr/>
          <p:nvPr/>
        </p:nvSpPr>
        <p:spPr>
          <a:xfrm>
            <a:off x="10725912" y="6400800"/>
            <a:ext cx="155448" cy="155448"/>
          </a:xfrm>
          <a:prstGeom prst="ellipse">
            <a:avLst/>
          </a:prstGeom>
          <a:solidFill>
            <a:srgbClr val="F2A40E"/>
          </a:solidFill>
          <a:ln w="12700">
            <a:solidFill>
              <a:srgbClr val="F2A40E"/>
            </a:solidFill>
            <a:prstDash val="solid"/>
          </a:ln>
        </p:spPr>
      </p:sp>
      <p:sp>
        <p:nvSpPr>
          <p:cNvPr id="42" name="!!dot-4"/>
          <p:cNvSpPr/>
          <p:nvPr/>
        </p:nvSpPr>
        <p:spPr>
          <a:xfrm>
            <a:off x="10963656" y="6400800"/>
            <a:ext cx="100584" cy="100584"/>
          </a:xfrm>
          <a:prstGeom prst="ellipse">
            <a:avLst/>
          </a:prstGeom>
          <a:solidFill>
            <a:srgbClr val="3A4A7A"/>
          </a:solidFill>
          <a:ln w="12700">
            <a:solidFill>
              <a:srgbClr val="3A4A7A"/>
            </a:solidFill>
            <a:prstDash val="solid"/>
          </a:ln>
        </p:spPr>
      </p:sp>
      <p:sp>
        <p:nvSpPr>
          <p:cNvPr id="43" name="!!dot-5"/>
          <p:cNvSpPr/>
          <p:nvPr/>
        </p:nvSpPr>
        <p:spPr>
          <a:xfrm>
            <a:off x="11201400" y="6400800"/>
            <a:ext cx="100584" cy="100584"/>
          </a:xfrm>
          <a:prstGeom prst="ellipse">
            <a:avLst/>
          </a:prstGeom>
          <a:solidFill>
            <a:srgbClr val="3A4A7A"/>
          </a:solidFill>
          <a:ln w="12700">
            <a:solidFill>
              <a:srgbClr val="3A4A7A"/>
            </a:solidFill>
            <a:prstDash val="solid"/>
          </a:ln>
        </p:spPr>
      </p:sp>
      <p:sp>
        <p:nvSpPr>
          <p:cNvPr id="44" name="!!dot-6"/>
          <p:cNvSpPr/>
          <p:nvPr/>
        </p:nvSpPr>
        <p:spPr>
          <a:xfrm>
            <a:off x="11439144" y="6400800"/>
            <a:ext cx="100584" cy="100584"/>
          </a:xfrm>
          <a:prstGeom prst="ellipse">
            <a:avLst/>
          </a:prstGeom>
          <a:solidFill>
            <a:srgbClr val="3A4A7A"/>
          </a:solidFill>
          <a:ln w="12700">
            <a:solidFill>
              <a:srgbClr val="3A4A7A"/>
            </a:solidFill>
            <a:prstDash val="solid"/>
          </a:ln>
        </p:spPr>
      </p:sp>
      <p:sp>
        <p:nvSpPr>
          <p:cNvPr id="45" name="!!dot-7"/>
          <p:cNvSpPr/>
          <p:nvPr/>
        </p:nvSpPr>
        <p:spPr>
          <a:xfrm>
            <a:off x="11676888" y="6400800"/>
            <a:ext cx="100584" cy="100584"/>
          </a:xfrm>
          <a:prstGeom prst="ellipse">
            <a:avLst/>
          </a:prstGeom>
          <a:solidFill>
            <a:srgbClr val="3A4A7A"/>
          </a:solidFill>
          <a:ln w="12700">
            <a:solidFill>
              <a:srgbClr val="3A4A7A"/>
            </a:solidFill>
            <a:prstDash val="solid"/>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5F3"/>
        </a:solidFill>
      </p:bgPr>
    </p:bg>
    <p:spTree>
      <p:nvGrpSpPr>
        <p:cNvPr id="1" name=""/>
        <p:cNvGrpSpPr/>
        <p:nvPr/>
      </p:nvGrpSpPr>
      <p:grpSpPr>
        <a:xfrm>
          <a:off x="0" y="0"/>
          <a:ext cx="0" cy="0"/>
          <a:chOff x="0" y="0"/>
          <a:chExt cx="0" cy="0"/>
        </a:xfrm>
      </p:grpSpPr>
      <p:sp>
        <p:nvSpPr>
          <p:cNvPr id="2" name="!!panel"/>
          <p:cNvSpPr/>
          <p:nvPr/>
        </p:nvSpPr>
        <p:spPr>
          <a:xfrm>
            <a:off x="7635240" y="411480"/>
            <a:ext cx="4160520" cy="5760720"/>
          </a:xfrm>
          <a:prstGeom prst="roundRect">
            <a:avLst>
              <a:gd name="adj" fmla="val 6593"/>
            </a:avLst>
          </a:prstGeom>
          <a:solidFill>
            <a:srgbClr val="1C3EA6"/>
          </a:solidFill>
          <a:ln w="12700">
            <a:solidFill>
              <a:srgbClr val="1C3EA6"/>
            </a:solidFill>
            <a:prstDash val="solid"/>
          </a:ln>
        </p:spPr>
      </p:sp>
      <p:sp>
        <p:nvSpPr>
          <p:cNvPr id="3" name="!!ray-0"/>
          <p:cNvSpPr/>
          <p:nvPr/>
        </p:nvSpPr>
        <p:spPr>
          <a:xfrm>
            <a:off x="10229393" y="1234440"/>
            <a:ext cx="268834" cy="914"/>
          </a:xfrm>
          <a:prstGeom prst="line">
            <a:avLst/>
          </a:prstGeom>
          <a:noFill/>
          <a:ln w="19050">
            <a:solidFill>
              <a:srgbClr val="F2A40E"/>
            </a:solidFill>
            <a:prstDash val="solid"/>
          </a:ln>
        </p:spPr>
      </p:sp>
      <p:sp>
        <p:nvSpPr>
          <p:cNvPr id="4" name="!!ray-1"/>
          <p:cNvSpPr/>
          <p:nvPr/>
        </p:nvSpPr>
        <p:spPr>
          <a:xfrm>
            <a:off x="10159932" y="1493672"/>
            <a:ext cx="232817" cy="134417"/>
          </a:xfrm>
          <a:prstGeom prst="line">
            <a:avLst/>
          </a:prstGeom>
          <a:noFill/>
          <a:ln w="19050">
            <a:solidFill>
              <a:srgbClr val="F2A40E">
                <a:alpha val="55000"/>
              </a:srgbClr>
            </a:solidFill>
            <a:prstDash val="solid"/>
          </a:ln>
        </p:spPr>
      </p:sp>
      <p:sp>
        <p:nvSpPr>
          <p:cNvPr id="5" name="!!ray-2"/>
          <p:cNvSpPr/>
          <p:nvPr/>
        </p:nvSpPr>
        <p:spPr>
          <a:xfrm>
            <a:off x="9970160" y="1683444"/>
            <a:ext cx="134417" cy="232817"/>
          </a:xfrm>
          <a:prstGeom prst="line">
            <a:avLst/>
          </a:prstGeom>
          <a:noFill/>
          <a:ln w="19050">
            <a:solidFill>
              <a:srgbClr val="F2A40E"/>
            </a:solidFill>
            <a:prstDash val="solid"/>
          </a:ln>
        </p:spPr>
      </p:sp>
      <p:sp>
        <p:nvSpPr>
          <p:cNvPr id="6" name="!!ray-3"/>
          <p:cNvSpPr/>
          <p:nvPr/>
        </p:nvSpPr>
        <p:spPr>
          <a:xfrm>
            <a:off x="9710928" y="1752905"/>
            <a:ext cx="914" cy="268834"/>
          </a:xfrm>
          <a:prstGeom prst="line">
            <a:avLst/>
          </a:prstGeom>
          <a:noFill/>
          <a:ln w="19050">
            <a:solidFill>
              <a:srgbClr val="F2A40E">
                <a:alpha val="55000"/>
              </a:srgbClr>
            </a:solidFill>
            <a:prstDash val="solid"/>
          </a:ln>
        </p:spPr>
      </p:sp>
      <p:sp>
        <p:nvSpPr>
          <p:cNvPr id="7" name="!!ray-4"/>
          <p:cNvSpPr/>
          <p:nvPr/>
        </p:nvSpPr>
        <p:spPr>
          <a:xfrm flipH="1">
            <a:off x="9317279" y="1683444"/>
            <a:ext cx="134417" cy="232817"/>
          </a:xfrm>
          <a:prstGeom prst="line">
            <a:avLst/>
          </a:prstGeom>
          <a:noFill/>
          <a:ln w="19050">
            <a:solidFill>
              <a:srgbClr val="F2A40E"/>
            </a:solidFill>
            <a:prstDash val="solid"/>
          </a:ln>
        </p:spPr>
      </p:sp>
      <p:sp>
        <p:nvSpPr>
          <p:cNvPr id="8" name="!!ray-5"/>
          <p:cNvSpPr/>
          <p:nvPr/>
        </p:nvSpPr>
        <p:spPr>
          <a:xfrm flipH="1">
            <a:off x="9029108" y="1493672"/>
            <a:ext cx="232817" cy="134417"/>
          </a:xfrm>
          <a:prstGeom prst="line">
            <a:avLst/>
          </a:prstGeom>
          <a:noFill/>
          <a:ln w="19050">
            <a:solidFill>
              <a:srgbClr val="F2A40E">
                <a:alpha val="55000"/>
              </a:srgbClr>
            </a:solidFill>
            <a:prstDash val="solid"/>
          </a:ln>
        </p:spPr>
      </p:sp>
      <p:sp>
        <p:nvSpPr>
          <p:cNvPr id="9" name="!!ray-6"/>
          <p:cNvSpPr/>
          <p:nvPr/>
        </p:nvSpPr>
        <p:spPr>
          <a:xfrm flipH="1">
            <a:off x="8923630" y="1234440"/>
            <a:ext cx="268834" cy="914"/>
          </a:xfrm>
          <a:prstGeom prst="line">
            <a:avLst/>
          </a:prstGeom>
          <a:noFill/>
          <a:ln w="19050">
            <a:solidFill>
              <a:srgbClr val="F2A40E"/>
            </a:solidFill>
            <a:prstDash val="solid"/>
          </a:ln>
        </p:spPr>
      </p:sp>
      <p:sp>
        <p:nvSpPr>
          <p:cNvPr id="10" name="!!ray-7"/>
          <p:cNvSpPr/>
          <p:nvPr/>
        </p:nvSpPr>
        <p:spPr>
          <a:xfrm flipH="1" flipV="1">
            <a:off x="9029108" y="840791"/>
            <a:ext cx="232817" cy="134417"/>
          </a:xfrm>
          <a:prstGeom prst="line">
            <a:avLst/>
          </a:prstGeom>
          <a:noFill/>
          <a:ln w="19050">
            <a:solidFill>
              <a:srgbClr val="F2A40E">
                <a:alpha val="55000"/>
              </a:srgbClr>
            </a:solidFill>
            <a:prstDash val="solid"/>
          </a:ln>
        </p:spPr>
      </p:sp>
      <p:sp>
        <p:nvSpPr>
          <p:cNvPr id="11" name="!!ray-8"/>
          <p:cNvSpPr/>
          <p:nvPr/>
        </p:nvSpPr>
        <p:spPr>
          <a:xfrm flipH="1" flipV="1">
            <a:off x="9317279" y="552620"/>
            <a:ext cx="134417" cy="232817"/>
          </a:xfrm>
          <a:prstGeom prst="line">
            <a:avLst/>
          </a:prstGeom>
          <a:noFill/>
          <a:ln w="19050">
            <a:solidFill>
              <a:srgbClr val="F2A40E"/>
            </a:solidFill>
            <a:prstDash val="solid"/>
          </a:ln>
        </p:spPr>
      </p:sp>
      <p:sp>
        <p:nvSpPr>
          <p:cNvPr id="12" name="!!ray-9"/>
          <p:cNvSpPr/>
          <p:nvPr/>
        </p:nvSpPr>
        <p:spPr>
          <a:xfrm flipH="1" flipV="1">
            <a:off x="9710928" y="447142"/>
            <a:ext cx="914" cy="268834"/>
          </a:xfrm>
          <a:prstGeom prst="line">
            <a:avLst/>
          </a:prstGeom>
          <a:noFill/>
          <a:ln w="19050">
            <a:solidFill>
              <a:srgbClr val="F2A40E">
                <a:alpha val="55000"/>
              </a:srgbClr>
            </a:solidFill>
            <a:prstDash val="solid"/>
          </a:ln>
        </p:spPr>
      </p:sp>
      <p:sp>
        <p:nvSpPr>
          <p:cNvPr id="13" name="!!ray-10"/>
          <p:cNvSpPr/>
          <p:nvPr/>
        </p:nvSpPr>
        <p:spPr>
          <a:xfrm flipV="1">
            <a:off x="9970160" y="552620"/>
            <a:ext cx="134417" cy="232817"/>
          </a:xfrm>
          <a:prstGeom prst="line">
            <a:avLst/>
          </a:prstGeom>
          <a:noFill/>
          <a:ln w="19050">
            <a:solidFill>
              <a:srgbClr val="F2A40E"/>
            </a:solidFill>
            <a:prstDash val="solid"/>
          </a:ln>
        </p:spPr>
      </p:sp>
      <p:sp>
        <p:nvSpPr>
          <p:cNvPr id="14" name="!!ray-11"/>
          <p:cNvSpPr/>
          <p:nvPr/>
        </p:nvSpPr>
        <p:spPr>
          <a:xfrm flipV="1">
            <a:off x="10159932" y="840791"/>
            <a:ext cx="232817" cy="134417"/>
          </a:xfrm>
          <a:prstGeom prst="line">
            <a:avLst/>
          </a:prstGeom>
          <a:noFill/>
          <a:ln w="19050">
            <a:solidFill>
              <a:srgbClr val="F2A40E">
                <a:alpha val="55000"/>
              </a:srgbClr>
            </a:solidFill>
            <a:prstDash val="solid"/>
          </a:ln>
        </p:spPr>
      </p:sp>
      <p:sp>
        <p:nvSpPr>
          <p:cNvPr id="15" name="!!ring"/>
          <p:cNvSpPr/>
          <p:nvPr/>
        </p:nvSpPr>
        <p:spPr>
          <a:xfrm>
            <a:off x="9326880" y="850392"/>
            <a:ext cx="768096" cy="768096"/>
          </a:xfrm>
          <a:prstGeom prst="ellipse">
            <a:avLst/>
          </a:prstGeom>
          <a:solidFill>
            <a:srgbClr val="1C3EA6"/>
          </a:solidFill>
          <a:ln w="12700">
            <a:solidFill>
              <a:srgbClr val="FFFFFF"/>
            </a:solidFill>
            <a:prstDash val="solid"/>
          </a:ln>
        </p:spPr>
      </p:sp>
      <p:sp>
        <p:nvSpPr>
          <p:cNvPr id="16" name="!!flame"/>
          <p:cNvSpPr/>
          <p:nvPr/>
        </p:nvSpPr>
        <p:spPr>
          <a:xfrm>
            <a:off x="9549628" y="1073140"/>
            <a:ext cx="322600" cy="322600"/>
          </a:xfrm>
          <a:prstGeom prst="ellipse">
            <a:avLst/>
          </a:prstGeom>
          <a:solidFill>
            <a:srgbClr val="F2A40E"/>
          </a:solidFill>
          <a:ln w="12700">
            <a:solidFill>
              <a:srgbClr val="F2A40E"/>
            </a:solidFill>
            <a:prstDash val="solid"/>
          </a:ln>
        </p:spPr>
      </p:sp>
      <p:sp>
        <p:nvSpPr>
          <p:cNvPr id="17" name="!!kicker"/>
          <p:cNvSpPr txBox="1"/>
          <p:nvPr/>
        </p:nvSpPr>
        <p:spPr>
          <a:xfrm>
            <a:off x="731520" y="548640"/>
            <a:ext cx="6400800" cy="320040"/>
          </a:xfrm>
          <a:prstGeom prst="rect">
            <a:avLst/>
          </a:prstGeom>
          <a:noFill/>
          <a:ln/>
        </p:spPr>
        <p:txBody>
          <a:bodyPr wrap="square" lIns="0" tIns="0" rIns="0" bIns="0" rtlCol="0" anchor="ctr"/>
          <a:lstStyle/>
          <a:p>
            <a:pPr indent="0" marL="0">
              <a:buNone/>
            </a:pPr>
            <a:r>
              <a:rPr lang="en-US" sz="1300" b="1" spc="300" kern="0" dirty="0">
                <a:solidFill>
                  <a:srgbClr val="0B8F8F"/>
                </a:solidFill>
                <a:latin typeface="Calibri" pitchFamily="34" charset="0"/>
                <a:ea typeface="Calibri" pitchFamily="34" charset="-122"/>
                <a:cs typeface="Calibri" pitchFamily="34" charset="-120"/>
              </a:rPr>
              <a:t>04 · WHY YOU CAN TRUST IT</a:t>
            </a:r>
            <a:endParaRPr lang="en-US" sz="1300" dirty="0"/>
          </a:p>
        </p:txBody>
      </p:sp>
      <p:sp>
        <p:nvSpPr>
          <p:cNvPr id="18" name="!!title"/>
          <p:cNvSpPr txBox="1"/>
          <p:nvPr/>
        </p:nvSpPr>
        <p:spPr>
          <a:xfrm>
            <a:off x="731520" y="896112"/>
            <a:ext cx="6583680" cy="1097280"/>
          </a:xfrm>
          <a:prstGeom prst="rect">
            <a:avLst/>
          </a:prstGeom>
          <a:noFill/>
          <a:ln/>
        </p:spPr>
        <p:txBody>
          <a:bodyPr wrap="square" lIns="0" tIns="0" rIns="0" bIns="0" rtlCol="0" anchor="t"/>
          <a:lstStyle/>
          <a:p>
            <a:pPr indent="0" marL="0">
              <a:buNone/>
            </a:pPr>
            <a:r>
              <a:rPr lang="en-US" sz="3000" b="1" dirty="0">
                <a:solidFill>
                  <a:srgbClr val="0D1B3E"/>
                </a:solidFill>
                <a:latin typeface="Century Gothic" pitchFamily="34" charset="0"/>
                <a:ea typeface="Century Gothic" pitchFamily="34" charset="-122"/>
                <a:cs typeface="Century Gothic" pitchFamily="34" charset="-120"/>
              </a:rPr>
              <a:t>Fact Guard: a second AI checks the first</a:t>
            </a:r>
            <a:endParaRPr lang="en-US" sz="3000" dirty="0"/>
          </a:p>
        </p:txBody>
      </p:sp>
      <p:sp>
        <p:nvSpPr>
          <p:cNvPr id="19" name="chk-dot-0"/>
          <p:cNvSpPr/>
          <p:nvPr/>
        </p:nvSpPr>
        <p:spPr>
          <a:xfrm>
            <a:off x="731520" y="2240280"/>
            <a:ext cx="658368" cy="658368"/>
          </a:xfrm>
          <a:prstGeom prst="ellipse">
            <a:avLst/>
          </a:prstGeom>
          <a:solidFill>
            <a:srgbClr val="E7EEF9"/>
          </a:solidFill>
          <a:ln w="12700">
            <a:solidFill>
              <a:srgbClr val="E7EEF9"/>
            </a:solidFill>
            <a:prstDash val="solid"/>
          </a:ln>
        </p:spPr>
      </p:sp>
      <p:pic>
        <p:nvPicPr>
          <p:cNvPr id="20" name="chk-icon-0" descr="preencoded.png">    </p:cNvPr>
          <p:cNvPicPr>
            <a:picLocks noChangeAspect="1"/>
          </p:cNvPicPr>
          <p:nvPr/>
        </p:nvPicPr>
        <p:blipFill>
          <a:blip r:embed="rId1"/>
          <a:stretch>
            <a:fillRect/>
          </a:stretch>
        </p:blipFill>
        <p:spPr>
          <a:xfrm>
            <a:off x="896112" y="2404872"/>
            <a:ext cx="329184" cy="329184"/>
          </a:xfrm>
          <a:prstGeom prst="rect">
            <a:avLst/>
          </a:prstGeom>
        </p:spPr>
      </p:pic>
      <p:sp>
        <p:nvSpPr>
          <p:cNvPr id="21" name="chk-t-0"/>
          <p:cNvSpPr txBox="1"/>
          <p:nvPr/>
        </p:nvSpPr>
        <p:spPr>
          <a:xfrm>
            <a:off x="1600200" y="2221992"/>
            <a:ext cx="5669280" cy="365760"/>
          </a:xfrm>
          <a:prstGeom prst="rect">
            <a:avLst/>
          </a:prstGeom>
          <a:noFill/>
          <a:ln/>
        </p:spPr>
        <p:txBody>
          <a:bodyPr wrap="square" lIns="0" tIns="0" rIns="0" bIns="0" rtlCol="0" anchor="ctr"/>
          <a:lstStyle/>
          <a:p>
            <a:pPr indent="0" marL="0">
              <a:buNone/>
            </a:pPr>
            <a:r>
              <a:rPr lang="en-US" sz="1800" b="1" dirty="0">
                <a:solidFill>
                  <a:srgbClr val="0D1B3E"/>
                </a:solidFill>
                <a:latin typeface="Century Gothic" pitchFamily="34" charset="0"/>
                <a:ea typeface="Century Gothic" pitchFamily="34" charset="-122"/>
                <a:cs typeface="Century Gothic" pitchFamily="34" charset="-120"/>
              </a:rPr>
              <a:t>A different AI family checks</a:t>
            </a:r>
            <a:endParaRPr lang="en-US" sz="1800" dirty="0"/>
          </a:p>
        </p:txBody>
      </p:sp>
      <p:sp>
        <p:nvSpPr>
          <p:cNvPr id="22" name="chk-d-0"/>
          <p:cNvSpPr txBox="1"/>
          <p:nvPr/>
        </p:nvSpPr>
        <p:spPr>
          <a:xfrm>
            <a:off x="1600200" y="2587752"/>
            <a:ext cx="5669280" cy="457200"/>
          </a:xfrm>
          <a:prstGeom prst="rect">
            <a:avLst/>
          </a:prstGeom>
          <a:noFill/>
          <a:ln/>
        </p:spPr>
        <p:txBody>
          <a:bodyPr wrap="square" lIns="0" tIns="0" rIns="0" bIns="0" rtlCol="0" anchor="t"/>
          <a:lstStyle/>
          <a:p>
            <a:pPr indent="0" marL="0">
              <a:buNone/>
            </a:pPr>
            <a:r>
              <a:rPr lang="en-US" sz="1400" dirty="0">
                <a:solidFill>
                  <a:srgbClr val="4A5875"/>
                </a:solidFill>
                <a:latin typeface="Calibri" pitchFamily="34" charset="0"/>
                <a:ea typeface="Calibri" pitchFamily="34" charset="-122"/>
                <a:cs typeface="Calibri" pitchFamily="34" charset="-120"/>
              </a:rPr>
              <a:t>It can’t simply agree with the model that rewrote the page.</a:t>
            </a:r>
            <a:endParaRPr lang="en-US" sz="1400" dirty="0"/>
          </a:p>
        </p:txBody>
      </p:sp>
      <p:sp>
        <p:nvSpPr>
          <p:cNvPr id="23" name="chk-dot-1"/>
          <p:cNvSpPr/>
          <p:nvPr/>
        </p:nvSpPr>
        <p:spPr>
          <a:xfrm>
            <a:off x="731520" y="3264408"/>
            <a:ext cx="658368" cy="658368"/>
          </a:xfrm>
          <a:prstGeom prst="ellipse">
            <a:avLst/>
          </a:prstGeom>
          <a:solidFill>
            <a:srgbClr val="E7EEF9"/>
          </a:solidFill>
          <a:ln w="12700">
            <a:solidFill>
              <a:srgbClr val="E7EEF9"/>
            </a:solidFill>
            <a:prstDash val="solid"/>
          </a:ln>
        </p:spPr>
      </p:sp>
      <p:pic>
        <p:nvPicPr>
          <p:cNvPr id="24" name="chk-icon-1" descr="preencoded.png">    </p:cNvPr>
          <p:cNvPicPr>
            <a:picLocks noChangeAspect="1"/>
          </p:cNvPicPr>
          <p:nvPr/>
        </p:nvPicPr>
        <p:blipFill>
          <a:blip r:embed="rId2"/>
          <a:stretch>
            <a:fillRect/>
          </a:stretch>
        </p:blipFill>
        <p:spPr>
          <a:xfrm>
            <a:off x="896112" y="3429000"/>
            <a:ext cx="329184" cy="329184"/>
          </a:xfrm>
          <a:prstGeom prst="rect">
            <a:avLst/>
          </a:prstGeom>
        </p:spPr>
      </p:pic>
      <p:sp>
        <p:nvSpPr>
          <p:cNvPr id="25" name="chk-t-1"/>
          <p:cNvSpPr txBox="1"/>
          <p:nvPr/>
        </p:nvSpPr>
        <p:spPr>
          <a:xfrm>
            <a:off x="1600200" y="3246120"/>
            <a:ext cx="5669280" cy="365760"/>
          </a:xfrm>
          <a:prstGeom prst="rect">
            <a:avLst/>
          </a:prstGeom>
          <a:noFill/>
          <a:ln/>
        </p:spPr>
        <p:txBody>
          <a:bodyPr wrap="square" lIns="0" tIns="0" rIns="0" bIns="0" rtlCol="0" anchor="ctr"/>
          <a:lstStyle/>
          <a:p>
            <a:pPr indent="0" marL="0">
              <a:buNone/>
            </a:pPr>
            <a:r>
              <a:rPr lang="en-US" sz="1800" b="1" dirty="0">
                <a:solidFill>
                  <a:srgbClr val="0D1B3E"/>
                </a:solidFill>
                <a:latin typeface="Century Gothic" pitchFamily="34" charset="0"/>
                <a:ea typeface="Century Gothic" pitchFamily="34" charset="-122"/>
                <a:cs typeface="Century Gothic" pitchFamily="34" charset="-120"/>
              </a:rPr>
              <a:t>Quote or it didn’t happen</a:t>
            </a:r>
            <a:endParaRPr lang="en-US" sz="1800" dirty="0"/>
          </a:p>
        </p:txBody>
      </p:sp>
      <p:sp>
        <p:nvSpPr>
          <p:cNvPr id="26" name="chk-d-1"/>
          <p:cNvSpPr txBox="1"/>
          <p:nvPr/>
        </p:nvSpPr>
        <p:spPr>
          <a:xfrm>
            <a:off x="1600200" y="3611880"/>
            <a:ext cx="5669280" cy="457200"/>
          </a:xfrm>
          <a:prstGeom prst="rect">
            <a:avLst/>
          </a:prstGeom>
          <a:noFill/>
          <a:ln/>
        </p:spPr>
        <p:txBody>
          <a:bodyPr wrap="square" lIns="0" tIns="0" rIns="0" bIns="0" rtlCol="0" anchor="t"/>
          <a:lstStyle/>
          <a:p>
            <a:pPr indent="0" marL="0">
              <a:buNone/>
            </a:pPr>
            <a:r>
              <a:rPr lang="en-US" sz="1400" dirty="0">
                <a:solidFill>
                  <a:srgbClr val="4A5875"/>
                </a:solidFill>
                <a:latin typeface="Calibri" pitchFamily="34" charset="0"/>
                <a:ea typeface="Calibri" pitchFamily="34" charset="-122"/>
                <a:cs typeface="Calibri" pitchFamily="34" charset="-120"/>
              </a:rPr>
              <a:t>Every kept fact must be quoted from the rewrite, and code confirms the quote.</a:t>
            </a:r>
            <a:endParaRPr lang="en-US" sz="1400" dirty="0"/>
          </a:p>
        </p:txBody>
      </p:sp>
      <p:sp>
        <p:nvSpPr>
          <p:cNvPr id="27" name="chk-dot-2"/>
          <p:cNvSpPr/>
          <p:nvPr/>
        </p:nvSpPr>
        <p:spPr>
          <a:xfrm>
            <a:off x="731520" y="4288536"/>
            <a:ext cx="658368" cy="658368"/>
          </a:xfrm>
          <a:prstGeom prst="ellipse">
            <a:avLst/>
          </a:prstGeom>
          <a:solidFill>
            <a:srgbClr val="E7EEF9"/>
          </a:solidFill>
          <a:ln w="12700">
            <a:solidFill>
              <a:srgbClr val="E7EEF9"/>
            </a:solidFill>
            <a:prstDash val="solid"/>
          </a:ln>
        </p:spPr>
      </p:sp>
      <p:pic>
        <p:nvPicPr>
          <p:cNvPr id="28" name="chk-icon-2" descr="preencoded.png">    </p:cNvPr>
          <p:cNvPicPr>
            <a:picLocks noChangeAspect="1"/>
          </p:cNvPicPr>
          <p:nvPr/>
        </p:nvPicPr>
        <p:blipFill>
          <a:blip r:embed="rId3"/>
          <a:stretch>
            <a:fillRect/>
          </a:stretch>
        </p:blipFill>
        <p:spPr>
          <a:xfrm>
            <a:off x="896112" y="4453128"/>
            <a:ext cx="329184" cy="329184"/>
          </a:xfrm>
          <a:prstGeom prst="rect">
            <a:avLst/>
          </a:prstGeom>
        </p:spPr>
      </p:pic>
      <p:sp>
        <p:nvSpPr>
          <p:cNvPr id="29" name="chk-t-2"/>
          <p:cNvSpPr txBox="1"/>
          <p:nvPr/>
        </p:nvSpPr>
        <p:spPr>
          <a:xfrm>
            <a:off x="1600200" y="4270248"/>
            <a:ext cx="5669280" cy="365760"/>
          </a:xfrm>
          <a:prstGeom prst="rect">
            <a:avLst/>
          </a:prstGeom>
          <a:noFill/>
          <a:ln/>
        </p:spPr>
        <p:txBody>
          <a:bodyPr wrap="square" lIns="0" tIns="0" rIns="0" bIns="0" rtlCol="0" anchor="ctr"/>
          <a:lstStyle/>
          <a:p>
            <a:pPr indent="0" marL="0">
              <a:buNone/>
            </a:pPr>
            <a:r>
              <a:rPr lang="en-US" sz="1800" b="1" dirty="0">
                <a:solidFill>
                  <a:srgbClr val="0D1B3E"/>
                </a:solidFill>
                <a:latin typeface="Century Gothic" pitchFamily="34" charset="0"/>
                <a:ea typeface="Century Gothic" pitchFamily="34" charset="-122"/>
                <a:cs typeface="Century Gothic" pitchFamily="34" charset="-120"/>
              </a:rPr>
              <a:t>Numbers checked by plain code</a:t>
            </a:r>
            <a:endParaRPr lang="en-US" sz="1800" dirty="0"/>
          </a:p>
        </p:txBody>
      </p:sp>
      <p:sp>
        <p:nvSpPr>
          <p:cNvPr id="30" name="chk-d-2"/>
          <p:cNvSpPr txBox="1"/>
          <p:nvPr/>
        </p:nvSpPr>
        <p:spPr>
          <a:xfrm>
            <a:off x="1600200" y="4636008"/>
            <a:ext cx="5669280" cy="457200"/>
          </a:xfrm>
          <a:prstGeom prst="rect">
            <a:avLst/>
          </a:prstGeom>
          <a:noFill/>
          <a:ln/>
        </p:spPr>
        <p:txBody>
          <a:bodyPr wrap="square" lIns="0" tIns="0" rIns="0" bIns="0" rtlCol="0" anchor="t"/>
          <a:lstStyle/>
          <a:p>
            <a:pPr indent="0" marL="0">
              <a:buNone/>
            </a:pPr>
            <a:r>
              <a:rPr lang="en-US" sz="1400" dirty="0">
                <a:solidFill>
                  <a:srgbClr val="4A5875"/>
                </a:solidFill>
                <a:latin typeface="Calibri" pitchFamily="34" charset="0"/>
                <a:ea typeface="Calibri" pitchFamily="34" charset="-122"/>
                <a:cs typeface="Calibri" pitchFamily="34" charset="-120"/>
              </a:rPr>
              <a:t>“50 min” can never quietly become “100 min”.</a:t>
            </a:r>
            <a:endParaRPr lang="en-US" sz="1400" dirty="0"/>
          </a:p>
        </p:txBody>
      </p:sp>
      <p:sp>
        <p:nvSpPr>
          <p:cNvPr id="31" name="chk-dot-3"/>
          <p:cNvSpPr/>
          <p:nvPr/>
        </p:nvSpPr>
        <p:spPr>
          <a:xfrm>
            <a:off x="731520" y="5312664"/>
            <a:ext cx="658368" cy="658368"/>
          </a:xfrm>
          <a:prstGeom prst="ellipse">
            <a:avLst/>
          </a:prstGeom>
          <a:solidFill>
            <a:srgbClr val="E7EEF9"/>
          </a:solidFill>
          <a:ln w="12700">
            <a:solidFill>
              <a:srgbClr val="E7EEF9"/>
            </a:solidFill>
            <a:prstDash val="solid"/>
          </a:ln>
        </p:spPr>
      </p:sp>
      <p:pic>
        <p:nvPicPr>
          <p:cNvPr id="32" name="chk-icon-3" descr="preencoded.png">    </p:cNvPr>
          <p:cNvPicPr>
            <a:picLocks noChangeAspect="1"/>
          </p:cNvPicPr>
          <p:nvPr/>
        </p:nvPicPr>
        <p:blipFill>
          <a:blip r:embed="rId4"/>
          <a:stretch>
            <a:fillRect/>
          </a:stretch>
        </p:blipFill>
        <p:spPr>
          <a:xfrm>
            <a:off x="896112" y="5477256"/>
            <a:ext cx="329184" cy="329184"/>
          </a:xfrm>
          <a:prstGeom prst="rect">
            <a:avLst/>
          </a:prstGeom>
        </p:spPr>
      </p:pic>
      <p:sp>
        <p:nvSpPr>
          <p:cNvPr id="33" name="chk-t-3"/>
          <p:cNvSpPr txBox="1"/>
          <p:nvPr/>
        </p:nvSpPr>
        <p:spPr>
          <a:xfrm>
            <a:off x="1600200" y="5294376"/>
            <a:ext cx="5669280" cy="365760"/>
          </a:xfrm>
          <a:prstGeom prst="rect">
            <a:avLst/>
          </a:prstGeom>
          <a:noFill/>
          <a:ln/>
        </p:spPr>
        <p:txBody>
          <a:bodyPr wrap="square" lIns="0" tIns="0" rIns="0" bIns="0" rtlCol="0" anchor="ctr"/>
          <a:lstStyle/>
          <a:p>
            <a:pPr indent="0" marL="0">
              <a:buNone/>
            </a:pPr>
            <a:r>
              <a:rPr lang="en-US" sz="1800" b="1" dirty="0">
                <a:solidFill>
                  <a:srgbClr val="0D1B3E"/>
                </a:solidFill>
                <a:latin typeface="Century Gothic" pitchFamily="34" charset="0"/>
                <a:ea typeface="Century Gothic" pitchFamily="34" charset="-122"/>
                <a:cs typeface="Century Gothic" pitchFamily="34" charset="-120"/>
              </a:rPr>
              <a:t>Repair, then re-check</a:t>
            </a:r>
            <a:endParaRPr lang="en-US" sz="1800" dirty="0"/>
          </a:p>
        </p:txBody>
      </p:sp>
      <p:sp>
        <p:nvSpPr>
          <p:cNvPr id="34" name="chk-d-3"/>
          <p:cNvSpPr txBox="1"/>
          <p:nvPr/>
        </p:nvSpPr>
        <p:spPr>
          <a:xfrm>
            <a:off x="1600200" y="5660136"/>
            <a:ext cx="5669280" cy="457200"/>
          </a:xfrm>
          <a:prstGeom prst="rect">
            <a:avLst/>
          </a:prstGeom>
          <a:noFill/>
          <a:ln/>
        </p:spPr>
        <p:txBody>
          <a:bodyPr wrap="square" lIns="0" tIns="0" rIns="0" bIns="0" rtlCol="0" anchor="t"/>
          <a:lstStyle/>
          <a:p>
            <a:pPr indent="0" marL="0">
              <a:buNone/>
            </a:pPr>
            <a:r>
              <a:rPr lang="en-US" sz="1400" dirty="0">
                <a:solidFill>
                  <a:srgbClr val="4A5875"/>
                </a:solidFill>
                <a:latin typeface="Calibri" pitchFamily="34" charset="0"/>
                <a:ea typeface="Calibri" pitchFamily="34" charset="-122"/>
                <a:cs typeface="Calibri" pitchFamily="34" charset="-120"/>
              </a:rPr>
              <a:t>Only flagged sentences are rewritten. Also used for lecture summaries and video notes.</a:t>
            </a:r>
            <a:endParaRPr lang="en-US" sz="1400" dirty="0"/>
          </a:p>
        </p:txBody>
      </p:sp>
      <p:sp>
        <p:nvSpPr>
          <p:cNvPr id="35" name="st-label"/>
          <p:cNvSpPr txBox="1"/>
          <p:nvPr/>
        </p:nvSpPr>
        <p:spPr>
          <a:xfrm>
            <a:off x="8046720" y="2103120"/>
            <a:ext cx="3383280" cy="320040"/>
          </a:xfrm>
          <a:prstGeom prst="rect">
            <a:avLst/>
          </a:prstGeom>
          <a:noFill/>
          <a:ln/>
        </p:spPr>
        <p:txBody>
          <a:bodyPr wrap="square" lIns="0" tIns="0" rIns="0" bIns="0" rtlCol="0" anchor="ctr"/>
          <a:lstStyle/>
          <a:p>
            <a:pPr indent="0" marL="0">
              <a:buNone/>
            </a:pPr>
            <a:r>
              <a:rPr lang="en-US" sz="1300" b="1" spc="300" kern="0" dirty="0">
                <a:solidFill>
                  <a:srgbClr val="F2A40E"/>
                </a:solidFill>
                <a:latin typeface="Calibri" pitchFamily="34" charset="0"/>
                <a:ea typeface="Calibri" pitchFamily="34" charset="-122"/>
                <a:cs typeface="Calibri" pitchFamily="34" charset="-120"/>
              </a:rPr>
              <a:t>STRESS TEST</a:t>
            </a:r>
            <a:endParaRPr lang="en-US" sz="1300" dirty="0"/>
          </a:p>
        </p:txBody>
      </p:sp>
      <p:sp>
        <p:nvSpPr>
          <p:cNvPr id="36" name="!!stat-a"/>
          <p:cNvSpPr txBox="1"/>
          <p:nvPr/>
        </p:nvSpPr>
        <p:spPr>
          <a:xfrm>
            <a:off x="8046720" y="2423160"/>
            <a:ext cx="3474720" cy="1097280"/>
          </a:xfrm>
          <a:prstGeom prst="rect">
            <a:avLst/>
          </a:prstGeom>
          <a:noFill/>
          <a:ln/>
        </p:spPr>
        <p:txBody>
          <a:bodyPr wrap="square" lIns="0" tIns="0" rIns="0" bIns="0" rtlCol="0" anchor="ctr"/>
          <a:lstStyle/>
          <a:p>
            <a:pPr indent="0" marL="0">
              <a:buNone/>
            </a:pPr>
            <a:r>
              <a:rPr lang="en-US" sz="6800" b="1" dirty="0">
                <a:solidFill>
                  <a:srgbClr val="FFFFFF"/>
                </a:solidFill>
                <a:latin typeface="Century Gothic" pitchFamily="34" charset="0"/>
                <a:ea typeface="Century Gothic" pitchFamily="34" charset="-122"/>
                <a:cs typeface="Century Gothic" pitchFamily="34" charset="-120"/>
              </a:rPr>
              <a:t>28/28</a:t>
            </a:r>
            <a:endParaRPr lang="en-US" sz="6800" dirty="0"/>
          </a:p>
        </p:txBody>
      </p:sp>
      <p:sp>
        <p:nvSpPr>
          <p:cNvPr id="37" name="!!stat-a-label"/>
          <p:cNvSpPr txBox="1"/>
          <p:nvPr/>
        </p:nvSpPr>
        <p:spPr>
          <a:xfrm>
            <a:off x="8046720" y="3566160"/>
            <a:ext cx="3429000" cy="822960"/>
          </a:xfrm>
          <a:prstGeom prst="rect">
            <a:avLst/>
          </a:prstGeom>
          <a:noFill/>
          <a:ln/>
        </p:spPr>
        <p:txBody>
          <a:bodyPr wrap="square" lIns="0" tIns="0" rIns="0" bIns="0" rtlCol="0" anchor="t"/>
          <a:lstStyle/>
          <a:p>
            <a:pPr indent="0" marL="0">
              <a:buNone/>
            </a:pPr>
            <a:r>
              <a:rPr lang="en-US" sz="1500" dirty="0">
                <a:solidFill>
                  <a:srgbClr val="DCE4FA"/>
                </a:solidFill>
                <a:latin typeface="Calibri" pitchFamily="34" charset="0"/>
                <a:ea typeface="Calibri" pitchFamily="34" charset="-122"/>
                <a:cs typeface="Calibri" pitchFamily="34" charset="-120"/>
              </a:rPr>
              <a:t>planted errors caught: changed numbers, deleted facts, invented claims</a:t>
            </a:r>
            <a:endParaRPr lang="en-US" sz="1500" dirty="0"/>
          </a:p>
        </p:txBody>
      </p:sp>
      <p:sp>
        <p:nvSpPr>
          <p:cNvPr id="38" name="!!stat-b"/>
          <p:cNvSpPr txBox="1"/>
          <p:nvPr/>
        </p:nvSpPr>
        <p:spPr>
          <a:xfrm>
            <a:off x="8046720" y="4526280"/>
            <a:ext cx="3474720" cy="731520"/>
          </a:xfrm>
          <a:prstGeom prst="rect">
            <a:avLst/>
          </a:prstGeom>
          <a:noFill/>
          <a:ln/>
        </p:spPr>
        <p:txBody>
          <a:bodyPr wrap="square" lIns="0" tIns="0" rIns="0" bIns="0" rtlCol="0" anchor="ctr"/>
          <a:lstStyle/>
          <a:p>
            <a:pPr indent="0" marL="0">
              <a:buNone/>
            </a:pPr>
            <a:r>
              <a:rPr lang="en-US" sz="4000" b="1" dirty="0">
                <a:solidFill>
                  <a:srgbClr val="F2A40E"/>
                </a:solidFill>
                <a:latin typeface="Century Gothic" pitchFamily="34" charset="0"/>
                <a:ea typeface="Century Gothic" pitchFamily="34" charset="-122"/>
                <a:cs typeface="Century Gothic" pitchFamily="34" charset="-120"/>
              </a:rPr>
              <a:t>0/142</a:t>
            </a:r>
            <a:endParaRPr lang="en-US" sz="4000" dirty="0"/>
          </a:p>
        </p:txBody>
      </p:sp>
      <p:sp>
        <p:nvSpPr>
          <p:cNvPr id="39" name="!!stat-b-label"/>
          <p:cNvSpPr txBox="1"/>
          <p:nvPr/>
        </p:nvSpPr>
        <p:spPr>
          <a:xfrm>
            <a:off x="8046720" y="5257800"/>
            <a:ext cx="3429000" cy="457200"/>
          </a:xfrm>
          <a:prstGeom prst="rect">
            <a:avLst/>
          </a:prstGeom>
          <a:noFill/>
          <a:ln/>
        </p:spPr>
        <p:txBody>
          <a:bodyPr wrap="square" lIns="0" tIns="0" rIns="0" bIns="0" rtlCol="0" anchor="ctr"/>
          <a:lstStyle/>
          <a:p>
            <a:pPr indent="0" marL="0">
              <a:buNone/>
            </a:pPr>
            <a:r>
              <a:rPr lang="en-US" sz="1500" dirty="0">
                <a:solidFill>
                  <a:srgbClr val="DCE4FA"/>
                </a:solidFill>
                <a:latin typeface="Calibri" pitchFamily="34" charset="0"/>
                <a:ea typeface="Calibri" pitchFamily="34" charset="-122"/>
                <a:cs typeface="Calibri" pitchFamily="34" charset="-120"/>
              </a:rPr>
              <a:t>false alarms on unchanged facts</a:t>
            </a:r>
            <a:endParaRPr lang="en-US" sz="1500" dirty="0"/>
          </a:p>
        </p:txBody>
      </p:sp>
      <p:sp>
        <p:nvSpPr>
          <p:cNvPr id="40" name="!!dot-0"/>
          <p:cNvSpPr/>
          <p:nvPr/>
        </p:nvSpPr>
        <p:spPr>
          <a:xfrm>
            <a:off x="10012680" y="6400800"/>
            <a:ext cx="100584" cy="100584"/>
          </a:xfrm>
          <a:prstGeom prst="ellipse">
            <a:avLst/>
          </a:prstGeom>
          <a:solidFill>
            <a:srgbClr val="C3CDDD"/>
          </a:solidFill>
          <a:ln w="12700">
            <a:solidFill>
              <a:srgbClr val="C3CDDD"/>
            </a:solidFill>
            <a:prstDash val="solid"/>
          </a:ln>
        </p:spPr>
      </p:sp>
      <p:sp>
        <p:nvSpPr>
          <p:cNvPr id="41" name="!!dot-1"/>
          <p:cNvSpPr/>
          <p:nvPr/>
        </p:nvSpPr>
        <p:spPr>
          <a:xfrm>
            <a:off x="10250424" y="6400800"/>
            <a:ext cx="100584" cy="100584"/>
          </a:xfrm>
          <a:prstGeom prst="ellipse">
            <a:avLst/>
          </a:prstGeom>
          <a:solidFill>
            <a:srgbClr val="C3CDDD"/>
          </a:solidFill>
          <a:ln w="12700">
            <a:solidFill>
              <a:srgbClr val="C3CDDD"/>
            </a:solidFill>
            <a:prstDash val="solid"/>
          </a:ln>
        </p:spPr>
      </p:sp>
      <p:sp>
        <p:nvSpPr>
          <p:cNvPr id="42" name="!!dot-2"/>
          <p:cNvSpPr/>
          <p:nvPr/>
        </p:nvSpPr>
        <p:spPr>
          <a:xfrm>
            <a:off x="10488168" y="6400800"/>
            <a:ext cx="100584" cy="100584"/>
          </a:xfrm>
          <a:prstGeom prst="ellipse">
            <a:avLst/>
          </a:prstGeom>
          <a:solidFill>
            <a:srgbClr val="C3CDDD"/>
          </a:solidFill>
          <a:ln w="12700">
            <a:solidFill>
              <a:srgbClr val="C3CDDD"/>
            </a:solidFill>
            <a:prstDash val="solid"/>
          </a:ln>
        </p:spPr>
      </p:sp>
      <p:sp>
        <p:nvSpPr>
          <p:cNvPr id="43" name="!!dot-3"/>
          <p:cNvSpPr/>
          <p:nvPr/>
        </p:nvSpPr>
        <p:spPr>
          <a:xfrm>
            <a:off x="10725912" y="6400800"/>
            <a:ext cx="100584" cy="100584"/>
          </a:xfrm>
          <a:prstGeom prst="ellipse">
            <a:avLst/>
          </a:prstGeom>
          <a:solidFill>
            <a:srgbClr val="C3CDDD"/>
          </a:solidFill>
          <a:ln w="12700">
            <a:solidFill>
              <a:srgbClr val="C3CDDD"/>
            </a:solidFill>
            <a:prstDash val="solid"/>
          </a:ln>
        </p:spPr>
      </p:sp>
      <p:sp>
        <p:nvSpPr>
          <p:cNvPr id="44" name="!!dot-4"/>
          <p:cNvSpPr/>
          <p:nvPr/>
        </p:nvSpPr>
        <p:spPr>
          <a:xfrm>
            <a:off x="10963656" y="6400800"/>
            <a:ext cx="155448" cy="155448"/>
          </a:xfrm>
          <a:prstGeom prst="ellipse">
            <a:avLst/>
          </a:prstGeom>
          <a:solidFill>
            <a:srgbClr val="F2A40E"/>
          </a:solidFill>
          <a:ln w="12700">
            <a:solidFill>
              <a:srgbClr val="F2A40E"/>
            </a:solidFill>
            <a:prstDash val="solid"/>
          </a:ln>
        </p:spPr>
      </p:sp>
      <p:sp>
        <p:nvSpPr>
          <p:cNvPr id="45" name="!!dot-5"/>
          <p:cNvSpPr/>
          <p:nvPr/>
        </p:nvSpPr>
        <p:spPr>
          <a:xfrm>
            <a:off x="11201400" y="6400800"/>
            <a:ext cx="100584" cy="100584"/>
          </a:xfrm>
          <a:prstGeom prst="ellipse">
            <a:avLst/>
          </a:prstGeom>
          <a:solidFill>
            <a:srgbClr val="C3CDDD"/>
          </a:solidFill>
          <a:ln w="12700">
            <a:solidFill>
              <a:srgbClr val="C3CDDD"/>
            </a:solidFill>
            <a:prstDash val="solid"/>
          </a:ln>
        </p:spPr>
      </p:sp>
      <p:sp>
        <p:nvSpPr>
          <p:cNvPr id="46" name="!!dot-6"/>
          <p:cNvSpPr/>
          <p:nvPr/>
        </p:nvSpPr>
        <p:spPr>
          <a:xfrm>
            <a:off x="11439144" y="6400800"/>
            <a:ext cx="100584" cy="100584"/>
          </a:xfrm>
          <a:prstGeom prst="ellipse">
            <a:avLst/>
          </a:prstGeom>
          <a:solidFill>
            <a:srgbClr val="C3CDDD"/>
          </a:solidFill>
          <a:ln w="12700">
            <a:solidFill>
              <a:srgbClr val="C3CDDD"/>
            </a:solidFill>
            <a:prstDash val="solid"/>
          </a:ln>
        </p:spPr>
      </p:sp>
      <p:sp>
        <p:nvSpPr>
          <p:cNvPr id="47" name="!!dot-7"/>
          <p:cNvSpPr/>
          <p:nvPr/>
        </p:nvSpPr>
        <p:spPr>
          <a:xfrm>
            <a:off x="11676888" y="6400800"/>
            <a:ext cx="100584" cy="100584"/>
          </a:xfrm>
          <a:prstGeom prst="ellipse">
            <a:avLst/>
          </a:prstGeom>
          <a:solidFill>
            <a:srgbClr val="C3CDDD"/>
          </a:solidFill>
          <a:ln w="12700">
            <a:solidFill>
              <a:srgbClr val="C3CDDD"/>
            </a:solidFill>
            <a:prstDash val="solid"/>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5F3"/>
        </a:solidFill>
      </p:bgPr>
    </p:bg>
    <p:spTree>
      <p:nvGrpSpPr>
        <p:cNvPr id="1" name=""/>
        <p:cNvGrpSpPr/>
        <p:nvPr/>
      </p:nvGrpSpPr>
      <p:grpSpPr>
        <a:xfrm>
          <a:off x="0" y="0"/>
          <a:ext cx="0" cy="0"/>
          <a:chOff x="0" y="0"/>
          <a:chExt cx="0" cy="0"/>
        </a:xfrm>
      </p:grpSpPr>
      <p:sp>
        <p:nvSpPr>
          <p:cNvPr id="2" name="!!panel"/>
          <p:cNvSpPr/>
          <p:nvPr/>
        </p:nvSpPr>
        <p:spPr>
          <a:xfrm>
            <a:off x="6172200" y="411480"/>
            <a:ext cx="5623560" cy="5760720"/>
          </a:xfrm>
          <a:prstGeom prst="roundRect">
            <a:avLst>
              <a:gd name="adj" fmla="val 4878"/>
            </a:avLst>
          </a:prstGeom>
          <a:solidFill>
            <a:srgbClr val="1C3EA6"/>
          </a:solidFill>
          <a:ln w="12700">
            <a:solidFill>
              <a:srgbClr val="1C3EA6"/>
            </a:solidFill>
            <a:prstDash val="solid"/>
          </a:ln>
        </p:spPr>
      </p:sp>
      <p:sp>
        <p:nvSpPr>
          <p:cNvPr id="3" name="!!ray-0"/>
          <p:cNvSpPr/>
          <p:nvPr/>
        </p:nvSpPr>
        <p:spPr>
          <a:xfrm>
            <a:off x="11526012" y="960120"/>
            <a:ext cx="192024" cy="914"/>
          </a:xfrm>
          <a:prstGeom prst="line">
            <a:avLst/>
          </a:prstGeom>
          <a:noFill/>
          <a:ln w="19050">
            <a:solidFill>
              <a:srgbClr val="F2A40E"/>
            </a:solidFill>
            <a:prstDash val="solid"/>
          </a:ln>
        </p:spPr>
      </p:sp>
      <p:sp>
        <p:nvSpPr>
          <p:cNvPr id="4" name="!!ray-1"/>
          <p:cNvSpPr/>
          <p:nvPr/>
        </p:nvSpPr>
        <p:spPr>
          <a:xfrm>
            <a:off x="11476397" y="1145286"/>
            <a:ext cx="166298" cy="96012"/>
          </a:xfrm>
          <a:prstGeom prst="line">
            <a:avLst/>
          </a:prstGeom>
          <a:noFill/>
          <a:ln w="19050">
            <a:solidFill>
              <a:srgbClr val="F2A40E">
                <a:alpha val="55000"/>
              </a:srgbClr>
            </a:solidFill>
            <a:prstDash val="solid"/>
          </a:ln>
        </p:spPr>
      </p:sp>
      <p:sp>
        <p:nvSpPr>
          <p:cNvPr id="5" name="!!ray-2"/>
          <p:cNvSpPr/>
          <p:nvPr/>
        </p:nvSpPr>
        <p:spPr>
          <a:xfrm>
            <a:off x="11340846" y="1280837"/>
            <a:ext cx="96012" cy="166298"/>
          </a:xfrm>
          <a:prstGeom prst="line">
            <a:avLst/>
          </a:prstGeom>
          <a:noFill/>
          <a:ln w="19050">
            <a:solidFill>
              <a:srgbClr val="F2A40E"/>
            </a:solidFill>
            <a:prstDash val="solid"/>
          </a:ln>
        </p:spPr>
      </p:sp>
      <p:sp>
        <p:nvSpPr>
          <p:cNvPr id="6" name="!!ray-3"/>
          <p:cNvSpPr/>
          <p:nvPr/>
        </p:nvSpPr>
        <p:spPr>
          <a:xfrm>
            <a:off x="11155680" y="1330452"/>
            <a:ext cx="914" cy="192024"/>
          </a:xfrm>
          <a:prstGeom prst="line">
            <a:avLst/>
          </a:prstGeom>
          <a:noFill/>
          <a:ln w="19050">
            <a:solidFill>
              <a:srgbClr val="F2A40E">
                <a:alpha val="55000"/>
              </a:srgbClr>
            </a:solidFill>
            <a:prstDash val="solid"/>
          </a:ln>
        </p:spPr>
      </p:sp>
      <p:sp>
        <p:nvSpPr>
          <p:cNvPr id="7" name="!!ray-4"/>
          <p:cNvSpPr/>
          <p:nvPr/>
        </p:nvSpPr>
        <p:spPr>
          <a:xfrm flipH="1">
            <a:off x="10874502" y="1280837"/>
            <a:ext cx="96012" cy="166298"/>
          </a:xfrm>
          <a:prstGeom prst="line">
            <a:avLst/>
          </a:prstGeom>
          <a:noFill/>
          <a:ln w="19050">
            <a:solidFill>
              <a:srgbClr val="F2A40E"/>
            </a:solidFill>
            <a:prstDash val="solid"/>
          </a:ln>
        </p:spPr>
      </p:sp>
      <p:sp>
        <p:nvSpPr>
          <p:cNvPr id="8" name="!!ray-5"/>
          <p:cNvSpPr/>
          <p:nvPr/>
        </p:nvSpPr>
        <p:spPr>
          <a:xfrm flipH="1">
            <a:off x="10668665" y="1145286"/>
            <a:ext cx="166298" cy="96012"/>
          </a:xfrm>
          <a:prstGeom prst="line">
            <a:avLst/>
          </a:prstGeom>
          <a:noFill/>
          <a:ln w="19050">
            <a:solidFill>
              <a:srgbClr val="F2A40E">
                <a:alpha val="55000"/>
              </a:srgbClr>
            </a:solidFill>
            <a:prstDash val="solid"/>
          </a:ln>
        </p:spPr>
      </p:sp>
      <p:sp>
        <p:nvSpPr>
          <p:cNvPr id="9" name="!!ray-6"/>
          <p:cNvSpPr/>
          <p:nvPr/>
        </p:nvSpPr>
        <p:spPr>
          <a:xfrm flipH="1">
            <a:off x="10593324" y="960120"/>
            <a:ext cx="192024" cy="914"/>
          </a:xfrm>
          <a:prstGeom prst="line">
            <a:avLst/>
          </a:prstGeom>
          <a:noFill/>
          <a:ln w="19050">
            <a:solidFill>
              <a:srgbClr val="F2A40E"/>
            </a:solidFill>
            <a:prstDash val="solid"/>
          </a:ln>
        </p:spPr>
      </p:sp>
      <p:sp>
        <p:nvSpPr>
          <p:cNvPr id="10" name="!!ray-7"/>
          <p:cNvSpPr/>
          <p:nvPr/>
        </p:nvSpPr>
        <p:spPr>
          <a:xfrm flipH="1" flipV="1">
            <a:off x="10668665" y="678942"/>
            <a:ext cx="166298" cy="96012"/>
          </a:xfrm>
          <a:prstGeom prst="line">
            <a:avLst/>
          </a:prstGeom>
          <a:noFill/>
          <a:ln w="19050">
            <a:solidFill>
              <a:srgbClr val="F2A40E">
                <a:alpha val="55000"/>
              </a:srgbClr>
            </a:solidFill>
            <a:prstDash val="solid"/>
          </a:ln>
        </p:spPr>
      </p:sp>
      <p:sp>
        <p:nvSpPr>
          <p:cNvPr id="11" name="!!ray-8"/>
          <p:cNvSpPr/>
          <p:nvPr/>
        </p:nvSpPr>
        <p:spPr>
          <a:xfrm flipH="1" flipV="1">
            <a:off x="10874502" y="473105"/>
            <a:ext cx="96012" cy="166298"/>
          </a:xfrm>
          <a:prstGeom prst="line">
            <a:avLst/>
          </a:prstGeom>
          <a:noFill/>
          <a:ln w="19050">
            <a:solidFill>
              <a:srgbClr val="F2A40E"/>
            </a:solidFill>
            <a:prstDash val="solid"/>
          </a:ln>
        </p:spPr>
      </p:sp>
      <p:sp>
        <p:nvSpPr>
          <p:cNvPr id="12" name="!!ray-9"/>
          <p:cNvSpPr/>
          <p:nvPr/>
        </p:nvSpPr>
        <p:spPr>
          <a:xfrm flipH="1" flipV="1">
            <a:off x="11155680" y="397764"/>
            <a:ext cx="914" cy="192024"/>
          </a:xfrm>
          <a:prstGeom prst="line">
            <a:avLst/>
          </a:prstGeom>
          <a:noFill/>
          <a:ln w="19050">
            <a:solidFill>
              <a:srgbClr val="F2A40E">
                <a:alpha val="55000"/>
              </a:srgbClr>
            </a:solidFill>
            <a:prstDash val="solid"/>
          </a:ln>
        </p:spPr>
      </p:sp>
      <p:sp>
        <p:nvSpPr>
          <p:cNvPr id="13" name="!!ray-10"/>
          <p:cNvSpPr/>
          <p:nvPr/>
        </p:nvSpPr>
        <p:spPr>
          <a:xfrm flipV="1">
            <a:off x="11340846" y="473105"/>
            <a:ext cx="96012" cy="166298"/>
          </a:xfrm>
          <a:prstGeom prst="line">
            <a:avLst/>
          </a:prstGeom>
          <a:noFill/>
          <a:ln w="19050">
            <a:solidFill>
              <a:srgbClr val="F2A40E"/>
            </a:solidFill>
            <a:prstDash val="solid"/>
          </a:ln>
        </p:spPr>
      </p:sp>
      <p:sp>
        <p:nvSpPr>
          <p:cNvPr id="14" name="!!ray-11"/>
          <p:cNvSpPr/>
          <p:nvPr/>
        </p:nvSpPr>
        <p:spPr>
          <a:xfrm flipV="1">
            <a:off x="11476397" y="678942"/>
            <a:ext cx="166298" cy="96012"/>
          </a:xfrm>
          <a:prstGeom prst="line">
            <a:avLst/>
          </a:prstGeom>
          <a:noFill/>
          <a:ln w="19050">
            <a:solidFill>
              <a:srgbClr val="F2A40E">
                <a:alpha val="55000"/>
              </a:srgbClr>
            </a:solidFill>
            <a:prstDash val="solid"/>
          </a:ln>
        </p:spPr>
      </p:sp>
      <p:sp>
        <p:nvSpPr>
          <p:cNvPr id="15" name="!!ring"/>
          <p:cNvSpPr/>
          <p:nvPr/>
        </p:nvSpPr>
        <p:spPr>
          <a:xfrm>
            <a:off x="10881360" y="685800"/>
            <a:ext cx="548640" cy="548640"/>
          </a:xfrm>
          <a:prstGeom prst="ellipse">
            <a:avLst/>
          </a:prstGeom>
          <a:solidFill>
            <a:srgbClr val="1C3EA6"/>
          </a:solidFill>
          <a:ln w="12700">
            <a:solidFill>
              <a:srgbClr val="FFFFFF"/>
            </a:solidFill>
            <a:prstDash val="solid"/>
          </a:ln>
        </p:spPr>
      </p:sp>
      <p:sp>
        <p:nvSpPr>
          <p:cNvPr id="16" name="!!flame"/>
          <p:cNvSpPr/>
          <p:nvPr/>
        </p:nvSpPr>
        <p:spPr>
          <a:xfrm>
            <a:off x="11040466" y="844906"/>
            <a:ext cx="230429" cy="230429"/>
          </a:xfrm>
          <a:prstGeom prst="ellipse">
            <a:avLst/>
          </a:prstGeom>
          <a:solidFill>
            <a:srgbClr val="F2A40E"/>
          </a:solidFill>
          <a:ln w="12700">
            <a:solidFill>
              <a:srgbClr val="F2A40E"/>
            </a:solidFill>
            <a:prstDash val="solid"/>
          </a:ln>
        </p:spPr>
      </p:sp>
      <p:sp>
        <p:nvSpPr>
          <p:cNvPr id="17" name="!!kicker"/>
          <p:cNvSpPr txBox="1"/>
          <p:nvPr/>
        </p:nvSpPr>
        <p:spPr>
          <a:xfrm>
            <a:off x="731520" y="548640"/>
            <a:ext cx="5303520" cy="320040"/>
          </a:xfrm>
          <a:prstGeom prst="rect">
            <a:avLst/>
          </a:prstGeom>
          <a:noFill/>
          <a:ln/>
        </p:spPr>
        <p:txBody>
          <a:bodyPr wrap="square" lIns="0" tIns="0" rIns="0" bIns="0" rtlCol="0" anchor="ctr"/>
          <a:lstStyle/>
          <a:p>
            <a:pPr indent="0" marL="0">
              <a:buNone/>
            </a:pPr>
            <a:r>
              <a:rPr lang="en-US" sz="1300" b="1" spc="300" kern="0" dirty="0">
                <a:solidFill>
                  <a:srgbClr val="0B8F8F"/>
                </a:solidFill>
                <a:latin typeface="Calibri" pitchFamily="34" charset="0"/>
                <a:ea typeface="Calibri" pitchFamily="34" charset="-122"/>
                <a:cs typeface="Calibri" pitchFamily="34" charset="-120"/>
              </a:rPr>
              <a:t>05 · PERSONALIZED LEARNING</a:t>
            </a:r>
            <a:endParaRPr lang="en-US" sz="1300" dirty="0"/>
          </a:p>
        </p:txBody>
      </p:sp>
      <p:sp>
        <p:nvSpPr>
          <p:cNvPr id="18" name="!!title"/>
          <p:cNvSpPr txBox="1"/>
          <p:nvPr/>
        </p:nvSpPr>
        <p:spPr>
          <a:xfrm>
            <a:off x="731520" y="896112"/>
            <a:ext cx="5212080" cy="1097280"/>
          </a:xfrm>
          <a:prstGeom prst="rect">
            <a:avLst/>
          </a:prstGeom>
          <a:noFill/>
          <a:ln/>
        </p:spPr>
        <p:txBody>
          <a:bodyPr wrap="square" lIns="0" tIns="0" rIns="0" bIns="0" rtlCol="0" anchor="t"/>
          <a:lstStyle/>
          <a:p>
            <a:pPr indent="0" marL="0">
              <a:buNone/>
            </a:pPr>
            <a:r>
              <a:rPr lang="en-US" sz="2800" b="1" dirty="0">
                <a:solidFill>
                  <a:srgbClr val="0D1B3E"/>
                </a:solidFill>
                <a:latin typeface="Century Gothic" pitchFamily="34" charset="0"/>
                <a:ea typeface="Century Gothic" pitchFamily="34" charset="-122"/>
                <a:cs typeface="Century Gothic" pitchFamily="34" charset="-120"/>
              </a:rPr>
              <a:t>Set up for each learner, and it says why</a:t>
            </a:r>
            <a:endParaRPr lang="en-US" sz="2800" dirty="0"/>
          </a:p>
        </p:txBody>
      </p:sp>
      <p:sp>
        <p:nvSpPr>
          <p:cNvPr id="19" name="pers-dot-0"/>
          <p:cNvSpPr/>
          <p:nvPr/>
        </p:nvSpPr>
        <p:spPr>
          <a:xfrm>
            <a:off x="731520" y="2240280"/>
            <a:ext cx="640080" cy="640080"/>
          </a:xfrm>
          <a:prstGeom prst="ellipse">
            <a:avLst/>
          </a:prstGeom>
          <a:solidFill>
            <a:srgbClr val="E7EEF9"/>
          </a:solidFill>
          <a:ln w="12700">
            <a:solidFill>
              <a:srgbClr val="E7EEF9"/>
            </a:solidFill>
            <a:prstDash val="solid"/>
          </a:ln>
        </p:spPr>
      </p:sp>
      <p:pic>
        <p:nvPicPr>
          <p:cNvPr id="20" name="pers-icon-0" descr="preencoded.png">    </p:cNvPr>
          <p:cNvPicPr>
            <a:picLocks noChangeAspect="1"/>
          </p:cNvPicPr>
          <p:nvPr/>
        </p:nvPicPr>
        <p:blipFill>
          <a:blip r:embed="rId1"/>
          <a:stretch>
            <a:fillRect/>
          </a:stretch>
        </p:blipFill>
        <p:spPr>
          <a:xfrm>
            <a:off x="886968" y="2395728"/>
            <a:ext cx="329184" cy="329184"/>
          </a:xfrm>
          <a:prstGeom prst="rect">
            <a:avLst/>
          </a:prstGeom>
        </p:spPr>
      </p:pic>
      <p:sp>
        <p:nvSpPr>
          <p:cNvPr id="21" name="pers-t-0"/>
          <p:cNvSpPr txBox="1"/>
          <p:nvPr/>
        </p:nvSpPr>
        <p:spPr>
          <a:xfrm>
            <a:off x="1554480" y="2221992"/>
            <a:ext cx="4480560" cy="365760"/>
          </a:xfrm>
          <a:prstGeom prst="rect">
            <a:avLst/>
          </a:prstGeom>
          <a:noFill/>
          <a:ln/>
        </p:spPr>
        <p:txBody>
          <a:bodyPr wrap="square" lIns="0" tIns="0" rIns="0" bIns="0" rtlCol="0" anchor="ctr"/>
          <a:lstStyle/>
          <a:p>
            <a:pPr indent="0" marL="0">
              <a:buNone/>
            </a:pPr>
            <a:r>
              <a:rPr lang="en-US" sz="1700" b="1" dirty="0">
                <a:solidFill>
                  <a:srgbClr val="0D1B3E"/>
                </a:solidFill>
                <a:latin typeface="Century Gothic" pitchFamily="34" charset="0"/>
                <a:ea typeface="Century Gothic" pitchFamily="34" charset="-122"/>
                <a:cs typeface="Century Gothic" pitchFamily="34" charset="-120"/>
              </a:rPr>
              <a:t>Two questions, no account</a:t>
            </a:r>
            <a:endParaRPr lang="en-US" sz="1700" dirty="0"/>
          </a:p>
        </p:txBody>
      </p:sp>
      <p:sp>
        <p:nvSpPr>
          <p:cNvPr id="22" name="pers-d-0"/>
          <p:cNvSpPr txBox="1"/>
          <p:nvPr/>
        </p:nvSpPr>
        <p:spPr>
          <a:xfrm>
            <a:off x="1554480" y="2587752"/>
            <a:ext cx="4480560" cy="502920"/>
          </a:xfrm>
          <a:prstGeom prst="rect">
            <a:avLst/>
          </a:prstGeom>
          <a:noFill/>
          <a:ln/>
        </p:spPr>
        <p:txBody>
          <a:bodyPr wrap="square" lIns="0" tIns="0" rIns="0" bIns="0" rtlCol="0" anchor="t"/>
          <a:lstStyle/>
          <a:p>
            <a:pPr indent="0" marL="0">
              <a:buNone/>
            </a:pPr>
            <a:r>
              <a:rPr lang="en-US" sz="1350" dirty="0">
                <a:solidFill>
                  <a:srgbClr val="4A5875"/>
                </a:solidFill>
                <a:latin typeface="Calibri" pitchFamily="34" charset="0"/>
                <a:ea typeface="Calibri" pitchFamily="34" charset="-122"/>
                <a:cs typeface="Calibri" pitchFamily="34" charset="-120"/>
              </a:rPr>
              <a:t>Which language helps, and what helps you learn. No name, no gender.</a:t>
            </a:r>
            <a:endParaRPr lang="en-US" sz="1350" dirty="0"/>
          </a:p>
        </p:txBody>
      </p:sp>
      <p:sp>
        <p:nvSpPr>
          <p:cNvPr id="23" name="pers-dot-1"/>
          <p:cNvSpPr/>
          <p:nvPr/>
        </p:nvSpPr>
        <p:spPr>
          <a:xfrm>
            <a:off x="731520" y="3246120"/>
            <a:ext cx="640080" cy="640080"/>
          </a:xfrm>
          <a:prstGeom prst="ellipse">
            <a:avLst/>
          </a:prstGeom>
          <a:solidFill>
            <a:srgbClr val="E7EEF9"/>
          </a:solidFill>
          <a:ln w="12700">
            <a:solidFill>
              <a:srgbClr val="E7EEF9"/>
            </a:solidFill>
            <a:prstDash val="solid"/>
          </a:ln>
        </p:spPr>
      </p:sp>
      <p:pic>
        <p:nvPicPr>
          <p:cNvPr id="24" name="pers-icon-1" descr="preencoded.png">    </p:cNvPr>
          <p:cNvPicPr>
            <a:picLocks noChangeAspect="1"/>
          </p:cNvPicPr>
          <p:nvPr/>
        </p:nvPicPr>
        <p:blipFill>
          <a:blip r:embed="rId2"/>
          <a:stretch>
            <a:fillRect/>
          </a:stretch>
        </p:blipFill>
        <p:spPr>
          <a:xfrm>
            <a:off x="886968" y="3401568"/>
            <a:ext cx="329184" cy="329184"/>
          </a:xfrm>
          <a:prstGeom prst="rect">
            <a:avLst/>
          </a:prstGeom>
        </p:spPr>
      </p:pic>
      <p:sp>
        <p:nvSpPr>
          <p:cNvPr id="25" name="pers-t-1"/>
          <p:cNvSpPr txBox="1"/>
          <p:nvPr/>
        </p:nvSpPr>
        <p:spPr>
          <a:xfrm>
            <a:off x="1554480" y="3227832"/>
            <a:ext cx="4480560" cy="365760"/>
          </a:xfrm>
          <a:prstGeom prst="rect">
            <a:avLst/>
          </a:prstGeom>
          <a:noFill/>
          <a:ln/>
        </p:spPr>
        <p:txBody>
          <a:bodyPr wrap="square" lIns="0" tIns="0" rIns="0" bIns="0" rtlCol="0" anchor="ctr"/>
          <a:lstStyle/>
          <a:p>
            <a:pPr indent="0" marL="0">
              <a:buNone/>
            </a:pPr>
            <a:r>
              <a:rPr lang="en-US" sz="1700" b="1" dirty="0">
                <a:solidFill>
                  <a:srgbClr val="0D1B3E"/>
                </a:solidFill>
                <a:latin typeface="Century Gothic" pitchFamily="34" charset="0"/>
                <a:ea typeface="Century Gothic" pitchFamily="34" charset="-122"/>
                <a:cs typeface="Century Gothic" pitchFamily="34" charset="-120"/>
              </a:rPr>
              <a:t>Opens your way, and says why</a:t>
            </a:r>
            <a:endParaRPr lang="en-US" sz="1700" dirty="0"/>
          </a:p>
        </p:txBody>
      </p:sp>
      <p:sp>
        <p:nvSpPr>
          <p:cNvPr id="26" name="pers-d-1"/>
          <p:cNvSpPr txBox="1"/>
          <p:nvPr/>
        </p:nvSpPr>
        <p:spPr>
          <a:xfrm>
            <a:off x="1554480" y="3593592"/>
            <a:ext cx="4480560" cy="502920"/>
          </a:xfrm>
          <a:prstGeom prst="rect">
            <a:avLst/>
          </a:prstGeom>
          <a:noFill/>
          <a:ln/>
        </p:spPr>
        <p:txBody>
          <a:bodyPr wrap="square" lIns="0" tIns="0" rIns="0" bIns="0" rtlCol="0" anchor="t"/>
          <a:lstStyle/>
          <a:p>
            <a:pPr indent="0" marL="0">
              <a:buNone/>
            </a:pPr>
            <a:r>
              <a:rPr lang="en-US" sz="1350" dirty="0">
                <a:solidFill>
                  <a:srgbClr val="4A5875"/>
                </a:solidFill>
                <a:latin typeface="Calibri" pitchFamily="34" charset="0"/>
                <a:ea typeface="Calibri" pitchFamily="34" charset="-122"/>
                <a:cs typeface="Calibri" pitchFamily="34" charset="-120"/>
              </a:rPr>
              <a:t>“Opened at Simplest because your last quiz here was 4 of 10.”</a:t>
            </a:r>
            <a:endParaRPr lang="en-US" sz="1350" dirty="0"/>
          </a:p>
        </p:txBody>
      </p:sp>
      <p:sp>
        <p:nvSpPr>
          <p:cNvPr id="27" name="pers-dot-2"/>
          <p:cNvSpPr/>
          <p:nvPr/>
        </p:nvSpPr>
        <p:spPr>
          <a:xfrm>
            <a:off x="731520" y="4251960"/>
            <a:ext cx="640080" cy="640080"/>
          </a:xfrm>
          <a:prstGeom prst="ellipse">
            <a:avLst/>
          </a:prstGeom>
          <a:solidFill>
            <a:srgbClr val="E7EEF9"/>
          </a:solidFill>
          <a:ln w="12700">
            <a:solidFill>
              <a:srgbClr val="E7EEF9"/>
            </a:solidFill>
            <a:prstDash val="solid"/>
          </a:ln>
        </p:spPr>
      </p:sp>
      <p:pic>
        <p:nvPicPr>
          <p:cNvPr id="28" name="pers-icon-2" descr="preencoded.png">    </p:cNvPr>
          <p:cNvPicPr>
            <a:picLocks noChangeAspect="1"/>
          </p:cNvPicPr>
          <p:nvPr/>
        </p:nvPicPr>
        <p:blipFill>
          <a:blip r:embed="rId3"/>
          <a:stretch>
            <a:fillRect/>
          </a:stretch>
        </p:blipFill>
        <p:spPr>
          <a:xfrm>
            <a:off x="886968" y="4407408"/>
            <a:ext cx="329184" cy="329184"/>
          </a:xfrm>
          <a:prstGeom prst="rect">
            <a:avLst/>
          </a:prstGeom>
        </p:spPr>
      </p:pic>
      <p:sp>
        <p:nvSpPr>
          <p:cNvPr id="29" name="pers-t-2"/>
          <p:cNvSpPr txBox="1"/>
          <p:nvPr/>
        </p:nvSpPr>
        <p:spPr>
          <a:xfrm>
            <a:off x="1554480" y="4233672"/>
            <a:ext cx="4480560" cy="365760"/>
          </a:xfrm>
          <a:prstGeom prst="rect">
            <a:avLst/>
          </a:prstGeom>
          <a:noFill/>
          <a:ln/>
        </p:spPr>
        <p:txBody>
          <a:bodyPr wrap="square" lIns="0" tIns="0" rIns="0" bIns="0" rtlCol="0" anchor="ctr"/>
          <a:lstStyle/>
          <a:p>
            <a:pPr indent="0" marL="0">
              <a:buNone/>
            </a:pPr>
            <a:r>
              <a:rPr lang="en-US" sz="1700" b="1" dirty="0">
                <a:solidFill>
                  <a:srgbClr val="0D1B3E"/>
                </a:solidFill>
                <a:latin typeface="Century Gothic" pitchFamily="34" charset="0"/>
                <a:ea typeface="Century Gothic" pitchFamily="34" charset="-122"/>
                <a:cs typeface="Century Gothic" pitchFamily="34" charset="-120"/>
              </a:rPr>
              <a:t>Weak areas → a study plan</a:t>
            </a:r>
            <a:endParaRPr lang="en-US" sz="1700" dirty="0"/>
          </a:p>
        </p:txBody>
      </p:sp>
      <p:sp>
        <p:nvSpPr>
          <p:cNvPr id="30" name="pers-d-2"/>
          <p:cNvSpPr txBox="1"/>
          <p:nvPr/>
        </p:nvSpPr>
        <p:spPr>
          <a:xfrm>
            <a:off x="1554480" y="4599432"/>
            <a:ext cx="4480560" cy="502920"/>
          </a:xfrm>
          <a:prstGeom prst="rect">
            <a:avLst/>
          </a:prstGeom>
          <a:noFill/>
          <a:ln/>
        </p:spPr>
        <p:txBody>
          <a:bodyPr wrap="square" lIns="0" tIns="0" rIns="0" bIns="0" rtlCol="0" anchor="t"/>
          <a:lstStyle/>
          <a:p>
            <a:pPr indent="0" marL="0">
              <a:buNone/>
            </a:pPr>
            <a:r>
              <a:rPr lang="en-US" sz="1350" dirty="0">
                <a:solidFill>
                  <a:srgbClr val="4A5875"/>
                </a:solidFill>
                <a:latin typeface="Calibri" pitchFamily="34" charset="0"/>
                <a:ea typeface="Calibri" pitchFamily="34" charset="-122"/>
                <a:cs typeface="Calibri" pitchFamily="34" charset="-120"/>
              </a:rPr>
              <a:t>Each step opens the exact section, hard word or video minute.</a:t>
            </a:r>
            <a:endParaRPr lang="en-US" sz="1350" dirty="0"/>
          </a:p>
        </p:txBody>
      </p:sp>
      <p:sp>
        <p:nvSpPr>
          <p:cNvPr id="31" name="pers-dot-3"/>
          <p:cNvSpPr/>
          <p:nvPr/>
        </p:nvSpPr>
        <p:spPr>
          <a:xfrm>
            <a:off x="731520" y="5257800"/>
            <a:ext cx="640080" cy="640080"/>
          </a:xfrm>
          <a:prstGeom prst="ellipse">
            <a:avLst/>
          </a:prstGeom>
          <a:solidFill>
            <a:srgbClr val="E7EEF9"/>
          </a:solidFill>
          <a:ln w="12700">
            <a:solidFill>
              <a:srgbClr val="E7EEF9"/>
            </a:solidFill>
            <a:prstDash val="solid"/>
          </a:ln>
        </p:spPr>
      </p:sp>
      <p:pic>
        <p:nvPicPr>
          <p:cNvPr id="32" name="pers-icon-3" descr="preencoded.png">    </p:cNvPr>
          <p:cNvPicPr>
            <a:picLocks noChangeAspect="1"/>
          </p:cNvPicPr>
          <p:nvPr/>
        </p:nvPicPr>
        <p:blipFill>
          <a:blip r:embed="rId4"/>
          <a:stretch>
            <a:fillRect/>
          </a:stretch>
        </p:blipFill>
        <p:spPr>
          <a:xfrm>
            <a:off x="886968" y="5413248"/>
            <a:ext cx="329184" cy="329184"/>
          </a:xfrm>
          <a:prstGeom prst="rect">
            <a:avLst/>
          </a:prstGeom>
        </p:spPr>
      </p:pic>
      <p:sp>
        <p:nvSpPr>
          <p:cNvPr id="33" name="pers-t-3"/>
          <p:cNvSpPr txBox="1"/>
          <p:nvPr/>
        </p:nvSpPr>
        <p:spPr>
          <a:xfrm>
            <a:off x="1554480" y="5239512"/>
            <a:ext cx="4480560" cy="365760"/>
          </a:xfrm>
          <a:prstGeom prst="rect">
            <a:avLst/>
          </a:prstGeom>
          <a:noFill/>
          <a:ln/>
        </p:spPr>
        <p:txBody>
          <a:bodyPr wrap="square" lIns="0" tIns="0" rIns="0" bIns="0" rtlCol="0" anchor="ctr"/>
          <a:lstStyle/>
          <a:p>
            <a:pPr indent="0" marL="0">
              <a:buNone/>
            </a:pPr>
            <a:r>
              <a:rPr lang="en-US" sz="1700" b="1" dirty="0">
                <a:solidFill>
                  <a:srgbClr val="0D1B3E"/>
                </a:solidFill>
                <a:latin typeface="Century Gothic" pitchFamily="34" charset="0"/>
                <a:ea typeface="Century Gothic" pitchFamily="34" charset="-122"/>
                <a:cs typeface="Century Gothic" pitchFamily="34" charset="-120"/>
              </a:rPr>
              <a:t>Private by design</a:t>
            </a:r>
            <a:endParaRPr lang="en-US" sz="1700" dirty="0"/>
          </a:p>
        </p:txBody>
      </p:sp>
      <p:sp>
        <p:nvSpPr>
          <p:cNvPr id="34" name="pers-d-3"/>
          <p:cNvSpPr txBox="1"/>
          <p:nvPr/>
        </p:nvSpPr>
        <p:spPr>
          <a:xfrm>
            <a:off x="1554480" y="5605272"/>
            <a:ext cx="4480560" cy="502920"/>
          </a:xfrm>
          <a:prstGeom prst="rect">
            <a:avLst/>
          </a:prstGeom>
          <a:noFill/>
          <a:ln/>
        </p:spPr>
        <p:txBody>
          <a:bodyPr wrap="square" lIns="0" tIns="0" rIns="0" bIns="0" rtlCol="0" anchor="t"/>
          <a:lstStyle/>
          <a:p>
            <a:pPr indent="0" marL="0">
              <a:buNone/>
            </a:pPr>
            <a:r>
              <a:rPr lang="en-US" sz="1350" dirty="0">
                <a:solidFill>
                  <a:srgbClr val="4A5875"/>
                </a:solidFill>
                <a:latin typeface="Calibri" pitchFamily="34" charset="0"/>
                <a:ea typeface="Calibri" pitchFamily="34" charset="-122"/>
                <a:cs typeface="Calibri" pitchFamily="34" charset="-120"/>
              </a:rPr>
              <a:t>An anonymous code in Neon Postgres; “Clear my data” deletes it.</a:t>
            </a:r>
            <a:endParaRPr lang="en-US" sz="1350" dirty="0"/>
          </a:p>
        </p:txBody>
      </p:sp>
      <p:sp>
        <p:nvSpPr>
          <p:cNvPr id="35" name="pers-label"/>
          <p:cNvSpPr txBox="1"/>
          <p:nvPr/>
        </p:nvSpPr>
        <p:spPr>
          <a:xfrm>
            <a:off x="6537960" y="1463040"/>
            <a:ext cx="4206240" cy="274320"/>
          </a:xfrm>
          <a:prstGeom prst="rect">
            <a:avLst/>
          </a:prstGeom>
          <a:noFill/>
          <a:ln/>
        </p:spPr>
        <p:txBody>
          <a:bodyPr wrap="square" lIns="0" tIns="0" rIns="0" bIns="0" rtlCol="0" anchor="ctr"/>
          <a:lstStyle/>
          <a:p>
            <a:pPr indent="0" marL="0">
              <a:buNone/>
            </a:pPr>
            <a:r>
              <a:rPr lang="en-US" sz="1200" b="1" spc="300" kern="0" dirty="0">
                <a:solidFill>
                  <a:srgbClr val="F2A40E"/>
                </a:solidFill>
                <a:latin typeface="Calibri" pitchFamily="34" charset="0"/>
                <a:ea typeface="Calibri" pitchFamily="34" charset="-122"/>
                <a:cs typeface="Calibri" pitchFamily="34" charset="-120"/>
              </a:rPr>
              <a:t>A REAL RESULT SCREEN</a:t>
            </a:r>
            <a:endParaRPr lang="en-US" sz="1200" dirty="0"/>
          </a:p>
        </p:txBody>
      </p:sp>
      <p:sp>
        <p:nvSpPr>
          <p:cNvPr id="36" name="pers-frame"/>
          <p:cNvSpPr/>
          <p:nvPr/>
        </p:nvSpPr>
        <p:spPr>
          <a:xfrm>
            <a:off x="6492240" y="1874520"/>
            <a:ext cx="4983480" cy="3218688"/>
          </a:xfrm>
          <a:prstGeom prst="roundRect">
            <a:avLst>
              <a:gd name="adj" fmla="val 3409"/>
            </a:avLst>
          </a:prstGeom>
          <a:solidFill>
            <a:srgbClr val="FFFFFF"/>
          </a:solidFill>
          <a:ln w="12700">
            <a:solidFill>
              <a:srgbClr val="FFFFFF"/>
            </a:solidFill>
            <a:prstDash val="solid"/>
          </a:ln>
        </p:spPr>
      </p:sp>
      <p:pic>
        <p:nvPicPr>
          <p:cNvPr id="37" name="pers-shot" descr="C:\Users\rahee\AppData\Local\Temp\claude\C--Users-rahee-Desktop-AICon\b0d77b2b-594c-418c-bce0-e4f2d230c288\scratchpad\deck-assets\deck-practice-crop.png">    </p:cNvPr>
          <p:cNvPicPr>
            <a:picLocks noChangeAspect="1"/>
          </p:cNvPicPr>
          <p:nvPr/>
        </p:nvPicPr>
        <p:blipFill>
          <a:blip r:embed="rId5"/>
          <a:srcRect l="0" r="0" t="0" b="0"/>
          <a:stretch/>
        </p:blipFill>
        <p:spPr>
          <a:xfrm>
            <a:off x="6547104" y="1929384"/>
            <a:ext cx="4873752" cy="3108960"/>
          </a:xfrm>
          <a:prstGeom prst="rect">
            <a:avLst/>
          </a:prstGeom>
        </p:spPr>
      </p:pic>
      <p:sp>
        <p:nvSpPr>
          <p:cNvPr id="38" name="pers-cap"/>
          <p:cNvSpPr txBox="1"/>
          <p:nvPr/>
        </p:nvSpPr>
        <p:spPr>
          <a:xfrm>
            <a:off x="6537960" y="5257800"/>
            <a:ext cx="4937760" cy="548640"/>
          </a:xfrm>
          <a:prstGeom prst="rect">
            <a:avLst/>
          </a:prstGeom>
          <a:noFill/>
          <a:ln/>
        </p:spPr>
        <p:txBody>
          <a:bodyPr wrap="square" lIns="0" tIns="0" rIns="0" bIns="0" rtlCol="0" anchor="t"/>
          <a:lstStyle/>
          <a:p>
            <a:pPr indent="0" marL="0">
              <a:buNone/>
            </a:pPr>
            <a:r>
              <a:rPr lang="en-US" sz="1300" dirty="0">
                <a:solidFill>
                  <a:srgbClr val="DCE4FA"/>
                </a:solidFill>
                <a:latin typeface="Calibri" pitchFamily="34" charset="0"/>
                <a:ea typeface="Calibri" pitchFamily="34" charset="-122"/>
                <a:cs typeface="Calibri" pitchFamily="34" charset="-120"/>
              </a:rPr>
              <a:t>Score, weak areas by section, and a study plan made from this lesson’s own materials.</a:t>
            </a:r>
            <a:endParaRPr lang="en-US" sz="1300" dirty="0"/>
          </a:p>
        </p:txBody>
      </p:sp>
      <p:sp>
        <p:nvSpPr>
          <p:cNvPr id="39" name="!!dot-0"/>
          <p:cNvSpPr/>
          <p:nvPr/>
        </p:nvSpPr>
        <p:spPr>
          <a:xfrm>
            <a:off x="10012680" y="6400800"/>
            <a:ext cx="100584" cy="100584"/>
          </a:xfrm>
          <a:prstGeom prst="ellipse">
            <a:avLst/>
          </a:prstGeom>
          <a:solidFill>
            <a:srgbClr val="C3CDDD"/>
          </a:solidFill>
          <a:ln w="12700">
            <a:solidFill>
              <a:srgbClr val="C3CDDD"/>
            </a:solidFill>
            <a:prstDash val="solid"/>
          </a:ln>
        </p:spPr>
      </p:sp>
      <p:sp>
        <p:nvSpPr>
          <p:cNvPr id="40" name="!!dot-1"/>
          <p:cNvSpPr/>
          <p:nvPr/>
        </p:nvSpPr>
        <p:spPr>
          <a:xfrm>
            <a:off x="10250424" y="6400800"/>
            <a:ext cx="100584" cy="100584"/>
          </a:xfrm>
          <a:prstGeom prst="ellipse">
            <a:avLst/>
          </a:prstGeom>
          <a:solidFill>
            <a:srgbClr val="C3CDDD"/>
          </a:solidFill>
          <a:ln w="12700">
            <a:solidFill>
              <a:srgbClr val="C3CDDD"/>
            </a:solidFill>
            <a:prstDash val="solid"/>
          </a:ln>
        </p:spPr>
      </p:sp>
      <p:sp>
        <p:nvSpPr>
          <p:cNvPr id="41" name="!!dot-2"/>
          <p:cNvSpPr/>
          <p:nvPr/>
        </p:nvSpPr>
        <p:spPr>
          <a:xfrm>
            <a:off x="10488168" y="6400800"/>
            <a:ext cx="100584" cy="100584"/>
          </a:xfrm>
          <a:prstGeom prst="ellipse">
            <a:avLst/>
          </a:prstGeom>
          <a:solidFill>
            <a:srgbClr val="C3CDDD"/>
          </a:solidFill>
          <a:ln w="12700">
            <a:solidFill>
              <a:srgbClr val="C3CDDD"/>
            </a:solidFill>
            <a:prstDash val="solid"/>
          </a:ln>
        </p:spPr>
      </p:sp>
      <p:sp>
        <p:nvSpPr>
          <p:cNvPr id="42" name="!!dot-3"/>
          <p:cNvSpPr/>
          <p:nvPr/>
        </p:nvSpPr>
        <p:spPr>
          <a:xfrm>
            <a:off x="10725912" y="6400800"/>
            <a:ext cx="100584" cy="100584"/>
          </a:xfrm>
          <a:prstGeom prst="ellipse">
            <a:avLst/>
          </a:prstGeom>
          <a:solidFill>
            <a:srgbClr val="C3CDDD"/>
          </a:solidFill>
          <a:ln w="12700">
            <a:solidFill>
              <a:srgbClr val="C3CDDD"/>
            </a:solidFill>
            <a:prstDash val="solid"/>
          </a:ln>
        </p:spPr>
      </p:sp>
      <p:sp>
        <p:nvSpPr>
          <p:cNvPr id="43" name="!!dot-4"/>
          <p:cNvSpPr/>
          <p:nvPr/>
        </p:nvSpPr>
        <p:spPr>
          <a:xfrm>
            <a:off x="10963656" y="6400800"/>
            <a:ext cx="100584" cy="100584"/>
          </a:xfrm>
          <a:prstGeom prst="ellipse">
            <a:avLst/>
          </a:prstGeom>
          <a:solidFill>
            <a:srgbClr val="C3CDDD"/>
          </a:solidFill>
          <a:ln w="12700">
            <a:solidFill>
              <a:srgbClr val="C3CDDD"/>
            </a:solidFill>
            <a:prstDash val="solid"/>
          </a:ln>
        </p:spPr>
      </p:sp>
      <p:sp>
        <p:nvSpPr>
          <p:cNvPr id="44" name="!!dot-5"/>
          <p:cNvSpPr/>
          <p:nvPr/>
        </p:nvSpPr>
        <p:spPr>
          <a:xfrm>
            <a:off x="11201400" y="6400800"/>
            <a:ext cx="155448" cy="155448"/>
          </a:xfrm>
          <a:prstGeom prst="ellipse">
            <a:avLst/>
          </a:prstGeom>
          <a:solidFill>
            <a:srgbClr val="F2A40E"/>
          </a:solidFill>
          <a:ln w="12700">
            <a:solidFill>
              <a:srgbClr val="F2A40E"/>
            </a:solidFill>
            <a:prstDash val="solid"/>
          </a:ln>
        </p:spPr>
      </p:sp>
      <p:sp>
        <p:nvSpPr>
          <p:cNvPr id="45" name="!!dot-6"/>
          <p:cNvSpPr/>
          <p:nvPr/>
        </p:nvSpPr>
        <p:spPr>
          <a:xfrm>
            <a:off x="11439144" y="6400800"/>
            <a:ext cx="100584" cy="100584"/>
          </a:xfrm>
          <a:prstGeom prst="ellipse">
            <a:avLst/>
          </a:prstGeom>
          <a:solidFill>
            <a:srgbClr val="C3CDDD"/>
          </a:solidFill>
          <a:ln w="12700">
            <a:solidFill>
              <a:srgbClr val="C3CDDD"/>
            </a:solidFill>
            <a:prstDash val="solid"/>
          </a:ln>
        </p:spPr>
      </p:sp>
      <p:sp>
        <p:nvSpPr>
          <p:cNvPr id="46" name="!!dot-7"/>
          <p:cNvSpPr/>
          <p:nvPr/>
        </p:nvSpPr>
        <p:spPr>
          <a:xfrm>
            <a:off x="11676888" y="6400800"/>
            <a:ext cx="100584" cy="100584"/>
          </a:xfrm>
          <a:prstGeom prst="ellipse">
            <a:avLst/>
          </a:prstGeom>
          <a:solidFill>
            <a:srgbClr val="C3CDDD"/>
          </a:solidFill>
          <a:ln w="12700">
            <a:solidFill>
              <a:srgbClr val="C3CDDD"/>
            </a:solidFill>
            <a:prstDash val="solid"/>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5F3"/>
        </a:solidFill>
      </p:bgPr>
    </p:bg>
    <p:spTree>
      <p:nvGrpSpPr>
        <p:cNvPr id="1" name=""/>
        <p:cNvGrpSpPr/>
        <p:nvPr/>
      </p:nvGrpSpPr>
      <p:grpSpPr>
        <a:xfrm>
          <a:off x="0" y="0"/>
          <a:ext cx="0" cy="0"/>
          <a:chOff x="0" y="0"/>
          <a:chExt cx="0" cy="0"/>
        </a:xfrm>
      </p:grpSpPr>
      <p:sp>
        <p:nvSpPr>
          <p:cNvPr id="2" name="!!ray-0"/>
          <p:cNvSpPr/>
          <p:nvPr/>
        </p:nvSpPr>
        <p:spPr>
          <a:xfrm>
            <a:off x="11663172" y="868680"/>
            <a:ext cx="192024" cy="914"/>
          </a:xfrm>
          <a:prstGeom prst="line">
            <a:avLst/>
          </a:prstGeom>
          <a:noFill/>
          <a:ln w="19050">
            <a:solidFill>
              <a:srgbClr val="F2A40E"/>
            </a:solidFill>
            <a:prstDash val="solid"/>
          </a:ln>
        </p:spPr>
      </p:sp>
      <p:sp>
        <p:nvSpPr>
          <p:cNvPr id="3" name="!!ray-1"/>
          <p:cNvSpPr/>
          <p:nvPr/>
        </p:nvSpPr>
        <p:spPr>
          <a:xfrm>
            <a:off x="11613557" y="1053846"/>
            <a:ext cx="166298" cy="96012"/>
          </a:xfrm>
          <a:prstGeom prst="line">
            <a:avLst/>
          </a:prstGeom>
          <a:noFill/>
          <a:ln w="19050">
            <a:solidFill>
              <a:srgbClr val="F2A40E">
                <a:alpha val="55000"/>
              </a:srgbClr>
            </a:solidFill>
            <a:prstDash val="solid"/>
          </a:ln>
        </p:spPr>
      </p:sp>
      <p:sp>
        <p:nvSpPr>
          <p:cNvPr id="4" name="!!ray-2"/>
          <p:cNvSpPr/>
          <p:nvPr/>
        </p:nvSpPr>
        <p:spPr>
          <a:xfrm>
            <a:off x="11478006" y="1189397"/>
            <a:ext cx="96012" cy="166298"/>
          </a:xfrm>
          <a:prstGeom prst="line">
            <a:avLst/>
          </a:prstGeom>
          <a:noFill/>
          <a:ln w="19050">
            <a:solidFill>
              <a:srgbClr val="F2A40E"/>
            </a:solidFill>
            <a:prstDash val="solid"/>
          </a:ln>
        </p:spPr>
      </p:sp>
      <p:sp>
        <p:nvSpPr>
          <p:cNvPr id="5" name="!!ray-3"/>
          <p:cNvSpPr/>
          <p:nvPr/>
        </p:nvSpPr>
        <p:spPr>
          <a:xfrm>
            <a:off x="11292840" y="1239012"/>
            <a:ext cx="914" cy="192024"/>
          </a:xfrm>
          <a:prstGeom prst="line">
            <a:avLst/>
          </a:prstGeom>
          <a:noFill/>
          <a:ln w="19050">
            <a:solidFill>
              <a:srgbClr val="F2A40E">
                <a:alpha val="55000"/>
              </a:srgbClr>
            </a:solidFill>
            <a:prstDash val="solid"/>
          </a:ln>
        </p:spPr>
      </p:sp>
      <p:sp>
        <p:nvSpPr>
          <p:cNvPr id="6" name="!!ray-4"/>
          <p:cNvSpPr/>
          <p:nvPr/>
        </p:nvSpPr>
        <p:spPr>
          <a:xfrm flipH="1">
            <a:off x="11011662" y="1189397"/>
            <a:ext cx="96012" cy="166298"/>
          </a:xfrm>
          <a:prstGeom prst="line">
            <a:avLst/>
          </a:prstGeom>
          <a:noFill/>
          <a:ln w="19050">
            <a:solidFill>
              <a:srgbClr val="F2A40E"/>
            </a:solidFill>
            <a:prstDash val="solid"/>
          </a:ln>
        </p:spPr>
      </p:sp>
      <p:sp>
        <p:nvSpPr>
          <p:cNvPr id="7" name="!!ray-5"/>
          <p:cNvSpPr/>
          <p:nvPr/>
        </p:nvSpPr>
        <p:spPr>
          <a:xfrm flipH="1">
            <a:off x="10805825" y="1053846"/>
            <a:ext cx="166298" cy="96012"/>
          </a:xfrm>
          <a:prstGeom prst="line">
            <a:avLst/>
          </a:prstGeom>
          <a:noFill/>
          <a:ln w="19050">
            <a:solidFill>
              <a:srgbClr val="F2A40E">
                <a:alpha val="55000"/>
              </a:srgbClr>
            </a:solidFill>
            <a:prstDash val="solid"/>
          </a:ln>
        </p:spPr>
      </p:sp>
      <p:sp>
        <p:nvSpPr>
          <p:cNvPr id="8" name="!!ray-6"/>
          <p:cNvSpPr/>
          <p:nvPr/>
        </p:nvSpPr>
        <p:spPr>
          <a:xfrm flipH="1">
            <a:off x="10730484" y="868680"/>
            <a:ext cx="192024" cy="914"/>
          </a:xfrm>
          <a:prstGeom prst="line">
            <a:avLst/>
          </a:prstGeom>
          <a:noFill/>
          <a:ln w="19050">
            <a:solidFill>
              <a:srgbClr val="F2A40E"/>
            </a:solidFill>
            <a:prstDash val="solid"/>
          </a:ln>
        </p:spPr>
      </p:sp>
      <p:sp>
        <p:nvSpPr>
          <p:cNvPr id="9" name="!!ray-7"/>
          <p:cNvSpPr/>
          <p:nvPr/>
        </p:nvSpPr>
        <p:spPr>
          <a:xfrm flipH="1" flipV="1">
            <a:off x="10805825" y="587502"/>
            <a:ext cx="166298" cy="96012"/>
          </a:xfrm>
          <a:prstGeom prst="line">
            <a:avLst/>
          </a:prstGeom>
          <a:noFill/>
          <a:ln w="19050">
            <a:solidFill>
              <a:srgbClr val="F2A40E">
                <a:alpha val="55000"/>
              </a:srgbClr>
            </a:solidFill>
            <a:prstDash val="solid"/>
          </a:ln>
        </p:spPr>
      </p:sp>
      <p:sp>
        <p:nvSpPr>
          <p:cNvPr id="10" name="!!ray-8"/>
          <p:cNvSpPr/>
          <p:nvPr/>
        </p:nvSpPr>
        <p:spPr>
          <a:xfrm flipH="1" flipV="1">
            <a:off x="11011662" y="381665"/>
            <a:ext cx="96012" cy="166298"/>
          </a:xfrm>
          <a:prstGeom prst="line">
            <a:avLst/>
          </a:prstGeom>
          <a:noFill/>
          <a:ln w="19050">
            <a:solidFill>
              <a:srgbClr val="F2A40E"/>
            </a:solidFill>
            <a:prstDash val="solid"/>
          </a:ln>
        </p:spPr>
      </p:sp>
      <p:sp>
        <p:nvSpPr>
          <p:cNvPr id="11" name="!!ray-9"/>
          <p:cNvSpPr/>
          <p:nvPr/>
        </p:nvSpPr>
        <p:spPr>
          <a:xfrm flipH="1" flipV="1">
            <a:off x="11292840" y="306324"/>
            <a:ext cx="914" cy="192024"/>
          </a:xfrm>
          <a:prstGeom prst="line">
            <a:avLst/>
          </a:prstGeom>
          <a:noFill/>
          <a:ln w="19050">
            <a:solidFill>
              <a:srgbClr val="F2A40E">
                <a:alpha val="55000"/>
              </a:srgbClr>
            </a:solidFill>
            <a:prstDash val="solid"/>
          </a:ln>
        </p:spPr>
      </p:sp>
      <p:sp>
        <p:nvSpPr>
          <p:cNvPr id="12" name="!!ray-10"/>
          <p:cNvSpPr/>
          <p:nvPr/>
        </p:nvSpPr>
        <p:spPr>
          <a:xfrm flipV="1">
            <a:off x="11478006" y="381665"/>
            <a:ext cx="96012" cy="166298"/>
          </a:xfrm>
          <a:prstGeom prst="line">
            <a:avLst/>
          </a:prstGeom>
          <a:noFill/>
          <a:ln w="19050">
            <a:solidFill>
              <a:srgbClr val="F2A40E"/>
            </a:solidFill>
            <a:prstDash val="solid"/>
          </a:ln>
        </p:spPr>
      </p:sp>
      <p:sp>
        <p:nvSpPr>
          <p:cNvPr id="13" name="!!ray-11"/>
          <p:cNvSpPr/>
          <p:nvPr/>
        </p:nvSpPr>
        <p:spPr>
          <a:xfrm flipV="1">
            <a:off x="11613557" y="587502"/>
            <a:ext cx="166298" cy="96012"/>
          </a:xfrm>
          <a:prstGeom prst="line">
            <a:avLst/>
          </a:prstGeom>
          <a:noFill/>
          <a:ln w="19050">
            <a:solidFill>
              <a:srgbClr val="F2A40E">
                <a:alpha val="55000"/>
              </a:srgbClr>
            </a:solidFill>
            <a:prstDash val="solid"/>
          </a:ln>
        </p:spPr>
      </p:sp>
      <p:sp>
        <p:nvSpPr>
          <p:cNvPr id="14" name="!!ring"/>
          <p:cNvSpPr/>
          <p:nvPr/>
        </p:nvSpPr>
        <p:spPr>
          <a:xfrm>
            <a:off x="11018520" y="594360"/>
            <a:ext cx="548640" cy="548640"/>
          </a:xfrm>
          <a:prstGeom prst="ellipse">
            <a:avLst/>
          </a:prstGeom>
          <a:solidFill>
            <a:srgbClr val="1C3EA6"/>
          </a:solidFill>
          <a:ln w="12700">
            <a:solidFill>
              <a:srgbClr val="FFFFFF"/>
            </a:solidFill>
            <a:prstDash val="solid"/>
          </a:ln>
        </p:spPr>
      </p:sp>
      <p:sp>
        <p:nvSpPr>
          <p:cNvPr id="15" name="!!flame"/>
          <p:cNvSpPr/>
          <p:nvPr/>
        </p:nvSpPr>
        <p:spPr>
          <a:xfrm>
            <a:off x="11177626" y="753466"/>
            <a:ext cx="230429" cy="230429"/>
          </a:xfrm>
          <a:prstGeom prst="ellipse">
            <a:avLst/>
          </a:prstGeom>
          <a:solidFill>
            <a:srgbClr val="F2A40E"/>
          </a:solidFill>
          <a:ln w="12700">
            <a:solidFill>
              <a:srgbClr val="F2A40E"/>
            </a:solidFill>
            <a:prstDash val="solid"/>
          </a:ln>
        </p:spPr>
      </p:sp>
      <p:sp>
        <p:nvSpPr>
          <p:cNvPr id="16" name="!!kicker"/>
          <p:cNvSpPr txBox="1"/>
          <p:nvPr/>
        </p:nvSpPr>
        <p:spPr>
          <a:xfrm>
            <a:off x="731520" y="548640"/>
            <a:ext cx="6400800" cy="320040"/>
          </a:xfrm>
          <a:prstGeom prst="rect">
            <a:avLst/>
          </a:prstGeom>
          <a:noFill/>
          <a:ln/>
        </p:spPr>
        <p:txBody>
          <a:bodyPr wrap="square" lIns="0" tIns="0" rIns="0" bIns="0" rtlCol="0" anchor="ctr"/>
          <a:lstStyle/>
          <a:p>
            <a:pPr indent="0" marL="0">
              <a:buNone/>
            </a:pPr>
            <a:r>
              <a:rPr lang="en-US" sz="1300" b="1" spc="300" kern="0" dirty="0">
                <a:solidFill>
                  <a:srgbClr val="0B8F8F"/>
                </a:solidFill>
                <a:latin typeface="Calibri" pitchFamily="34" charset="0"/>
                <a:ea typeface="Calibri" pitchFamily="34" charset="-122"/>
                <a:cs typeface="Calibri" pitchFamily="34" charset="-120"/>
              </a:rPr>
              <a:t>06 · MEASURED, NOT CLAIMED</a:t>
            </a:r>
            <a:endParaRPr lang="en-US" sz="1300" dirty="0"/>
          </a:p>
        </p:txBody>
      </p:sp>
      <p:sp>
        <p:nvSpPr>
          <p:cNvPr id="17" name="!!title"/>
          <p:cNvSpPr txBox="1"/>
          <p:nvPr/>
        </p:nvSpPr>
        <p:spPr>
          <a:xfrm>
            <a:off x="731520" y="896112"/>
            <a:ext cx="9144000" cy="822960"/>
          </a:xfrm>
          <a:prstGeom prst="rect">
            <a:avLst/>
          </a:prstGeom>
          <a:noFill/>
          <a:ln/>
        </p:spPr>
        <p:txBody>
          <a:bodyPr wrap="square" lIns="0" tIns="0" rIns="0" bIns="0" rtlCol="0" anchor="t"/>
          <a:lstStyle/>
          <a:p>
            <a:pPr indent="0" marL="0">
              <a:buNone/>
            </a:pPr>
            <a:r>
              <a:rPr lang="en-US" sz="3000" b="1" dirty="0">
                <a:solidFill>
                  <a:srgbClr val="0D1B3E"/>
                </a:solidFill>
                <a:latin typeface="Century Gothic" pitchFamily="34" charset="0"/>
                <a:ea typeface="Century Gothic" pitchFamily="34" charset="-122"/>
                <a:cs typeface="Century Gothic" pitchFamily="34" charset="-120"/>
              </a:rPr>
              <a:t>Real textbook pages, real numbers</a:t>
            </a:r>
            <a:endParaRPr lang="en-US" sz="3000" dirty="0"/>
          </a:p>
        </p:txBody>
      </p:sp>
      <p:sp>
        <p:nvSpPr>
          <p:cNvPr id="18" name="!!panel"/>
          <p:cNvSpPr/>
          <p:nvPr/>
        </p:nvSpPr>
        <p:spPr>
          <a:xfrm>
            <a:off x="731520" y="1965960"/>
            <a:ext cx="3520440" cy="2011680"/>
          </a:xfrm>
          <a:prstGeom prst="roundRect">
            <a:avLst>
              <a:gd name="adj" fmla="val 9091"/>
            </a:avLst>
          </a:prstGeom>
          <a:solidFill>
            <a:srgbClr val="1C3EA6"/>
          </a:solidFill>
          <a:ln w="12700">
            <a:solidFill>
              <a:srgbClr val="1C3EA6"/>
            </a:solidFill>
            <a:prstDash val="solid"/>
          </a:ln>
        </p:spPr>
      </p:sp>
      <p:sp>
        <p:nvSpPr>
          <p:cNvPr id="19" name="!!stat-a"/>
          <p:cNvSpPr txBox="1"/>
          <p:nvPr/>
        </p:nvSpPr>
        <p:spPr>
          <a:xfrm>
            <a:off x="1005840" y="2167128"/>
            <a:ext cx="3017520" cy="868680"/>
          </a:xfrm>
          <a:prstGeom prst="rect">
            <a:avLst/>
          </a:prstGeom>
          <a:noFill/>
          <a:ln/>
        </p:spPr>
        <p:txBody>
          <a:bodyPr wrap="square" lIns="0" tIns="0" rIns="0" bIns="0" rtlCol="0" anchor="ctr"/>
          <a:lstStyle/>
          <a:p>
            <a:pPr indent="0" marL="0">
              <a:buNone/>
            </a:pPr>
            <a:r>
              <a:rPr lang="en-US" sz="4400" b="1" dirty="0">
                <a:solidFill>
                  <a:srgbClr val="FFFFFF"/>
                </a:solidFill>
                <a:latin typeface="Century Gothic" pitchFamily="34" charset="0"/>
                <a:ea typeface="Century Gothic" pitchFamily="34" charset="-122"/>
                <a:cs typeface="Century Gothic" pitchFamily="34" charset="-120"/>
              </a:rPr>
              <a:t>28/28</a:t>
            </a:r>
            <a:endParaRPr lang="en-US" sz="4400" dirty="0"/>
          </a:p>
        </p:txBody>
      </p:sp>
      <p:sp>
        <p:nvSpPr>
          <p:cNvPr id="20" name="!!stat-a-label"/>
          <p:cNvSpPr txBox="1"/>
          <p:nvPr/>
        </p:nvSpPr>
        <p:spPr>
          <a:xfrm>
            <a:off x="1005840" y="3108960"/>
            <a:ext cx="3017520" cy="685800"/>
          </a:xfrm>
          <a:prstGeom prst="rect">
            <a:avLst/>
          </a:prstGeom>
          <a:noFill/>
          <a:ln/>
        </p:spPr>
        <p:txBody>
          <a:bodyPr wrap="square" lIns="0" tIns="0" rIns="0" bIns="0" rtlCol="0" anchor="t"/>
          <a:lstStyle/>
          <a:p>
            <a:pPr indent="0" marL="0">
              <a:buNone/>
            </a:pPr>
            <a:r>
              <a:rPr lang="en-US" sz="1500" dirty="0">
                <a:solidFill>
                  <a:srgbClr val="DCE4FA"/>
                </a:solidFill>
                <a:latin typeface="Calibri" pitchFamily="34" charset="0"/>
                <a:ea typeface="Calibri" pitchFamily="34" charset="-122"/>
                <a:cs typeface="Calibri" pitchFamily="34" charset="-120"/>
              </a:rPr>
              <a:t>planted errors caught by Fact Guard</a:t>
            </a:r>
            <a:endParaRPr lang="en-US" sz="1500" dirty="0"/>
          </a:p>
        </p:txBody>
      </p:sp>
      <p:sp>
        <p:nvSpPr>
          <p:cNvPr id="21" name="tile-0"/>
          <p:cNvSpPr/>
          <p:nvPr/>
        </p:nvSpPr>
        <p:spPr>
          <a:xfrm>
            <a:off x="4480560" y="1965960"/>
            <a:ext cx="3520440" cy="2011680"/>
          </a:xfrm>
          <a:prstGeom prst="roundRect">
            <a:avLst>
              <a:gd name="adj" fmla="val 9091"/>
            </a:avLst>
          </a:prstGeom>
          <a:solidFill>
            <a:srgbClr val="FFFFFF"/>
          </a:solidFill>
          <a:ln w="12700">
            <a:solidFill>
              <a:srgbClr val="D3DEDC"/>
            </a:solidFill>
            <a:prstDash val="solid"/>
          </a:ln>
        </p:spPr>
      </p:sp>
      <p:sp>
        <p:nvSpPr>
          <p:cNvPr id="22" name="!!stat-b"/>
          <p:cNvSpPr txBox="1"/>
          <p:nvPr/>
        </p:nvSpPr>
        <p:spPr>
          <a:xfrm>
            <a:off x="4754880" y="2167128"/>
            <a:ext cx="3017520" cy="868680"/>
          </a:xfrm>
          <a:prstGeom prst="rect">
            <a:avLst/>
          </a:prstGeom>
          <a:noFill/>
          <a:ln/>
        </p:spPr>
        <p:txBody>
          <a:bodyPr wrap="square" lIns="0" tIns="0" rIns="0" bIns="0" rtlCol="0" anchor="ctr"/>
          <a:lstStyle/>
          <a:p>
            <a:pPr indent="0" marL="0">
              <a:buNone/>
            </a:pPr>
            <a:r>
              <a:rPr lang="en-US" sz="4000" b="1" dirty="0">
                <a:solidFill>
                  <a:srgbClr val="0B8F8F"/>
                </a:solidFill>
                <a:latin typeface="Century Gothic" pitchFamily="34" charset="0"/>
                <a:ea typeface="Century Gothic" pitchFamily="34" charset="-122"/>
                <a:cs typeface="Century Gothic" pitchFamily="34" charset="-120"/>
              </a:rPr>
              <a:t>0/142</a:t>
            </a:r>
            <a:endParaRPr lang="en-US" sz="4000" dirty="0"/>
          </a:p>
        </p:txBody>
      </p:sp>
      <p:sp>
        <p:nvSpPr>
          <p:cNvPr id="23" name="!!stat-b-label"/>
          <p:cNvSpPr txBox="1"/>
          <p:nvPr/>
        </p:nvSpPr>
        <p:spPr>
          <a:xfrm>
            <a:off x="4754880" y="3108960"/>
            <a:ext cx="3017520" cy="685800"/>
          </a:xfrm>
          <a:prstGeom prst="rect">
            <a:avLst/>
          </a:prstGeom>
          <a:noFill/>
          <a:ln/>
        </p:spPr>
        <p:txBody>
          <a:bodyPr wrap="square" lIns="0" tIns="0" rIns="0" bIns="0" rtlCol="0" anchor="t"/>
          <a:lstStyle/>
          <a:p>
            <a:pPr indent="0" marL="0">
              <a:buNone/>
            </a:pPr>
            <a:r>
              <a:rPr lang="en-US" sz="1500" dirty="0">
                <a:solidFill>
                  <a:srgbClr val="4A5875"/>
                </a:solidFill>
                <a:latin typeface="Calibri" pitchFamily="34" charset="0"/>
                <a:ea typeface="Calibri" pitchFamily="34" charset="-122"/>
                <a:cs typeface="Calibri" pitchFamily="34" charset="-120"/>
              </a:rPr>
              <a:t>false alarms on unchanged facts</a:t>
            </a:r>
            <a:endParaRPr lang="en-US" sz="1500" dirty="0"/>
          </a:p>
        </p:txBody>
      </p:sp>
      <p:sp>
        <p:nvSpPr>
          <p:cNvPr id="24" name="tile-1"/>
          <p:cNvSpPr/>
          <p:nvPr/>
        </p:nvSpPr>
        <p:spPr>
          <a:xfrm>
            <a:off x="8229600" y="1965960"/>
            <a:ext cx="3520440" cy="2011680"/>
          </a:xfrm>
          <a:prstGeom prst="roundRect">
            <a:avLst>
              <a:gd name="adj" fmla="val 9091"/>
            </a:avLst>
          </a:prstGeom>
          <a:solidFill>
            <a:srgbClr val="FFFFFF"/>
          </a:solidFill>
          <a:ln w="12700">
            <a:solidFill>
              <a:srgbClr val="D3DEDC"/>
            </a:solidFill>
            <a:prstDash val="solid"/>
          </a:ln>
        </p:spPr>
      </p:sp>
      <p:sp>
        <p:nvSpPr>
          <p:cNvPr id="25" name="tile-v-1"/>
          <p:cNvSpPr txBox="1"/>
          <p:nvPr/>
        </p:nvSpPr>
        <p:spPr>
          <a:xfrm>
            <a:off x="8503920" y="2167128"/>
            <a:ext cx="3017520" cy="868680"/>
          </a:xfrm>
          <a:prstGeom prst="rect">
            <a:avLst/>
          </a:prstGeom>
          <a:noFill/>
          <a:ln/>
        </p:spPr>
        <p:txBody>
          <a:bodyPr wrap="square" lIns="0" tIns="0" rIns="0" bIns="0" rtlCol="0" anchor="ctr"/>
          <a:lstStyle/>
          <a:p>
            <a:pPr indent="0" marL="0">
              <a:buNone/>
            </a:pPr>
            <a:r>
              <a:rPr lang="en-US" sz="4000" b="1" dirty="0">
                <a:solidFill>
                  <a:srgbClr val="0C8259"/>
                </a:solidFill>
                <a:latin typeface="Century Gothic" pitchFamily="34" charset="0"/>
                <a:ea typeface="Century Gothic" pitchFamily="34" charset="-122"/>
                <a:cs typeface="Century Gothic" pitchFamily="34" charset="-120"/>
              </a:rPr>
              <a:t>99%</a:t>
            </a:r>
            <a:endParaRPr lang="en-US" sz="4000" dirty="0"/>
          </a:p>
        </p:txBody>
      </p:sp>
      <p:sp>
        <p:nvSpPr>
          <p:cNvPr id="26" name="tile-l-1"/>
          <p:cNvSpPr txBox="1"/>
          <p:nvPr/>
        </p:nvSpPr>
        <p:spPr>
          <a:xfrm>
            <a:off x="8503920" y="3108960"/>
            <a:ext cx="3017520" cy="685800"/>
          </a:xfrm>
          <a:prstGeom prst="rect">
            <a:avLst/>
          </a:prstGeom>
          <a:noFill/>
          <a:ln/>
        </p:spPr>
        <p:txBody>
          <a:bodyPr wrap="square" lIns="0" tIns="0" rIns="0" bIns="0" rtlCol="0" anchor="t"/>
          <a:lstStyle/>
          <a:p>
            <a:pPr indent="0" marL="0">
              <a:buNone/>
            </a:pPr>
            <a:r>
              <a:rPr lang="en-US" sz="1500" dirty="0">
                <a:solidFill>
                  <a:srgbClr val="4A5875"/>
                </a:solidFill>
                <a:latin typeface="Calibri" pitchFamily="34" charset="0"/>
                <a:ea typeface="Calibri" pitchFamily="34" charset="-122"/>
                <a:cs typeface="Calibri" pitchFamily="34" charset="-120"/>
              </a:rPr>
              <a:t>facts verifiably kept in the rewrite</a:t>
            </a:r>
            <a:endParaRPr lang="en-US" sz="1500" dirty="0"/>
          </a:p>
        </p:txBody>
      </p:sp>
      <p:sp>
        <p:nvSpPr>
          <p:cNvPr id="27" name="tile-2"/>
          <p:cNvSpPr/>
          <p:nvPr/>
        </p:nvSpPr>
        <p:spPr>
          <a:xfrm>
            <a:off x="731520" y="4206240"/>
            <a:ext cx="3520440" cy="2011680"/>
          </a:xfrm>
          <a:prstGeom prst="roundRect">
            <a:avLst>
              <a:gd name="adj" fmla="val 9091"/>
            </a:avLst>
          </a:prstGeom>
          <a:solidFill>
            <a:srgbClr val="FFFFFF"/>
          </a:solidFill>
          <a:ln w="12700">
            <a:solidFill>
              <a:srgbClr val="D3DEDC"/>
            </a:solidFill>
            <a:prstDash val="solid"/>
          </a:ln>
        </p:spPr>
      </p:sp>
      <p:sp>
        <p:nvSpPr>
          <p:cNvPr id="28" name="tile-v-2"/>
          <p:cNvSpPr txBox="1"/>
          <p:nvPr/>
        </p:nvSpPr>
        <p:spPr>
          <a:xfrm>
            <a:off x="1005840" y="4407408"/>
            <a:ext cx="3017520" cy="868680"/>
          </a:xfrm>
          <a:prstGeom prst="rect">
            <a:avLst/>
          </a:prstGeom>
          <a:noFill/>
          <a:ln/>
        </p:spPr>
        <p:txBody>
          <a:bodyPr wrap="square" lIns="0" tIns="0" rIns="0" bIns="0" rtlCol="0" anchor="ctr"/>
          <a:lstStyle/>
          <a:p>
            <a:pPr indent="0" marL="0">
              <a:buNone/>
            </a:pPr>
            <a:r>
              <a:rPr lang="en-US" sz="4000" b="1" dirty="0">
                <a:solidFill>
                  <a:srgbClr val="1C3EA6"/>
                </a:solidFill>
                <a:latin typeface="Century Gothic" pitchFamily="34" charset="0"/>
                <a:ea typeface="Century Gothic" pitchFamily="34" charset="-122"/>
                <a:cs typeface="Century Gothic" pitchFamily="34" charset="-120"/>
              </a:rPr>
              <a:t>11.0 → 6.3</a:t>
            </a:r>
            <a:endParaRPr lang="en-US" sz="4000" dirty="0"/>
          </a:p>
        </p:txBody>
      </p:sp>
      <p:sp>
        <p:nvSpPr>
          <p:cNvPr id="29" name="tile-l-2"/>
          <p:cNvSpPr txBox="1"/>
          <p:nvPr/>
        </p:nvSpPr>
        <p:spPr>
          <a:xfrm>
            <a:off x="1005840" y="5349240"/>
            <a:ext cx="3017520" cy="685800"/>
          </a:xfrm>
          <a:prstGeom prst="rect">
            <a:avLst/>
          </a:prstGeom>
          <a:noFill/>
          <a:ln/>
        </p:spPr>
        <p:txBody>
          <a:bodyPr wrap="square" lIns="0" tIns="0" rIns="0" bIns="0" rtlCol="0" anchor="t"/>
          <a:lstStyle/>
          <a:p>
            <a:pPr indent="0" marL="0">
              <a:buNone/>
            </a:pPr>
            <a:r>
              <a:rPr lang="en-US" sz="1500" dirty="0">
                <a:solidFill>
                  <a:srgbClr val="4A5875"/>
                </a:solidFill>
                <a:latin typeface="Calibri" pitchFamily="34" charset="0"/>
                <a:ea typeface="Calibri" pitchFamily="34" charset="-122"/>
                <a:cs typeface="Calibri" pitchFamily="34" charset="-120"/>
              </a:rPr>
              <a:t>reading grade, original → Easier</a:t>
            </a:r>
            <a:endParaRPr lang="en-US" sz="1500" dirty="0"/>
          </a:p>
        </p:txBody>
      </p:sp>
      <p:sp>
        <p:nvSpPr>
          <p:cNvPr id="30" name="tile-3"/>
          <p:cNvSpPr/>
          <p:nvPr/>
        </p:nvSpPr>
        <p:spPr>
          <a:xfrm>
            <a:off x="4480560" y="4206240"/>
            <a:ext cx="3520440" cy="2011680"/>
          </a:xfrm>
          <a:prstGeom prst="roundRect">
            <a:avLst>
              <a:gd name="adj" fmla="val 9091"/>
            </a:avLst>
          </a:prstGeom>
          <a:solidFill>
            <a:srgbClr val="FFFFFF"/>
          </a:solidFill>
          <a:ln w="12700">
            <a:solidFill>
              <a:srgbClr val="D3DEDC"/>
            </a:solidFill>
            <a:prstDash val="solid"/>
          </a:ln>
        </p:spPr>
      </p:sp>
      <p:sp>
        <p:nvSpPr>
          <p:cNvPr id="31" name="tile-v-3"/>
          <p:cNvSpPr txBox="1"/>
          <p:nvPr/>
        </p:nvSpPr>
        <p:spPr>
          <a:xfrm>
            <a:off x="4754880" y="4407408"/>
            <a:ext cx="2103120" cy="868680"/>
          </a:xfrm>
          <a:prstGeom prst="rect">
            <a:avLst/>
          </a:prstGeom>
          <a:noFill/>
          <a:ln/>
        </p:spPr>
        <p:txBody>
          <a:bodyPr wrap="square" lIns="0" tIns="0" rIns="0" bIns="0" rtlCol="0" anchor="ctr"/>
          <a:lstStyle/>
          <a:p>
            <a:pPr indent="0" marL="0">
              <a:buNone/>
            </a:pPr>
            <a:r>
              <a:rPr lang="en-US" sz="3200" b="1" dirty="0">
                <a:solidFill>
                  <a:srgbClr val="0B8F8F"/>
                </a:solidFill>
                <a:latin typeface="Century Gothic" pitchFamily="34" charset="0"/>
                <a:ea typeface="Century Gothic" pitchFamily="34" charset="-122"/>
                <a:cs typeface="Century Gothic" pitchFamily="34" charset="-120"/>
              </a:rPr>
              <a:t>99.98%</a:t>
            </a:r>
            <a:endParaRPr lang="en-US" sz="3200" dirty="0"/>
          </a:p>
        </p:txBody>
      </p:sp>
      <p:sp>
        <p:nvSpPr>
          <p:cNvPr id="32" name="tile-l-3"/>
          <p:cNvSpPr txBox="1"/>
          <p:nvPr/>
        </p:nvSpPr>
        <p:spPr>
          <a:xfrm>
            <a:off x="4754880" y="5349240"/>
            <a:ext cx="2103120" cy="685800"/>
          </a:xfrm>
          <a:prstGeom prst="rect">
            <a:avLst/>
          </a:prstGeom>
          <a:noFill/>
          <a:ln/>
        </p:spPr>
        <p:txBody>
          <a:bodyPr wrap="square" lIns="0" tIns="0" rIns="0" bIns="0" rtlCol="0" anchor="t"/>
          <a:lstStyle/>
          <a:p>
            <a:pPr indent="0" marL="0">
              <a:buNone/>
            </a:pPr>
            <a:r>
              <a:rPr lang="en-US" sz="1500" dirty="0">
                <a:solidFill>
                  <a:srgbClr val="4A5875"/>
                </a:solidFill>
                <a:latin typeface="Calibri" pitchFamily="34" charset="0"/>
                <a:ea typeface="Calibri" pitchFamily="34" charset="-122"/>
                <a:cs typeface="Calibri" pitchFamily="34" charset="-120"/>
              </a:rPr>
              <a:t>page reading, even on this hard photo</a:t>
            </a:r>
            <a:endParaRPr lang="en-US" sz="1500" dirty="0"/>
          </a:p>
        </p:txBody>
      </p:sp>
      <p:pic>
        <p:nvPicPr>
          <p:cNvPr id="33" name="hard-photo" descr="C:\Users\rahee\AppData\Local\Temp\claude\C--Users-rahee-Desktop-AICon\b0d77b2b-594c-418c-bce0-e4f2d230c288\scratchpad\deck-assets\hard.jpg">    </p:cNvPr>
          <p:cNvPicPr>
            <a:picLocks noChangeAspect="1"/>
          </p:cNvPicPr>
          <p:nvPr/>
        </p:nvPicPr>
        <p:blipFill>
          <a:blip r:embed="rId1"/>
          <a:stretch>
            <a:fillRect/>
          </a:stretch>
        </p:blipFill>
        <p:spPr>
          <a:xfrm>
            <a:off x="6967728" y="4462272"/>
            <a:ext cx="822960" cy="1078992"/>
          </a:xfrm>
          <a:prstGeom prst="rect">
            <a:avLst/>
          </a:prstGeom>
        </p:spPr>
      </p:pic>
      <p:sp>
        <p:nvSpPr>
          <p:cNvPr id="34" name="tile-4"/>
          <p:cNvSpPr/>
          <p:nvPr/>
        </p:nvSpPr>
        <p:spPr>
          <a:xfrm>
            <a:off x="8229600" y="4206240"/>
            <a:ext cx="3520440" cy="2011680"/>
          </a:xfrm>
          <a:prstGeom prst="roundRect">
            <a:avLst>
              <a:gd name="adj" fmla="val 9091"/>
            </a:avLst>
          </a:prstGeom>
          <a:solidFill>
            <a:srgbClr val="FFFFFF"/>
          </a:solidFill>
          <a:ln w="12700">
            <a:solidFill>
              <a:srgbClr val="D3DEDC"/>
            </a:solidFill>
            <a:prstDash val="solid"/>
          </a:ln>
        </p:spPr>
      </p:sp>
      <p:sp>
        <p:nvSpPr>
          <p:cNvPr id="35" name="tile-v-4"/>
          <p:cNvSpPr txBox="1"/>
          <p:nvPr/>
        </p:nvSpPr>
        <p:spPr>
          <a:xfrm>
            <a:off x="8503920" y="4407408"/>
            <a:ext cx="3017520" cy="868680"/>
          </a:xfrm>
          <a:prstGeom prst="rect">
            <a:avLst/>
          </a:prstGeom>
          <a:noFill/>
          <a:ln/>
        </p:spPr>
        <p:txBody>
          <a:bodyPr wrap="square" lIns="0" tIns="0" rIns="0" bIns="0" rtlCol="0" anchor="ctr"/>
          <a:lstStyle/>
          <a:p>
            <a:pPr indent="0" marL="0">
              <a:buNone/>
            </a:pPr>
            <a:r>
              <a:rPr lang="en-US" sz="4000" b="1" dirty="0">
                <a:solidFill>
                  <a:srgbClr val="0D1B3E"/>
                </a:solidFill>
                <a:latin typeface="Century Gothic" pitchFamily="34" charset="0"/>
                <a:ea typeface="Century Gothic" pitchFamily="34" charset="-122"/>
                <a:cs typeface="Century Gothic" pitchFamily="34" charset="-120"/>
              </a:rPr>
              <a:t>26 s</a:t>
            </a:r>
            <a:endParaRPr lang="en-US" sz="4000" dirty="0"/>
          </a:p>
        </p:txBody>
      </p:sp>
      <p:sp>
        <p:nvSpPr>
          <p:cNvPr id="36" name="tile-l-4"/>
          <p:cNvSpPr txBox="1"/>
          <p:nvPr/>
        </p:nvSpPr>
        <p:spPr>
          <a:xfrm>
            <a:off x="8503920" y="5349240"/>
            <a:ext cx="3017520" cy="685800"/>
          </a:xfrm>
          <a:prstGeom prst="rect">
            <a:avLst/>
          </a:prstGeom>
          <a:noFill/>
          <a:ln/>
        </p:spPr>
        <p:txBody>
          <a:bodyPr wrap="square" lIns="0" tIns="0" rIns="0" bIns="0" rtlCol="0" anchor="t"/>
          <a:lstStyle/>
          <a:p>
            <a:pPr indent="0" marL="0">
              <a:buNone/>
            </a:pPr>
            <a:r>
              <a:rPr lang="en-US" sz="1500" dirty="0">
                <a:solidFill>
                  <a:srgbClr val="4A5875"/>
                </a:solidFill>
                <a:latin typeface="Calibri" pitchFamily="34" charset="0"/>
                <a:ea typeface="Calibri" pitchFamily="34" charset="-122"/>
                <a:cs typeface="Calibri" pitchFamily="34" charset="-120"/>
              </a:rPr>
              <a:t>to make a lesson, on free tiers</a:t>
            </a:r>
            <a:endParaRPr lang="en-US" sz="1500" dirty="0"/>
          </a:p>
        </p:txBody>
      </p:sp>
      <p:sp>
        <p:nvSpPr>
          <p:cNvPr id="37" name="source"/>
          <p:cNvSpPr txBox="1"/>
          <p:nvPr/>
        </p:nvSpPr>
        <p:spPr>
          <a:xfrm>
            <a:off x="731520" y="6355080"/>
            <a:ext cx="9052560" cy="274320"/>
          </a:xfrm>
          <a:prstGeom prst="rect">
            <a:avLst/>
          </a:prstGeom>
          <a:noFill/>
          <a:ln/>
        </p:spPr>
        <p:txBody>
          <a:bodyPr wrap="square" lIns="0" tIns="0" rIns="0" bIns="0" rtlCol="0" anchor="ctr"/>
          <a:lstStyle/>
          <a:p>
            <a:pPr indent="0" marL="0">
              <a:buNone/>
            </a:pPr>
            <a:r>
              <a:rPr lang="en-US" sz="1100" i="1" dirty="0">
                <a:solidFill>
                  <a:srgbClr val="4A5875"/>
                </a:solidFill>
                <a:latin typeface="Calibri" pitchFamily="34" charset="0"/>
                <a:ea typeface="Calibri" pitchFamily="34" charset="-122"/>
                <a:cs typeface="Calibri" pitchFamily="34" charset="-120"/>
              </a:rPr>
              <a:t>OpenStax textbook pages (CC BY 4.0) · every number comes from a script in our repo’s eval/ folder · synthetic test data is labelled</a:t>
            </a:r>
            <a:endParaRPr lang="en-US" sz="1100" dirty="0"/>
          </a:p>
        </p:txBody>
      </p:sp>
      <p:sp>
        <p:nvSpPr>
          <p:cNvPr id="38" name="!!dot-0"/>
          <p:cNvSpPr/>
          <p:nvPr/>
        </p:nvSpPr>
        <p:spPr>
          <a:xfrm>
            <a:off x="10012680" y="6400800"/>
            <a:ext cx="100584" cy="100584"/>
          </a:xfrm>
          <a:prstGeom prst="ellipse">
            <a:avLst/>
          </a:prstGeom>
          <a:solidFill>
            <a:srgbClr val="C3CDDD"/>
          </a:solidFill>
          <a:ln w="12700">
            <a:solidFill>
              <a:srgbClr val="C3CDDD"/>
            </a:solidFill>
            <a:prstDash val="solid"/>
          </a:ln>
        </p:spPr>
      </p:sp>
      <p:sp>
        <p:nvSpPr>
          <p:cNvPr id="39" name="!!dot-1"/>
          <p:cNvSpPr/>
          <p:nvPr/>
        </p:nvSpPr>
        <p:spPr>
          <a:xfrm>
            <a:off x="10250424" y="6400800"/>
            <a:ext cx="100584" cy="100584"/>
          </a:xfrm>
          <a:prstGeom prst="ellipse">
            <a:avLst/>
          </a:prstGeom>
          <a:solidFill>
            <a:srgbClr val="C3CDDD"/>
          </a:solidFill>
          <a:ln w="12700">
            <a:solidFill>
              <a:srgbClr val="C3CDDD"/>
            </a:solidFill>
            <a:prstDash val="solid"/>
          </a:ln>
        </p:spPr>
      </p:sp>
      <p:sp>
        <p:nvSpPr>
          <p:cNvPr id="40" name="!!dot-2"/>
          <p:cNvSpPr/>
          <p:nvPr/>
        </p:nvSpPr>
        <p:spPr>
          <a:xfrm>
            <a:off x="10488168" y="6400800"/>
            <a:ext cx="100584" cy="100584"/>
          </a:xfrm>
          <a:prstGeom prst="ellipse">
            <a:avLst/>
          </a:prstGeom>
          <a:solidFill>
            <a:srgbClr val="C3CDDD"/>
          </a:solidFill>
          <a:ln w="12700">
            <a:solidFill>
              <a:srgbClr val="C3CDDD"/>
            </a:solidFill>
            <a:prstDash val="solid"/>
          </a:ln>
        </p:spPr>
      </p:sp>
      <p:sp>
        <p:nvSpPr>
          <p:cNvPr id="41" name="!!dot-3"/>
          <p:cNvSpPr/>
          <p:nvPr/>
        </p:nvSpPr>
        <p:spPr>
          <a:xfrm>
            <a:off x="10725912" y="6400800"/>
            <a:ext cx="100584" cy="100584"/>
          </a:xfrm>
          <a:prstGeom prst="ellipse">
            <a:avLst/>
          </a:prstGeom>
          <a:solidFill>
            <a:srgbClr val="C3CDDD"/>
          </a:solidFill>
          <a:ln w="12700">
            <a:solidFill>
              <a:srgbClr val="C3CDDD"/>
            </a:solidFill>
            <a:prstDash val="solid"/>
          </a:ln>
        </p:spPr>
      </p:sp>
      <p:sp>
        <p:nvSpPr>
          <p:cNvPr id="42" name="!!dot-4"/>
          <p:cNvSpPr/>
          <p:nvPr/>
        </p:nvSpPr>
        <p:spPr>
          <a:xfrm>
            <a:off x="10963656" y="6400800"/>
            <a:ext cx="100584" cy="100584"/>
          </a:xfrm>
          <a:prstGeom prst="ellipse">
            <a:avLst/>
          </a:prstGeom>
          <a:solidFill>
            <a:srgbClr val="C3CDDD"/>
          </a:solidFill>
          <a:ln w="12700">
            <a:solidFill>
              <a:srgbClr val="C3CDDD"/>
            </a:solidFill>
            <a:prstDash val="solid"/>
          </a:ln>
        </p:spPr>
      </p:sp>
      <p:sp>
        <p:nvSpPr>
          <p:cNvPr id="43" name="!!dot-5"/>
          <p:cNvSpPr/>
          <p:nvPr/>
        </p:nvSpPr>
        <p:spPr>
          <a:xfrm>
            <a:off x="11201400" y="6400800"/>
            <a:ext cx="100584" cy="100584"/>
          </a:xfrm>
          <a:prstGeom prst="ellipse">
            <a:avLst/>
          </a:prstGeom>
          <a:solidFill>
            <a:srgbClr val="C3CDDD"/>
          </a:solidFill>
          <a:ln w="12700">
            <a:solidFill>
              <a:srgbClr val="C3CDDD"/>
            </a:solidFill>
            <a:prstDash val="solid"/>
          </a:ln>
        </p:spPr>
      </p:sp>
      <p:sp>
        <p:nvSpPr>
          <p:cNvPr id="44" name="!!dot-6"/>
          <p:cNvSpPr/>
          <p:nvPr/>
        </p:nvSpPr>
        <p:spPr>
          <a:xfrm>
            <a:off x="11439144" y="6400800"/>
            <a:ext cx="155448" cy="155448"/>
          </a:xfrm>
          <a:prstGeom prst="ellipse">
            <a:avLst/>
          </a:prstGeom>
          <a:solidFill>
            <a:srgbClr val="F2A40E"/>
          </a:solidFill>
          <a:ln w="12700">
            <a:solidFill>
              <a:srgbClr val="F2A40E"/>
            </a:solidFill>
            <a:prstDash val="solid"/>
          </a:ln>
        </p:spPr>
      </p:sp>
      <p:sp>
        <p:nvSpPr>
          <p:cNvPr id="45" name="!!dot-7"/>
          <p:cNvSpPr/>
          <p:nvPr/>
        </p:nvSpPr>
        <p:spPr>
          <a:xfrm>
            <a:off x="11676888" y="6400800"/>
            <a:ext cx="100584" cy="100584"/>
          </a:xfrm>
          <a:prstGeom prst="ellipse">
            <a:avLst/>
          </a:prstGeom>
          <a:solidFill>
            <a:srgbClr val="C3CDDD"/>
          </a:solidFill>
          <a:ln w="12700">
            <a:solidFill>
              <a:srgbClr val="C3CDDD"/>
            </a:solidFill>
            <a:prstDash val="solid"/>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B3E"/>
        </a:solidFill>
      </p:bgPr>
    </p:bg>
    <p:spTree>
      <p:nvGrpSpPr>
        <p:cNvPr id="1" name=""/>
        <p:cNvGrpSpPr/>
        <p:nvPr/>
      </p:nvGrpSpPr>
      <p:grpSpPr>
        <a:xfrm>
          <a:off x="0" y="0"/>
          <a:ext cx="0" cy="0"/>
          <a:chOff x="0" y="0"/>
          <a:chExt cx="0" cy="0"/>
        </a:xfrm>
      </p:grpSpPr>
      <p:sp>
        <p:nvSpPr>
          <p:cNvPr id="2" name="!!panel"/>
          <p:cNvSpPr/>
          <p:nvPr/>
        </p:nvSpPr>
        <p:spPr>
          <a:xfrm>
            <a:off x="0" y="0"/>
            <a:ext cx="12191695" cy="6858000"/>
          </a:xfrm>
          <a:prstGeom prst="roundRect">
            <a:avLst/>
          </a:prstGeom>
          <a:solidFill>
            <a:srgbClr val="0D1B3E"/>
          </a:solidFill>
          <a:ln w="12700">
            <a:solidFill>
              <a:srgbClr val="0D1B3E"/>
            </a:solidFill>
            <a:prstDash val="solid"/>
          </a:ln>
        </p:spPr>
      </p:sp>
      <p:sp>
        <p:nvSpPr>
          <p:cNvPr id="3" name="!!ray-0"/>
          <p:cNvSpPr/>
          <p:nvPr/>
        </p:nvSpPr>
        <p:spPr>
          <a:xfrm>
            <a:off x="10730484" y="3154680"/>
            <a:ext cx="704088" cy="914"/>
          </a:xfrm>
          <a:prstGeom prst="line">
            <a:avLst/>
          </a:prstGeom>
          <a:noFill/>
          <a:ln w="36322">
            <a:solidFill>
              <a:srgbClr val="F2A40E"/>
            </a:solidFill>
            <a:prstDash val="solid"/>
          </a:ln>
        </p:spPr>
      </p:sp>
      <p:sp>
        <p:nvSpPr>
          <p:cNvPr id="4" name="!!ray-1"/>
          <p:cNvSpPr/>
          <p:nvPr/>
        </p:nvSpPr>
        <p:spPr>
          <a:xfrm>
            <a:off x="10548562" y="3833622"/>
            <a:ext cx="609758" cy="352044"/>
          </a:xfrm>
          <a:prstGeom prst="line">
            <a:avLst/>
          </a:prstGeom>
          <a:noFill/>
          <a:ln w="36322">
            <a:solidFill>
              <a:srgbClr val="F2A40E">
                <a:alpha val="55000"/>
              </a:srgbClr>
            </a:solidFill>
            <a:prstDash val="solid"/>
          </a:ln>
        </p:spPr>
      </p:sp>
      <p:sp>
        <p:nvSpPr>
          <p:cNvPr id="5" name="!!ray-2"/>
          <p:cNvSpPr/>
          <p:nvPr/>
        </p:nvSpPr>
        <p:spPr>
          <a:xfrm>
            <a:off x="10051542" y="4330642"/>
            <a:ext cx="352044" cy="609758"/>
          </a:xfrm>
          <a:prstGeom prst="line">
            <a:avLst/>
          </a:prstGeom>
          <a:noFill/>
          <a:ln w="36322">
            <a:solidFill>
              <a:srgbClr val="F2A40E"/>
            </a:solidFill>
            <a:prstDash val="solid"/>
          </a:ln>
        </p:spPr>
      </p:sp>
      <p:sp>
        <p:nvSpPr>
          <p:cNvPr id="6" name="!!ray-3"/>
          <p:cNvSpPr/>
          <p:nvPr/>
        </p:nvSpPr>
        <p:spPr>
          <a:xfrm>
            <a:off x="9372600" y="4512564"/>
            <a:ext cx="914" cy="704088"/>
          </a:xfrm>
          <a:prstGeom prst="line">
            <a:avLst/>
          </a:prstGeom>
          <a:noFill/>
          <a:ln w="36322">
            <a:solidFill>
              <a:srgbClr val="F2A40E">
                <a:alpha val="55000"/>
              </a:srgbClr>
            </a:solidFill>
            <a:prstDash val="solid"/>
          </a:ln>
        </p:spPr>
      </p:sp>
      <p:sp>
        <p:nvSpPr>
          <p:cNvPr id="7" name="!!ray-4"/>
          <p:cNvSpPr/>
          <p:nvPr/>
        </p:nvSpPr>
        <p:spPr>
          <a:xfrm flipH="1">
            <a:off x="8341614" y="4330642"/>
            <a:ext cx="352044" cy="609758"/>
          </a:xfrm>
          <a:prstGeom prst="line">
            <a:avLst/>
          </a:prstGeom>
          <a:noFill/>
          <a:ln w="36322">
            <a:solidFill>
              <a:srgbClr val="F2A40E"/>
            </a:solidFill>
            <a:prstDash val="solid"/>
          </a:ln>
        </p:spPr>
      </p:sp>
      <p:sp>
        <p:nvSpPr>
          <p:cNvPr id="8" name="!!ray-5"/>
          <p:cNvSpPr/>
          <p:nvPr/>
        </p:nvSpPr>
        <p:spPr>
          <a:xfrm flipH="1">
            <a:off x="7586880" y="3833622"/>
            <a:ext cx="609758" cy="352044"/>
          </a:xfrm>
          <a:prstGeom prst="line">
            <a:avLst/>
          </a:prstGeom>
          <a:noFill/>
          <a:ln w="36322">
            <a:solidFill>
              <a:srgbClr val="F2A40E">
                <a:alpha val="55000"/>
              </a:srgbClr>
            </a:solidFill>
            <a:prstDash val="solid"/>
          </a:ln>
        </p:spPr>
      </p:sp>
      <p:sp>
        <p:nvSpPr>
          <p:cNvPr id="9" name="!!ray-6"/>
          <p:cNvSpPr/>
          <p:nvPr/>
        </p:nvSpPr>
        <p:spPr>
          <a:xfrm flipH="1">
            <a:off x="7310628" y="3154680"/>
            <a:ext cx="704088" cy="914"/>
          </a:xfrm>
          <a:prstGeom prst="line">
            <a:avLst/>
          </a:prstGeom>
          <a:noFill/>
          <a:ln w="36322">
            <a:solidFill>
              <a:srgbClr val="F2A40E"/>
            </a:solidFill>
            <a:prstDash val="solid"/>
          </a:ln>
        </p:spPr>
      </p:sp>
      <p:sp>
        <p:nvSpPr>
          <p:cNvPr id="10" name="!!ray-7"/>
          <p:cNvSpPr/>
          <p:nvPr/>
        </p:nvSpPr>
        <p:spPr>
          <a:xfrm flipH="1" flipV="1">
            <a:off x="7586880" y="2123694"/>
            <a:ext cx="609758" cy="352044"/>
          </a:xfrm>
          <a:prstGeom prst="line">
            <a:avLst/>
          </a:prstGeom>
          <a:noFill/>
          <a:ln w="36322">
            <a:solidFill>
              <a:srgbClr val="F2A40E">
                <a:alpha val="55000"/>
              </a:srgbClr>
            </a:solidFill>
            <a:prstDash val="solid"/>
          </a:ln>
        </p:spPr>
      </p:sp>
      <p:sp>
        <p:nvSpPr>
          <p:cNvPr id="11" name="!!ray-8"/>
          <p:cNvSpPr/>
          <p:nvPr/>
        </p:nvSpPr>
        <p:spPr>
          <a:xfrm flipH="1" flipV="1">
            <a:off x="8341614" y="1368960"/>
            <a:ext cx="352044" cy="609758"/>
          </a:xfrm>
          <a:prstGeom prst="line">
            <a:avLst/>
          </a:prstGeom>
          <a:noFill/>
          <a:ln w="36322">
            <a:solidFill>
              <a:srgbClr val="F2A40E"/>
            </a:solidFill>
            <a:prstDash val="solid"/>
          </a:ln>
        </p:spPr>
      </p:sp>
      <p:sp>
        <p:nvSpPr>
          <p:cNvPr id="12" name="!!ray-9"/>
          <p:cNvSpPr/>
          <p:nvPr/>
        </p:nvSpPr>
        <p:spPr>
          <a:xfrm flipH="1" flipV="1">
            <a:off x="9372600" y="1092708"/>
            <a:ext cx="914" cy="704088"/>
          </a:xfrm>
          <a:prstGeom prst="line">
            <a:avLst/>
          </a:prstGeom>
          <a:noFill/>
          <a:ln w="36322">
            <a:solidFill>
              <a:srgbClr val="F2A40E">
                <a:alpha val="55000"/>
              </a:srgbClr>
            </a:solidFill>
            <a:prstDash val="solid"/>
          </a:ln>
        </p:spPr>
      </p:sp>
      <p:sp>
        <p:nvSpPr>
          <p:cNvPr id="13" name="!!ray-10"/>
          <p:cNvSpPr/>
          <p:nvPr/>
        </p:nvSpPr>
        <p:spPr>
          <a:xfrm flipV="1">
            <a:off x="10051542" y="1368960"/>
            <a:ext cx="352044" cy="609758"/>
          </a:xfrm>
          <a:prstGeom prst="line">
            <a:avLst/>
          </a:prstGeom>
          <a:noFill/>
          <a:ln w="36322">
            <a:solidFill>
              <a:srgbClr val="F2A40E"/>
            </a:solidFill>
            <a:prstDash val="solid"/>
          </a:ln>
        </p:spPr>
      </p:sp>
      <p:sp>
        <p:nvSpPr>
          <p:cNvPr id="14" name="!!ray-11"/>
          <p:cNvSpPr/>
          <p:nvPr/>
        </p:nvSpPr>
        <p:spPr>
          <a:xfrm flipV="1">
            <a:off x="10548562" y="2123694"/>
            <a:ext cx="609758" cy="352044"/>
          </a:xfrm>
          <a:prstGeom prst="line">
            <a:avLst/>
          </a:prstGeom>
          <a:noFill/>
          <a:ln w="36322">
            <a:solidFill>
              <a:srgbClr val="F2A40E">
                <a:alpha val="55000"/>
              </a:srgbClr>
            </a:solidFill>
            <a:prstDash val="solid"/>
          </a:ln>
        </p:spPr>
      </p:sp>
      <p:sp>
        <p:nvSpPr>
          <p:cNvPr id="15" name="!!ring"/>
          <p:cNvSpPr/>
          <p:nvPr/>
        </p:nvSpPr>
        <p:spPr>
          <a:xfrm>
            <a:off x="8366760" y="2148840"/>
            <a:ext cx="2011680" cy="2011680"/>
          </a:xfrm>
          <a:prstGeom prst="ellipse">
            <a:avLst/>
          </a:prstGeom>
          <a:solidFill>
            <a:srgbClr val="1C3EA6"/>
          </a:solidFill>
          <a:ln w="27940">
            <a:solidFill>
              <a:srgbClr val="FFFFFF"/>
            </a:solidFill>
            <a:prstDash val="solid"/>
          </a:ln>
        </p:spPr>
      </p:sp>
      <p:sp>
        <p:nvSpPr>
          <p:cNvPr id="16" name="!!flame"/>
          <p:cNvSpPr/>
          <p:nvPr/>
        </p:nvSpPr>
        <p:spPr>
          <a:xfrm>
            <a:off x="8950147" y="2732227"/>
            <a:ext cx="844906" cy="844906"/>
          </a:xfrm>
          <a:prstGeom prst="ellipse">
            <a:avLst/>
          </a:prstGeom>
          <a:solidFill>
            <a:srgbClr val="F2A40E"/>
          </a:solidFill>
          <a:ln w="12700">
            <a:solidFill>
              <a:srgbClr val="F2A40E"/>
            </a:solidFill>
            <a:prstDash val="solid"/>
          </a:ln>
        </p:spPr>
      </p:sp>
      <p:sp>
        <p:nvSpPr>
          <p:cNvPr id="17" name="!!kicker"/>
          <p:cNvSpPr txBox="1"/>
          <p:nvPr/>
        </p:nvSpPr>
        <p:spPr>
          <a:xfrm>
            <a:off x="731520" y="594360"/>
            <a:ext cx="8229600" cy="320040"/>
          </a:xfrm>
          <a:prstGeom prst="rect">
            <a:avLst/>
          </a:prstGeom>
          <a:noFill/>
          <a:ln/>
        </p:spPr>
        <p:txBody>
          <a:bodyPr wrap="square" lIns="0" tIns="0" rIns="0" bIns="0" rtlCol="0" anchor="ctr"/>
          <a:lstStyle/>
          <a:p>
            <a:pPr indent="0" marL="0">
              <a:buNone/>
            </a:pPr>
            <a:r>
              <a:rPr lang="en-US" sz="1300" b="1" spc="300" kern="0" dirty="0">
                <a:solidFill>
                  <a:srgbClr val="F2A40E"/>
                </a:solidFill>
                <a:latin typeface="Calibri" pitchFamily="34" charset="0"/>
                <a:ea typeface="Calibri" pitchFamily="34" charset="-122"/>
                <a:cs typeface="Calibri" pitchFamily="34" charset="-120"/>
              </a:rPr>
              <a:t>07 · WHO ADOPTS IT, AND WHAT WE BUILT</a:t>
            </a:r>
            <a:endParaRPr lang="en-US" sz="1300" dirty="0"/>
          </a:p>
        </p:txBody>
      </p:sp>
      <p:sp>
        <p:nvSpPr>
          <p:cNvPr id="18" name="!!title"/>
          <p:cNvSpPr txBox="1"/>
          <p:nvPr/>
        </p:nvSpPr>
        <p:spPr>
          <a:xfrm>
            <a:off x="731520" y="960120"/>
            <a:ext cx="6949440" cy="914400"/>
          </a:xfrm>
          <a:prstGeom prst="rect">
            <a:avLst/>
          </a:prstGeom>
          <a:noFill/>
          <a:ln/>
        </p:spPr>
        <p:txBody>
          <a:bodyPr wrap="square" lIns="0" tIns="0" rIns="0" bIns="0" rtlCol="0" anchor="t"/>
          <a:lstStyle/>
          <a:p>
            <a:pPr indent="0" marL="0">
              <a:buNone/>
            </a:pPr>
            <a:r>
              <a:rPr lang="en-US" sz="4000" b="1" dirty="0">
                <a:solidFill>
                  <a:srgbClr val="FFFFFF"/>
                </a:solidFill>
                <a:latin typeface="Century Gothic" pitchFamily="34" charset="0"/>
                <a:ea typeface="Century Gothic" pitchFamily="34" charset="-122"/>
                <a:cs typeface="Century Gothic" pitchFamily="34" charset="-120"/>
              </a:rPr>
              <a:t>One page. Every learner.</a:t>
            </a:r>
            <a:endParaRPr lang="en-US" sz="4000" dirty="0"/>
          </a:p>
        </p:txBody>
      </p:sp>
      <p:sp>
        <p:nvSpPr>
          <p:cNvPr id="19" name="ad-dot-0"/>
          <p:cNvSpPr/>
          <p:nvPr/>
        </p:nvSpPr>
        <p:spPr>
          <a:xfrm>
            <a:off x="749808" y="2267712"/>
            <a:ext cx="146304" cy="146304"/>
          </a:xfrm>
          <a:prstGeom prst="ellipse">
            <a:avLst/>
          </a:prstGeom>
          <a:solidFill>
            <a:srgbClr val="F2A40E"/>
          </a:solidFill>
          <a:ln w="12700">
            <a:solidFill>
              <a:srgbClr val="F2A40E"/>
            </a:solidFill>
            <a:prstDash val="solid"/>
          </a:ln>
        </p:spPr>
      </p:sp>
      <p:sp>
        <p:nvSpPr>
          <p:cNvPr id="20" name="ad-0"/>
          <p:cNvSpPr txBox="1"/>
          <p:nvPr/>
        </p:nvSpPr>
        <p:spPr>
          <a:xfrm>
            <a:off x="1051560" y="2148840"/>
            <a:ext cx="6217920" cy="384048"/>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Special-education schools and inclusive-education NGOs</a:t>
            </a:r>
            <a:endParaRPr lang="en-US" sz="1800" dirty="0"/>
          </a:p>
        </p:txBody>
      </p:sp>
      <p:sp>
        <p:nvSpPr>
          <p:cNvPr id="21" name="ad-dot-1"/>
          <p:cNvSpPr/>
          <p:nvPr/>
        </p:nvSpPr>
        <p:spPr>
          <a:xfrm>
            <a:off x="749808" y="2816352"/>
            <a:ext cx="146304" cy="146304"/>
          </a:xfrm>
          <a:prstGeom prst="ellipse">
            <a:avLst/>
          </a:prstGeom>
          <a:solidFill>
            <a:srgbClr val="F2A40E"/>
          </a:solidFill>
          <a:ln w="12700">
            <a:solidFill>
              <a:srgbClr val="F2A40E"/>
            </a:solidFill>
            <a:prstDash val="solid"/>
          </a:ln>
        </p:spPr>
      </p:sp>
      <p:sp>
        <p:nvSpPr>
          <p:cNvPr id="22" name="ad-1"/>
          <p:cNvSpPr txBox="1"/>
          <p:nvPr/>
        </p:nvSpPr>
        <p:spPr>
          <a:xfrm>
            <a:off x="1051560" y="2697480"/>
            <a:ext cx="6217920" cy="384048"/>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Textbook boards and publishers making accessible editions</a:t>
            </a:r>
            <a:endParaRPr lang="en-US" sz="1800" dirty="0"/>
          </a:p>
        </p:txBody>
      </p:sp>
      <p:sp>
        <p:nvSpPr>
          <p:cNvPr id="23" name="ad-dot-2"/>
          <p:cNvSpPr/>
          <p:nvPr/>
        </p:nvSpPr>
        <p:spPr>
          <a:xfrm>
            <a:off x="749808" y="3364992"/>
            <a:ext cx="146304" cy="146304"/>
          </a:xfrm>
          <a:prstGeom prst="ellipse">
            <a:avLst/>
          </a:prstGeom>
          <a:solidFill>
            <a:srgbClr val="F2A40E"/>
          </a:solidFill>
          <a:ln w="12700">
            <a:solidFill>
              <a:srgbClr val="F2A40E"/>
            </a:solidFill>
            <a:prstDash val="solid"/>
          </a:ln>
        </p:spPr>
      </p:sp>
      <p:sp>
        <p:nvSpPr>
          <p:cNvPr id="24" name="ad-2"/>
          <p:cNvSpPr txBox="1"/>
          <p:nvPr/>
        </p:nvSpPr>
        <p:spPr>
          <a:xfrm>
            <a:off x="1051560" y="3246120"/>
            <a:ext cx="6217920" cy="384048"/>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School chains with Urdu- and Pashto-medium students</a:t>
            </a:r>
            <a:endParaRPr lang="en-US" sz="1800" dirty="0"/>
          </a:p>
        </p:txBody>
      </p:sp>
      <p:sp>
        <p:nvSpPr>
          <p:cNvPr id="25" name="ad-dot-3"/>
          <p:cNvSpPr/>
          <p:nvPr/>
        </p:nvSpPr>
        <p:spPr>
          <a:xfrm>
            <a:off x="749808" y="3913632"/>
            <a:ext cx="146304" cy="146304"/>
          </a:xfrm>
          <a:prstGeom prst="ellipse">
            <a:avLst/>
          </a:prstGeom>
          <a:solidFill>
            <a:srgbClr val="F2A40E"/>
          </a:solidFill>
          <a:ln w="12700">
            <a:solidFill>
              <a:srgbClr val="F2A40E"/>
            </a:solidFill>
            <a:prstDash val="solid"/>
          </a:ln>
        </p:spPr>
      </p:sp>
      <p:sp>
        <p:nvSpPr>
          <p:cNvPr id="26" name="ad-3"/>
          <p:cNvSpPr txBox="1"/>
          <p:nvPr/>
        </p:nvSpPr>
        <p:spPr>
          <a:xfrm>
            <a:off x="1051560" y="3794760"/>
            <a:ext cx="6217920" cy="384048"/>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Employers: accessible training manuals and safety notices</a:t>
            </a:r>
            <a:endParaRPr lang="en-US" sz="1800" dirty="0"/>
          </a:p>
        </p:txBody>
      </p:sp>
      <p:sp>
        <p:nvSpPr>
          <p:cNvPr id="27" name="chip-0"/>
          <p:cNvSpPr/>
          <p:nvPr/>
        </p:nvSpPr>
        <p:spPr>
          <a:xfrm>
            <a:off x="731520" y="4434840"/>
            <a:ext cx="2057400" cy="1005840"/>
          </a:xfrm>
          <a:prstGeom prst="roundRect">
            <a:avLst>
              <a:gd name="adj" fmla="val 14545"/>
            </a:avLst>
          </a:prstGeom>
          <a:solidFill>
            <a:srgbClr val="17285A"/>
          </a:solidFill>
          <a:ln w="12700">
            <a:solidFill>
              <a:srgbClr val="2A3A6E"/>
            </a:solidFill>
            <a:prstDash val="solid"/>
          </a:ln>
        </p:spPr>
      </p:sp>
      <p:sp>
        <p:nvSpPr>
          <p:cNvPr id="28" name="chip-a-0"/>
          <p:cNvSpPr txBox="1"/>
          <p:nvPr/>
        </p:nvSpPr>
        <p:spPr>
          <a:xfrm>
            <a:off x="914400" y="4526280"/>
            <a:ext cx="1737360" cy="411480"/>
          </a:xfrm>
          <a:prstGeom prst="rect">
            <a:avLst/>
          </a:prstGeom>
          <a:noFill/>
          <a:ln/>
        </p:spPr>
        <p:txBody>
          <a:bodyPr wrap="square" lIns="0" tIns="0" rIns="0" bIns="0" rtlCol="0" anchor="ctr"/>
          <a:lstStyle/>
          <a:p>
            <a:pPr indent="0" marL="0">
              <a:buNone/>
            </a:pPr>
            <a:r>
              <a:rPr lang="en-US" sz="2000" b="1" dirty="0">
                <a:solidFill>
                  <a:srgbClr val="F2A40E"/>
                </a:solidFill>
                <a:latin typeface="Century Gothic" pitchFamily="34" charset="0"/>
                <a:ea typeface="Century Gothic" pitchFamily="34" charset="-122"/>
                <a:cs typeface="Century Gothic" pitchFamily="34" charset="-120"/>
              </a:rPr>
              <a:t>PKR 0</a:t>
            </a:r>
            <a:endParaRPr lang="en-US" sz="2000" dirty="0"/>
          </a:p>
        </p:txBody>
      </p:sp>
      <p:sp>
        <p:nvSpPr>
          <p:cNvPr id="29" name="chip-b-0"/>
          <p:cNvSpPr txBox="1"/>
          <p:nvPr/>
        </p:nvSpPr>
        <p:spPr>
          <a:xfrm>
            <a:off x="914400" y="4937760"/>
            <a:ext cx="1737360" cy="411480"/>
          </a:xfrm>
          <a:prstGeom prst="rect">
            <a:avLst/>
          </a:prstGeom>
          <a:noFill/>
          <a:ln/>
        </p:spPr>
        <p:txBody>
          <a:bodyPr wrap="square" lIns="0" tIns="0" rIns="0" bIns="0" rtlCol="0" anchor="ctr"/>
          <a:lstStyle/>
          <a:p>
            <a:pPr indent="0" marL="0">
              <a:buNone/>
            </a:pPr>
            <a:r>
              <a:rPr lang="en-US" sz="1250" dirty="0">
                <a:solidFill>
                  <a:srgbClr val="C9D4F2"/>
                </a:solidFill>
                <a:latin typeface="Calibri" pitchFamily="34" charset="0"/>
                <a:ea typeface="Calibri" pitchFamily="34" charset="-122"/>
                <a:cs typeface="Calibri" pitchFamily="34" charset="-120"/>
              </a:rPr>
              <a:t>to run, on free tiers</a:t>
            </a:r>
            <a:endParaRPr lang="en-US" sz="1250" dirty="0"/>
          </a:p>
        </p:txBody>
      </p:sp>
      <p:sp>
        <p:nvSpPr>
          <p:cNvPr id="30" name="chip-1"/>
          <p:cNvSpPr/>
          <p:nvPr/>
        </p:nvSpPr>
        <p:spPr>
          <a:xfrm>
            <a:off x="2971800" y="4434840"/>
            <a:ext cx="2057400" cy="1005840"/>
          </a:xfrm>
          <a:prstGeom prst="roundRect">
            <a:avLst>
              <a:gd name="adj" fmla="val 14545"/>
            </a:avLst>
          </a:prstGeom>
          <a:solidFill>
            <a:srgbClr val="17285A"/>
          </a:solidFill>
          <a:ln w="12700">
            <a:solidFill>
              <a:srgbClr val="2A3A6E"/>
            </a:solidFill>
            <a:prstDash val="solid"/>
          </a:ln>
        </p:spPr>
      </p:sp>
      <p:sp>
        <p:nvSpPr>
          <p:cNvPr id="31" name="chip-a-1"/>
          <p:cNvSpPr txBox="1"/>
          <p:nvPr/>
        </p:nvSpPr>
        <p:spPr>
          <a:xfrm>
            <a:off x="3154680" y="4526280"/>
            <a:ext cx="1737360" cy="411480"/>
          </a:xfrm>
          <a:prstGeom prst="rect">
            <a:avLst/>
          </a:prstGeom>
          <a:noFill/>
          <a:ln/>
        </p:spPr>
        <p:txBody>
          <a:bodyPr wrap="square" lIns="0" tIns="0" rIns="0" bIns="0" rtlCol="0" anchor="ctr"/>
          <a:lstStyle/>
          <a:p>
            <a:pPr indent="0" marL="0">
              <a:buNone/>
            </a:pPr>
            <a:r>
              <a:rPr lang="en-US" sz="2000" b="1" dirty="0">
                <a:solidFill>
                  <a:srgbClr val="F2A40E"/>
                </a:solidFill>
                <a:latin typeface="Century Gothic" pitchFamily="34" charset="0"/>
                <a:ea typeface="Century Gothic" pitchFamily="34" charset="-122"/>
                <a:cs typeface="Century Gothic" pitchFamily="34" charset="-120"/>
              </a:rPr>
              <a:t>SDG 4.5</a:t>
            </a:r>
            <a:endParaRPr lang="en-US" sz="2000" dirty="0"/>
          </a:p>
        </p:txBody>
      </p:sp>
      <p:sp>
        <p:nvSpPr>
          <p:cNvPr id="32" name="chip-b-1"/>
          <p:cNvSpPr txBox="1"/>
          <p:nvPr/>
        </p:nvSpPr>
        <p:spPr>
          <a:xfrm>
            <a:off x="3154680" y="4937760"/>
            <a:ext cx="1737360" cy="411480"/>
          </a:xfrm>
          <a:prstGeom prst="rect">
            <a:avLst/>
          </a:prstGeom>
          <a:noFill/>
          <a:ln/>
        </p:spPr>
        <p:txBody>
          <a:bodyPr wrap="square" lIns="0" tIns="0" rIns="0" bIns="0" rtlCol="0" anchor="ctr"/>
          <a:lstStyle/>
          <a:p>
            <a:pPr indent="0" marL="0">
              <a:buNone/>
            </a:pPr>
            <a:r>
              <a:rPr lang="en-US" sz="1250" dirty="0">
                <a:solidFill>
                  <a:srgbClr val="C9D4F2"/>
                </a:solidFill>
                <a:latin typeface="Calibri" pitchFamily="34" charset="0"/>
                <a:ea typeface="Calibri" pitchFamily="34" charset="-122"/>
                <a:cs typeface="Calibri" pitchFamily="34" charset="-120"/>
              </a:rPr>
              <a:t>equal access to education</a:t>
            </a:r>
            <a:endParaRPr lang="en-US" sz="1250" dirty="0"/>
          </a:p>
        </p:txBody>
      </p:sp>
      <p:sp>
        <p:nvSpPr>
          <p:cNvPr id="33" name="chip-2"/>
          <p:cNvSpPr/>
          <p:nvPr/>
        </p:nvSpPr>
        <p:spPr>
          <a:xfrm>
            <a:off x="5212080" y="4434840"/>
            <a:ext cx="2057400" cy="1005840"/>
          </a:xfrm>
          <a:prstGeom prst="roundRect">
            <a:avLst>
              <a:gd name="adj" fmla="val 14545"/>
            </a:avLst>
          </a:prstGeom>
          <a:solidFill>
            <a:srgbClr val="17285A"/>
          </a:solidFill>
          <a:ln w="12700">
            <a:solidFill>
              <a:srgbClr val="2A3A6E"/>
            </a:solidFill>
            <a:prstDash val="solid"/>
          </a:ln>
        </p:spPr>
      </p:sp>
      <p:sp>
        <p:nvSpPr>
          <p:cNvPr id="34" name="chip-a-2"/>
          <p:cNvSpPr txBox="1"/>
          <p:nvPr/>
        </p:nvSpPr>
        <p:spPr>
          <a:xfrm>
            <a:off x="5394960" y="4526280"/>
            <a:ext cx="1737360" cy="411480"/>
          </a:xfrm>
          <a:prstGeom prst="rect">
            <a:avLst/>
          </a:prstGeom>
          <a:noFill/>
          <a:ln/>
        </p:spPr>
        <p:txBody>
          <a:bodyPr wrap="square" lIns="0" tIns="0" rIns="0" bIns="0" rtlCol="0" anchor="ctr"/>
          <a:lstStyle/>
          <a:p>
            <a:pPr indent="0" marL="0">
              <a:buNone/>
            </a:pPr>
            <a:r>
              <a:rPr lang="en-US" sz="2000" b="1" dirty="0">
                <a:solidFill>
                  <a:srgbClr val="F2A40E"/>
                </a:solidFill>
                <a:latin typeface="Century Gothic" pitchFamily="34" charset="0"/>
                <a:ea typeface="Century Gothic" pitchFamily="34" charset="-122"/>
                <a:cs typeface="Century Gothic" pitchFamily="34" charset="-120"/>
              </a:rPr>
              <a:t>Built here</a:t>
            </a:r>
            <a:endParaRPr lang="en-US" sz="2000" dirty="0"/>
          </a:p>
        </p:txBody>
      </p:sp>
      <p:sp>
        <p:nvSpPr>
          <p:cNvPr id="35" name="chip-b-2"/>
          <p:cNvSpPr txBox="1"/>
          <p:nvPr/>
        </p:nvSpPr>
        <p:spPr>
          <a:xfrm>
            <a:off x="5394960" y="4937760"/>
            <a:ext cx="1737360" cy="411480"/>
          </a:xfrm>
          <a:prstGeom prst="rect">
            <a:avLst/>
          </a:prstGeom>
          <a:noFill/>
          <a:ln/>
        </p:spPr>
        <p:txBody>
          <a:bodyPr wrap="square" lIns="0" tIns="0" rIns="0" bIns="0" rtlCol="0" anchor="ctr"/>
          <a:lstStyle/>
          <a:p>
            <a:pPr indent="0" marL="0">
              <a:buNone/>
            </a:pPr>
            <a:r>
              <a:rPr lang="en-US" sz="1250" dirty="0">
                <a:solidFill>
                  <a:srgbClr val="C9D4F2"/>
                </a:solidFill>
                <a:latin typeface="Calibri" pitchFamily="34" charset="0"/>
                <a:ea typeface="Calibri" pitchFamily="34" charset="-122"/>
                <a:cs typeface="Calibri" pitchFamily="34" charset="-120"/>
              </a:rPr>
              <a:t>all during AICON’26</a:t>
            </a:r>
            <a:endParaRPr lang="en-US" sz="1250" dirty="0"/>
          </a:p>
        </p:txBody>
      </p:sp>
      <p:sp>
        <p:nvSpPr>
          <p:cNvPr id="36" name="close"/>
          <p:cNvSpPr txBox="1"/>
          <p:nvPr/>
        </p:nvSpPr>
        <p:spPr>
          <a:xfrm>
            <a:off x="731520" y="5669280"/>
            <a:ext cx="8686800" cy="411480"/>
          </a:xfrm>
          <a:prstGeom prst="rect">
            <a:avLst/>
          </a:prstGeom>
          <a:noFill/>
          <a:ln/>
        </p:spPr>
        <p:txBody>
          <a:bodyPr wrap="square" lIns="0" tIns="0" rIns="0" bIns="0" rtlCol="0" anchor="ctr"/>
          <a:lstStyle/>
          <a:p>
            <a:pPr indent="0" marL="0">
              <a:buNone/>
            </a:pPr>
            <a:r>
              <a:rPr lang="en-US" sz="1800" b="1" dirty="0">
                <a:solidFill>
                  <a:srgbClr val="F2A40E"/>
                </a:solidFill>
                <a:latin typeface="Calibri" pitchFamily="34" charset="0"/>
                <a:ea typeface="Calibri" pitchFamily="34" charset="-122"/>
                <a:cs typeface="Calibri" pitchFamily="34" charset="-120"/>
              </a:rPr>
              <a:t>Next: a pilot with a special-education school. Thank you! Questions?</a:t>
            </a:r>
            <a:endParaRPr lang="en-US" sz="1800" dirty="0"/>
          </a:p>
        </p:txBody>
      </p:sp>
      <p:sp>
        <p:nvSpPr>
          <p:cNvPr id="37" name="repo"/>
          <p:cNvSpPr txBox="1"/>
          <p:nvPr/>
        </p:nvSpPr>
        <p:spPr>
          <a:xfrm>
            <a:off x="731520" y="6172200"/>
            <a:ext cx="5486400" cy="320040"/>
          </a:xfrm>
          <a:prstGeom prst="rect">
            <a:avLst/>
          </a:prstGeom>
          <a:noFill/>
          <a:ln/>
        </p:spPr>
        <p:txBody>
          <a:bodyPr wrap="square" lIns="0" tIns="0" rIns="0" bIns="0" rtlCol="0" anchor="ctr"/>
          <a:lstStyle/>
          <a:p>
            <a:pPr indent="0" marL="0">
              <a:buNone/>
            </a:pPr>
            <a:r>
              <a:rPr lang="en-US" sz="1300" dirty="0">
                <a:solidFill>
                  <a:srgbClr val="C9D4F2"/>
                </a:solidFill>
                <a:latin typeface="Calibri" pitchFamily="34" charset="0"/>
                <a:ea typeface="Calibri" pitchFamily="34" charset="-122"/>
                <a:cs typeface="Calibri" pitchFamily="34" charset="-120"/>
              </a:rPr>
              <a:t>github.com/raheemxghumman/roshni</a:t>
            </a:r>
            <a:endParaRPr lang="en-US" sz="1300" dirty="0"/>
          </a:p>
        </p:txBody>
      </p:sp>
      <p:sp>
        <p:nvSpPr>
          <p:cNvPr id="38" name="!!dot-0"/>
          <p:cNvSpPr/>
          <p:nvPr/>
        </p:nvSpPr>
        <p:spPr>
          <a:xfrm>
            <a:off x="10012680" y="6400800"/>
            <a:ext cx="100584" cy="100584"/>
          </a:xfrm>
          <a:prstGeom prst="ellipse">
            <a:avLst/>
          </a:prstGeom>
          <a:solidFill>
            <a:srgbClr val="3A4A7A"/>
          </a:solidFill>
          <a:ln w="12700">
            <a:solidFill>
              <a:srgbClr val="3A4A7A"/>
            </a:solidFill>
            <a:prstDash val="solid"/>
          </a:ln>
        </p:spPr>
      </p:sp>
      <p:sp>
        <p:nvSpPr>
          <p:cNvPr id="39" name="!!dot-1"/>
          <p:cNvSpPr/>
          <p:nvPr/>
        </p:nvSpPr>
        <p:spPr>
          <a:xfrm>
            <a:off x="10250424" y="6400800"/>
            <a:ext cx="100584" cy="100584"/>
          </a:xfrm>
          <a:prstGeom prst="ellipse">
            <a:avLst/>
          </a:prstGeom>
          <a:solidFill>
            <a:srgbClr val="3A4A7A"/>
          </a:solidFill>
          <a:ln w="12700">
            <a:solidFill>
              <a:srgbClr val="3A4A7A"/>
            </a:solidFill>
            <a:prstDash val="solid"/>
          </a:ln>
        </p:spPr>
      </p:sp>
      <p:sp>
        <p:nvSpPr>
          <p:cNvPr id="40" name="!!dot-2"/>
          <p:cNvSpPr/>
          <p:nvPr/>
        </p:nvSpPr>
        <p:spPr>
          <a:xfrm>
            <a:off x="10488168" y="6400800"/>
            <a:ext cx="100584" cy="100584"/>
          </a:xfrm>
          <a:prstGeom prst="ellipse">
            <a:avLst/>
          </a:prstGeom>
          <a:solidFill>
            <a:srgbClr val="3A4A7A"/>
          </a:solidFill>
          <a:ln w="12700">
            <a:solidFill>
              <a:srgbClr val="3A4A7A"/>
            </a:solidFill>
            <a:prstDash val="solid"/>
          </a:ln>
        </p:spPr>
      </p:sp>
      <p:sp>
        <p:nvSpPr>
          <p:cNvPr id="41" name="!!dot-3"/>
          <p:cNvSpPr/>
          <p:nvPr/>
        </p:nvSpPr>
        <p:spPr>
          <a:xfrm>
            <a:off x="10725912" y="6400800"/>
            <a:ext cx="100584" cy="100584"/>
          </a:xfrm>
          <a:prstGeom prst="ellipse">
            <a:avLst/>
          </a:prstGeom>
          <a:solidFill>
            <a:srgbClr val="3A4A7A"/>
          </a:solidFill>
          <a:ln w="12700">
            <a:solidFill>
              <a:srgbClr val="3A4A7A"/>
            </a:solidFill>
            <a:prstDash val="solid"/>
          </a:ln>
        </p:spPr>
      </p:sp>
      <p:sp>
        <p:nvSpPr>
          <p:cNvPr id="42" name="!!dot-4"/>
          <p:cNvSpPr/>
          <p:nvPr/>
        </p:nvSpPr>
        <p:spPr>
          <a:xfrm>
            <a:off x="10963656" y="6400800"/>
            <a:ext cx="100584" cy="100584"/>
          </a:xfrm>
          <a:prstGeom prst="ellipse">
            <a:avLst/>
          </a:prstGeom>
          <a:solidFill>
            <a:srgbClr val="3A4A7A"/>
          </a:solidFill>
          <a:ln w="12700">
            <a:solidFill>
              <a:srgbClr val="3A4A7A"/>
            </a:solidFill>
            <a:prstDash val="solid"/>
          </a:ln>
        </p:spPr>
      </p:sp>
      <p:sp>
        <p:nvSpPr>
          <p:cNvPr id="43" name="!!dot-5"/>
          <p:cNvSpPr/>
          <p:nvPr/>
        </p:nvSpPr>
        <p:spPr>
          <a:xfrm>
            <a:off x="11201400" y="6400800"/>
            <a:ext cx="100584" cy="100584"/>
          </a:xfrm>
          <a:prstGeom prst="ellipse">
            <a:avLst/>
          </a:prstGeom>
          <a:solidFill>
            <a:srgbClr val="3A4A7A"/>
          </a:solidFill>
          <a:ln w="12700">
            <a:solidFill>
              <a:srgbClr val="3A4A7A"/>
            </a:solidFill>
            <a:prstDash val="solid"/>
          </a:ln>
        </p:spPr>
      </p:sp>
      <p:sp>
        <p:nvSpPr>
          <p:cNvPr id="44" name="!!dot-6"/>
          <p:cNvSpPr/>
          <p:nvPr/>
        </p:nvSpPr>
        <p:spPr>
          <a:xfrm>
            <a:off x="11439144" y="6400800"/>
            <a:ext cx="100584" cy="100584"/>
          </a:xfrm>
          <a:prstGeom prst="ellipse">
            <a:avLst/>
          </a:prstGeom>
          <a:solidFill>
            <a:srgbClr val="3A4A7A"/>
          </a:solidFill>
          <a:ln w="12700">
            <a:solidFill>
              <a:srgbClr val="3A4A7A"/>
            </a:solidFill>
            <a:prstDash val="solid"/>
          </a:ln>
        </p:spPr>
      </p:sp>
      <p:sp>
        <p:nvSpPr>
          <p:cNvPr id="45" name="!!dot-7"/>
          <p:cNvSpPr/>
          <p:nvPr/>
        </p:nvSpPr>
        <p:spPr>
          <a:xfrm>
            <a:off x="11676888" y="6400800"/>
            <a:ext cx="155448" cy="155448"/>
          </a:xfrm>
          <a:prstGeom prst="ellipse">
            <a:avLst/>
          </a:prstGeom>
          <a:solidFill>
            <a:srgbClr val="F2A40E"/>
          </a:solidFill>
          <a:ln w="12700">
            <a:solidFill>
              <a:srgbClr val="F2A40E"/>
            </a:solidFill>
            <a:prstDash val="solid"/>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entury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AICON 26 Build With 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Roshni: One page. Every learner.</dc:title>
  <dc:subject>PptxGenJS Presentation</dc:subject>
  <dc:creator>404 Team Not Found</dc:creator>
  <cp:lastModifiedBy>404 Team Not Found</cp:lastModifiedBy>
  <cp:revision>1</cp:revision>
  <dcterms:created xsi:type="dcterms:W3CDTF">2026-10-10T16:54:25Z</dcterms:created>
  <dcterms:modified xsi:type="dcterms:W3CDTF">2026-10-10T16:54:25Z</dcterms:modified>
</cp:coreProperties>
</file>