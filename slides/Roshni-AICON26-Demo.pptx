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031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Hi, we are 404 Team Not Found. This is Roshni, which means light. One page, every learner: we turn a photo of any textbook page into a lesson that blind, dyslexic and deaf students can use, and a second AI proves no fact was lost.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[0:20–0:50] Three students, one class, one printed page. Bilal is blind, Sara is dyslexic, Hamza is deaf. The page works for none of them, and their teacher has no time to adapt every page three ways. About 1 in 6 people live with a significant disability, so this happens in every school.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[0:50–1:30] Our solution: one photo in, three ways to learn out. AI is the pipeline, not a chat box. Gemini reads the page and describes every figure. Qwen rewrites it at an easier level with Urdu help. Fact Guard, a different AI family, checks every fact. Whisper captions the lecture. Bilal gets Listen, Sara gets Read Easy, Hamza gets Captions.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[1:30–3:30] SWITCH TO THE APP. 1) Photograph the printed page and upload it (about 5 s). 2) Read Easy: press Read aloud, tap an underlined word for the Urdu explanation and audio, point at the Fact Guard badge. 3) Press Plant 3 errors: the cards flip to Caught, then the rewrite is repaired back to green. 4) Listen tab: Alt+N jumps sections, show a figure description. Captions tab: click a line to jump the audio. If anything is slow, open the cached physics sample instead.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[3:30–4:00] Simplifying text can quietly drop a fact or change a number, so we built Fact Guard. A different AI family checks the rewrite, every kept fact must be quoted, numbers are checked by plain code, and anything missing is repaired. You just saw it live. In testing it caught all planted errors with zero false alarms.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[4:00–4:35] Everything here is measured on real OpenStax textbook pages by scripts in our repo. Fact Guard caught every planted error with no false alarms. 99% of facts are verifiably kept. Reading level drops from grade 11 to about 6. It reads even this blurry, tilted photo almost perfectly, and a lesson takes under half a minute on free tiers.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[4:35–5:00] Who adopts it: special-education schools and NGOs, textbook boards, school chains with Urdu-medium students, and employers making training accessible. It costs nothing to run today and serves SDG 4.5. Everything you saw was built during AICON’26, with an AI coding assistant as the rules allow; our commit history shows it. Next is a pilot with a special-education school. Thank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panel"/>
          <p:cNvSpPr/>
          <p:nvPr/>
        </p:nvSpPr>
        <p:spPr>
          <a:xfrm>
            <a:off x="0" y="0"/>
            <a:ext cx="12191695" cy="6858000"/>
          </a:xfrm>
          <a:prstGeom prst="roundRect">
            <a:avLst/>
          </a:prstGeom>
          <a:solidFill>
            <a:srgbClr val="0D1B3E"/>
          </a:solidFill>
          <a:ln w="12700">
            <a:solidFill>
              <a:srgbClr val="0D1B3E"/>
            </a:solidFill>
            <a:prstDash val="solid"/>
          </a:ln>
        </p:spPr>
      </p:sp>
      <p:sp>
        <p:nvSpPr>
          <p:cNvPr id="3" name="!!ray-0"/>
          <p:cNvSpPr/>
          <p:nvPr/>
        </p:nvSpPr>
        <p:spPr>
          <a:xfrm>
            <a:off x="10517886" y="3383280"/>
            <a:ext cx="736092" cy="914"/>
          </a:xfrm>
          <a:prstGeom prst="line">
            <a:avLst/>
          </a:prstGeom>
          <a:noFill/>
          <a:ln w="37973">
            <a:solidFill>
              <a:srgbClr val="F2A40E"/>
            </a:solidFill>
            <a:prstDash val="solid"/>
          </a:ln>
        </p:spPr>
      </p:sp>
      <p:sp>
        <p:nvSpPr>
          <p:cNvPr id="4" name="!!ray-1"/>
          <p:cNvSpPr/>
          <p:nvPr/>
        </p:nvSpPr>
        <p:spPr>
          <a:xfrm>
            <a:off x="10327695" y="4093083"/>
            <a:ext cx="637474" cy="368046"/>
          </a:xfrm>
          <a:prstGeom prst="line">
            <a:avLst/>
          </a:prstGeom>
          <a:noFill/>
          <a:ln w="37973">
            <a:solidFill>
              <a:srgbClr val="F2A40E">
                <a:alpha val="55000"/>
              </a:srgbClr>
            </a:solidFill>
            <a:prstDash val="solid"/>
          </a:ln>
        </p:spPr>
      </p:sp>
      <p:sp>
        <p:nvSpPr>
          <p:cNvPr id="5" name="!!ray-2"/>
          <p:cNvSpPr/>
          <p:nvPr/>
        </p:nvSpPr>
        <p:spPr>
          <a:xfrm>
            <a:off x="9808083" y="4612695"/>
            <a:ext cx="368046" cy="637474"/>
          </a:xfrm>
          <a:prstGeom prst="line">
            <a:avLst/>
          </a:prstGeom>
          <a:noFill/>
          <a:ln w="37973">
            <a:solidFill>
              <a:srgbClr val="F2A40E"/>
            </a:solidFill>
            <a:prstDash val="solid"/>
          </a:ln>
        </p:spPr>
      </p:sp>
      <p:sp>
        <p:nvSpPr>
          <p:cNvPr id="6" name="!!ray-3"/>
          <p:cNvSpPr/>
          <p:nvPr/>
        </p:nvSpPr>
        <p:spPr>
          <a:xfrm>
            <a:off x="9098280" y="4802886"/>
            <a:ext cx="914" cy="736092"/>
          </a:xfrm>
          <a:prstGeom prst="line">
            <a:avLst/>
          </a:prstGeom>
          <a:noFill/>
          <a:ln w="37973">
            <a:solidFill>
              <a:srgbClr val="F2A40E">
                <a:alpha val="55000"/>
              </a:srgbClr>
            </a:solidFill>
            <a:prstDash val="solid"/>
          </a:ln>
        </p:spPr>
      </p:sp>
      <p:sp>
        <p:nvSpPr>
          <p:cNvPr id="7" name="!!ray-4"/>
          <p:cNvSpPr/>
          <p:nvPr/>
        </p:nvSpPr>
        <p:spPr>
          <a:xfrm flipH="1">
            <a:off x="8020431" y="4612695"/>
            <a:ext cx="368046" cy="637474"/>
          </a:xfrm>
          <a:prstGeom prst="line">
            <a:avLst/>
          </a:prstGeom>
          <a:noFill/>
          <a:ln w="37973">
            <a:solidFill>
              <a:srgbClr val="F2A40E"/>
            </a:solidFill>
            <a:prstDash val="solid"/>
          </a:ln>
        </p:spPr>
      </p:sp>
      <p:sp>
        <p:nvSpPr>
          <p:cNvPr id="8" name="!!ray-5"/>
          <p:cNvSpPr/>
          <p:nvPr/>
        </p:nvSpPr>
        <p:spPr>
          <a:xfrm flipH="1">
            <a:off x="7231391" y="4093083"/>
            <a:ext cx="637474" cy="368046"/>
          </a:xfrm>
          <a:prstGeom prst="line">
            <a:avLst/>
          </a:prstGeom>
          <a:noFill/>
          <a:ln w="37973">
            <a:solidFill>
              <a:srgbClr val="F2A40E">
                <a:alpha val="55000"/>
              </a:srgbClr>
            </a:solidFill>
            <a:prstDash val="solid"/>
          </a:ln>
        </p:spPr>
      </p:sp>
      <p:sp>
        <p:nvSpPr>
          <p:cNvPr id="9" name="!!ray-6"/>
          <p:cNvSpPr/>
          <p:nvPr/>
        </p:nvSpPr>
        <p:spPr>
          <a:xfrm flipH="1">
            <a:off x="6942582" y="3383280"/>
            <a:ext cx="736092" cy="914"/>
          </a:xfrm>
          <a:prstGeom prst="line">
            <a:avLst/>
          </a:prstGeom>
          <a:noFill/>
          <a:ln w="37973">
            <a:solidFill>
              <a:srgbClr val="F2A40E"/>
            </a:solidFill>
            <a:prstDash val="solid"/>
          </a:ln>
        </p:spPr>
      </p:sp>
      <p:sp>
        <p:nvSpPr>
          <p:cNvPr id="10" name="!!ray-7"/>
          <p:cNvSpPr/>
          <p:nvPr/>
        </p:nvSpPr>
        <p:spPr>
          <a:xfrm flipH="1" flipV="1">
            <a:off x="7231391" y="2305431"/>
            <a:ext cx="637474" cy="368046"/>
          </a:xfrm>
          <a:prstGeom prst="line">
            <a:avLst/>
          </a:prstGeom>
          <a:noFill/>
          <a:ln w="37973">
            <a:solidFill>
              <a:srgbClr val="F2A40E">
                <a:alpha val="55000"/>
              </a:srgbClr>
            </a:solidFill>
            <a:prstDash val="solid"/>
          </a:ln>
        </p:spPr>
      </p:sp>
      <p:sp>
        <p:nvSpPr>
          <p:cNvPr id="11" name="!!ray-8"/>
          <p:cNvSpPr/>
          <p:nvPr/>
        </p:nvSpPr>
        <p:spPr>
          <a:xfrm flipH="1" flipV="1">
            <a:off x="8020431" y="1516391"/>
            <a:ext cx="368046" cy="637474"/>
          </a:xfrm>
          <a:prstGeom prst="line">
            <a:avLst/>
          </a:prstGeom>
          <a:noFill/>
          <a:ln w="37973">
            <a:solidFill>
              <a:srgbClr val="F2A40E"/>
            </a:solidFill>
            <a:prstDash val="solid"/>
          </a:ln>
        </p:spPr>
      </p:sp>
      <p:sp>
        <p:nvSpPr>
          <p:cNvPr id="12" name="!!ray-9"/>
          <p:cNvSpPr/>
          <p:nvPr/>
        </p:nvSpPr>
        <p:spPr>
          <a:xfrm flipH="1" flipV="1">
            <a:off x="9098280" y="1227582"/>
            <a:ext cx="914" cy="736092"/>
          </a:xfrm>
          <a:prstGeom prst="line">
            <a:avLst/>
          </a:prstGeom>
          <a:noFill/>
          <a:ln w="37973">
            <a:solidFill>
              <a:srgbClr val="F2A40E">
                <a:alpha val="55000"/>
              </a:srgbClr>
            </a:solidFill>
            <a:prstDash val="solid"/>
          </a:ln>
        </p:spPr>
      </p:sp>
      <p:sp>
        <p:nvSpPr>
          <p:cNvPr id="13" name="!!ray-10"/>
          <p:cNvSpPr/>
          <p:nvPr/>
        </p:nvSpPr>
        <p:spPr>
          <a:xfrm flipV="1">
            <a:off x="9808083" y="1516391"/>
            <a:ext cx="368046" cy="637474"/>
          </a:xfrm>
          <a:prstGeom prst="line">
            <a:avLst/>
          </a:prstGeom>
          <a:noFill/>
          <a:ln w="37973">
            <a:solidFill>
              <a:srgbClr val="F2A40E"/>
            </a:solidFill>
            <a:prstDash val="solid"/>
          </a:ln>
        </p:spPr>
      </p:sp>
      <p:sp>
        <p:nvSpPr>
          <p:cNvPr id="14" name="!!ray-11"/>
          <p:cNvSpPr/>
          <p:nvPr/>
        </p:nvSpPr>
        <p:spPr>
          <a:xfrm flipV="1">
            <a:off x="10327695" y="2305431"/>
            <a:ext cx="637474" cy="368046"/>
          </a:xfrm>
          <a:prstGeom prst="line">
            <a:avLst/>
          </a:prstGeom>
          <a:noFill/>
          <a:ln w="37973">
            <a:solidFill>
              <a:srgbClr val="F2A40E">
                <a:alpha val="55000"/>
              </a:srgbClr>
            </a:solidFill>
            <a:prstDash val="solid"/>
          </a:ln>
        </p:spPr>
      </p:sp>
      <p:sp>
        <p:nvSpPr>
          <p:cNvPr id="15" name="!!ring"/>
          <p:cNvSpPr/>
          <p:nvPr/>
        </p:nvSpPr>
        <p:spPr>
          <a:xfrm>
            <a:off x="8046720" y="2331720"/>
            <a:ext cx="2103120" cy="2103120"/>
          </a:xfrm>
          <a:prstGeom prst="ellipse">
            <a:avLst/>
          </a:prstGeom>
          <a:solidFill>
            <a:srgbClr val="1C3EA6"/>
          </a:solidFill>
          <a:ln w="29210">
            <a:solidFill>
              <a:srgbClr val="FFFFFF"/>
            </a:solidFill>
            <a:prstDash val="solid"/>
          </a:ln>
        </p:spPr>
      </p:sp>
      <p:sp>
        <p:nvSpPr>
          <p:cNvPr id="16" name="!!flame"/>
          <p:cNvSpPr/>
          <p:nvPr/>
        </p:nvSpPr>
        <p:spPr>
          <a:xfrm>
            <a:off x="8656625" y="2941625"/>
            <a:ext cx="883310" cy="883310"/>
          </a:xfrm>
          <a:prstGeom prst="ellipse">
            <a:avLst/>
          </a:prstGeom>
          <a:solidFill>
            <a:srgbClr val="F2A40E"/>
          </a:solidFill>
          <a:ln w="12700">
            <a:solidFill>
              <a:srgbClr val="F2A40E"/>
            </a:solidFill>
            <a:prstDash val="solid"/>
          </a:ln>
        </p:spPr>
      </p:sp>
      <p:sp>
        <p:nvSpPr>
          <p:cNvPr id="17" name="!!kicker"/>
          <p:cNvSpPr txBox="1"/>
          <p:nvPr/>
        </p:nvSpPr>
        <p:spPr>
          <a:xfrm>
            <a:off x="731520" y="1325880"/>
            <a:ext cx="8229600" cy="320040"/>
          </a:xfrm>
          <a:prstGeom prst="rect">
            <a:avLst/>
          </a:prstGeom>
          <a:noFill/>
          <a:ln/>
        </p:spPr>
        <p:txBody>
          <a:bodyPr wrap="square" lIns="0" tIns="0" rIns="0" bIns="0" rtlCol="0" anchor="ctr"/>
          <a:lstStyle/>
          <a:p>
            <a:pPr marL="0" indent="0">
              <a:buNone/>
            </a:pPr>
            <a:r>
              <a:rPr lang="en-US" sz="1300" b="1" kern="0" spc="300" dirty="0">
                <a:solidFill>
                  <a:srgbClr val="F2A40E"/>
                </a:solidFill>
                <a:latin typeface="Calibri" pitchFamily="34" charset="0"/>
                <a:ea typeface="Calibri" pitchFamily="34" charset="-122"/>
                <a:cs typeface="Calibri" pitchFamily="34" charset="-120"/>
              </a:rPr>
              <a:t>AICON’26 · BUILD WITH AI · EDTECH &amp; WORKFORCE</a:t>
            </a:r>
            <a:endParaRPr lang="en-US" sz="1300" dirty="0"/>
          </a:p>
        </p:txBody>
      </p:sp>
      <p:sp>
        <p:nvSpPr>
          <p:cNvPr id="18" name="!!title"/>
          <p:cNvSpPr txBox="1"/>
          <p:nvPr/>
        </p:nvSpPr>
        <p:spPr>
          <a:xfrm>
            <a:off x="731520" y="1737360"/>
            <a:ext cx="5943600" cy="1280160"/>
          </a:xfrm>
          <a:prstGeom prst="rect">
            <a:avLst/>
          </a:prstGeom>
          <a:noFill/>
          <a:ln/>
        </p:spPr>
        <p:txBody>
          <a:bodyPr wrap="square" lIns="0" tIns="0" rIns="0" bIns="0" rtlCol="0" anchor="t"/>
          <a:lstStyle/>
          <a:p>
            <a:pPr marL="0" indent="0">
              <a:buNone/>
            </a:pPr>
            <a:r>
              <a:rPr lang="en-US" sz="7200" b="1" dirty="0">
                <a:solidFill>
                  <a:srgbClr val="FFFFFF"/>
                </a:solidFill>
                <a:latin typeface="Century Gothic" pitchFamily="34" charset="0"/>
                <a:ea typeface="Century Gothic" pitchFamily="34" charset="-122"/>
                <a:cs typeface="Century Gothic" pitchFamily="34" charset="-120"/>
              </a:rPr>
              <a:t>Roshni</a:t>
            </a:r>
            <a:endParaRPr lang="en-US" sz="7200" dirty="0"/>
          </a:p>
        </p:txBody>
      </p:sp>
      <p:sp>
        <p:nvSpPr>
          <p:cNvPr id="19" name="urdu"/>
          <p:cNvSpPr txBox="1"/>
          <p:nvPr/>
        </p:nvSpPr>
        <p:spPr>
          <a:xfrm>
            <a:off x="731520" y="3017520"/>
            <a:ext cx="2743200" cy="731520"/>
          </a:xfrm>
          <a:prstGeom prst="rect">
            <a:avLst/>
          </a:prstGeom>
          <a:noFill/>
          <a:ln/>
        </p:spPr>
        <p:txBody>
          <a:bodyPr wrap="square" lIns="0" tIns="0" rIns="0" bIns="0" rtlCol="0" anchor="ctr"/>
          <a:lstStyle/>
          <a:p>
            <a:pPr marL="0" indent="0" rtl="1">
              <a:buNone/>
            </a:pPr>
            <a:r>
              <a:rPr lang="en-US" sz="3400" dirty="0">
                <a:solidFill>
                  <a:srgbClr val="7FD9D3"/>
                </a:solidFill>
                <a:latin typeface="Arial" pitchFamily="34" charset="0"/>
                <a:ea typeface="Arial" pitchFamily="34" charset="-122"/>
                <a:cs typeface="Arial" pitchFamily="34" charset="-120"/>
              </a:rPr>
              <a:t>روشنی</a:t>
            </a:r>
            <a:endParaRPr lang="en-US" sz="3400" dirty="0"/>
          </a:p>
        </p:txBody>
      </p:sp>
      <p:sp>
        <p:nvSpPr>
          <p:cNvPr id="20" name="tagline"/>
          <p:cNvSpPr txBox="1"/>
          <p:nvPr/>
        </p:nvSpPr>
        <p:spPr>
          <a:xfrm>
            <a:off x="731520" y="3886200"/>
            <a:ext cx="6583680" cy="640080"/>
          </a:xfrm>
          <a:prstGeom prst="rect">
            <a:avLst/>
          </a:prstGeom>
          <a:noFill/>
          <a:ln/>
        </p:spPr>
        <p:txBody>
          <a:bodyPr wrap="square" lIns="0" tIns="0" rIns="0" bIns="0" rtlCol="0" anchor="ctr"/>
          <a:lstStyle/>
          <a:p>
            <a:pPr marL="0" indent="0">
              <a:buNone/>
            </a:pPr>
            <a:r>
              <a:rPr lang="en-US" sz="3000" dirty="0">
                <a:solidFill>
                  <a:srgbClr val="FFFFFF"/>
                </a:solidFill>
                <a:latin typeface="Century Gothic" pitchFamily="34" charset="0"/>
                <a:ea typeface="Century Gothic" pitchFamily="34" charset="-122"/>
                <a:cs typeface="Century Gothic" pitchFamily="34" charset="-120"/>
              </a:rPr>
              <a:t>One page. Every learner.</a:t>
            </a:r>
            <a:endParaRPr lang="en-US" sz="3000" dirty="0"/>
          </a:p>
        </p:txBody>
      </p:sp>
      <p:sp>
        <p:nvSpPr>
          <p:cNvPr id="21" name="subtitle"/>
          <p:cNvSpPr txBox="1"/>
          <p:nvPr/>
        </p:nvSpPr>
        <p:spPr>
          <a:xfrm>
            <a:off x="731520" y="4617720"/>
            <a:ext cx="6583680" cy="868680"/>
          </a:xfrm>
          <a:prstGeom prst="rect">
            <a:avLst/>
          </a:prstGeom>
          <a:noFill/>
          <a:ln/>
        </p:spPr>
        <p:txBody>
          <a:bodyPr wrap="square" lIns="0" tIns="0" rIns="0" bIns="0" rtlCol="0" anchor="ctr"/>
          <a:lstStyle/>
          <a:p>
            <a:pPr marL="0" indent="0">
              <a:buNone/>
            </a:pPr>
            <a:r>
              <a:rPr lang="en-US" sz="1700" dirty="0">
                <a:solidFill>
                  <a:srgbClr val="C9D4F2"/>
                </a:solidFill>
                <a:latin typeface="Calibri" pitchFamily="34" charset="0"/>
                <a:ea typeface="Calibri" pitchFamily="34" charset="-122"/>
                <a:cs typeface="Calibri" pitchFamily="34" charset="-120"/>
              </a:rPr>
              <a:t>A photo of a textbook page becomes a lesson that blind, dyslexic and deaf students can use, and a second AI proves no fact was lost.</a:t>
            </a:r>
            <a:endParaRPr lang="en-US" sz="1700" dirty="0"/>
          </a:p>
        </p:txBody>
      </p:sp>
      <p:sp>
        <p:nvSpPr>
          <p:cNvPr id="22" name="team"/>
          <p:cNvSpPr txBox="1"/>
          <p:nvPr/>
        </p:nvSpPr>
        <p:spPr>
          <a:xfrm>
            <a:off x="731520" y="5897880"/>
            <a:ext cx="4572000" cy="365760"/>
          </a:xfrm>
          <a:prstGeom prst="rect">
            <a:avLst/>
          </a:prstGeom>
          <a:noFill/>
          <a:ln/>
        </p:spPr>
        <p:txBody>
          <a:bodyPr wrap="square" lIns="0" tIns="0" rIns="0" bIns="0" rtlCol="0" anchor="ctr"/>
          <a:lstStyle/>
          <a:p>
            <a:pPr marL="0" indent="0">
              <a:buNone/>
            </a:pPr>
            <a:r>
              <a:rPr lang="en-US" sz="1500" b="1" dirty="0">
                <a:solidFill>
                  <a:srgbClr val="C9D4F2"/>
                </a:solidFill>
                <a:latin typeface="Calibri" pitchFamily="34" charset="0"/>
                <a:ea typeface="Calibri" pitchFamily="34" charset="-122"/>
                <a:cs typeface="Calibri" pitchFamily="34" charset="-120"/>
              </a:rPr>
              <a:t>404 Team Not Found</a:t>
            </a:r>
            <a:endParaRPr lang="en-US" sz="1500" dirty="0"/>
          </a:p>
        </p:txBody>
      </p:sp>
      <p:sp>
        <p:nvSpPr>
          <p:cNvPr id="23" name="!!dot-0"/>
          <p:cNvSpPr/>
          <p:nvPr/>
        </p:nvSpPr>
        <p:spPr>
          <a:xfrm>
            <a:off x="10241280" y="6400800"/>
            <a:ext cx="155448" cy="155448"/>
          </a:xfrm>
          <a:prstGeom prst="ellipse">
            <a:avLst/>
          </a:prstGeom>
          <a:solidFill>
            <a:srgbClr val="F2A40E"/>
          </a:solidFill>
          <a:ln w="12700">
            <a:solidFill>
              <a:srgbClr val="F2A40E"/>
            </a:solidFill>
            <a:prstDash val="solid"/>
          </a:ln>
        </p:spPr>
      </p:sp>
      <p:sp>
        <p:nvSpPr>
          <p:cNvPr id="24" name="!!dot-1"/>
          <p:cNvSpPr/>
          <p:nvPr/>
        </p:nvSpPr>
        <p:spPr>
          <a:xfrm>
            <a:off x="10479024" y="6400800"/>
            <a:ext cx="100584" cy="100584"/>
          </a:xfrm>
          <a:prstGeom prst="ellipse">
            <a:avLst/>
          </a:prstGeom>
          <a:solidFill>
            <a:srgbClr val="3A4A7A"/>
          </a:solidFill>
          <a:ln w="12700">
            <a:solidFill>
              <a:srgbClr val="3A4A7A"/>
            </a:solidFill>
            <a:prstDash val="solid"/>
          </a:ln>
        </p:spPr>
      </p:sp>
      <p:sp>
        <p:nvSpPr>
          <p:cNvPr id="25" name="!!dot-2"/>
          <p:cNvSpPr/>
          <p:nvPr/>
        </p:nvSpPr>
        <p:spPr>
          <a:xfrm>
            <a:off x="10716768" y="6400800"/>
            <a:ext cx="100584" cy="100584"/>
          </a:xfrm>
          <a:prstGeom prst="ellipse">
            <a:avLst/>
          </a:prstGeom>
          <a:solidFill>
            <a:srgbClr val="3A4A7A"/>
          </a:solidFill>
          <a:ln w="12700">
            <a:solidFill>
              <a:srgbClr val="3A4A7A"/>
            </a:solidFill>
            <a:prstDash val="solid"/>
          </a:ln>
        </p:spPr>
      </p:sp>
      <p:sp>
        <p:nvSpPr>
          <p:cNvPr id="26" name="!!dot-3"/>
          <p:cNvSpPr/>
          <p:nvPr/>
        </p:nvSpPr>
        <p:spPr>
          <a:xfrm>
            <a:off x="10954512" y="6400800"/>
            <a:ext cx="100584" cy="100584"/>
          </a:xfrm>
          <a:prstGeom prst="ellipse">
            <a:avLst/>
          </a:prstGeom>
          <a:solidFill>
            <a:srgbClr val="3A4A7A"/>
          </a:solidFill>
          <a:ln w="12700">
            <a:solidFill>
              <a:srgbClr val="3A4A7A"/>
            </a:solidFill>
            <a:prstDash val="solid"/>
          </a:ln>
        </p:spPr>
      </p:sp>
      <p:sp>
        <p:nvSpPr>
          <p:cNvPr id="27" name="!!dot-4"/>
          <p:cNvSpPr/>
          <p:nvPr/>
        </p:nvSpPr>
        <p:spPr>
          <a:xfrm>
            <a:off x="11192256" y="6400800"/>
            <a:ext cx="100584" cy="100584"/>
          </a:xfrm>
          <a:prstGeom prst="ellipse">
            <a:avLst/>
          </a:prstGeom>
          <a:solidFill>
            <a:srgbClr val="3A4A7A"/>
          </a:solidFill>
          <a:ln w="12700">
            <a:solidFill>
              <a:srgbClr val="3A4A7A"/>
            </a:solidFill>
            <a:prstDash val="solid"/>
          </a:ln>
        </p:spPr>
      </p:sp>
      <p:sp>
        <p:nvSpPr>
          <p:cNvPr id="28" name="!!dot-5"/>
          <p:cNvSpPr/>
          <p:nvPr/>
        </p:nvSpPr>
        <p:spPr>
          <a:xfrm>
            <a:off x="11430000" y="6400800"/>
            <a:ext cx="100584" cy="100584"/>
          </a:xfrm>
          <a:prstGeom prst="ellipse">
            <a:avLst/>
          </a:prstGeom>
          <a:solidFill>
            <a:srgbClr val="3A4A7A"/>
          </a:solidFill>
          <a:ln w="12700">
            <a:solidFill>
              <a:srgbClr val="3A4A7A"/>
            </a:solidFill>
            <a:prstDash val="solid"/>
          </a:ln>
        </p:spPr>
      </p:sp>
      <p:sp>
        <p:nvSpPr>
          <p:cNvPr id="29" name="!!dot-6"/>
          <p:cNvSpPr/>
          <p:nvPr/>
        </p:nvSpPr>
        <p:spPr>
          <a:xfrm>
            <a:off x="11667744" y="6400800"/>
            <a:ext cx="100584" cy="100584"/>
          </a:xfrm>
          <a:prstGeom prst="ellipse">
            <a:avLst/>
          </a:prstGeom>
          <a:solidFill>
            <a:srgbClr val="3A4A7A"/>
          </a:solidFill>
          <a:ln w="12700">
            <a:solidFill>
              <a:srgbClr val="3A4A7A"/>
            </a:solidFill>
            <a:prstDash val="solid"/>
          </a:ln>
        </p:spPr>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3"/>
        </a:solidFill>
        <a:effectLst/>
      </p:bgPr>
    </p:bg>
    <p:spTree>
      <p:nvGrpSpPr>
        <p:cNvPr id="1" name=""/>
        <p:cNvGrpSpPr/>
        <p:nvPr/>
      </p:nvGrpSpPr>
      <p:grpSpPr>
        <a:xfrm>
          <a:off x="0" y="0"/>
          <a:ext cx="0" cy="0"/>
          <a:chOff x="0" y="0"/>
          <a:chExt cx="0" cy="0"/>
        </a:xfrm>
      </p:grpSpPr>
      <p:sp>
        <p:nvSpPr>
          <p:cNvPr id="2" name="!!panel"/>
          <p:cNvSpPr/>
          <p:nvPr/>
        </p:nvSpPr>
        <p:spPr>
          <a:xfrm>
            <a:off x="411480" y="411480"/>
            <a:ext cx="4160520" cy="6035040"/>
          </a:xfrm>
          <a:prstGeom prst="roundRect">
            <a:avLst>
              <a:gd name="adj" fmla="val 6593"/>
            </a:avLst>
          </a:prstGeom>
          <a:solidFill>
            <a:srgbClr val="0D1B3E"/>
          </a:solidFill>
          <a:ln w="12700">
            <a:solidFill>
              <a:srgbClr val="0D1B3E"/>
            </a:solidFill>
            <a:prstDash val="solid"/>
          </a:ln>
        </p:spPr>
      </p:sp>
      <p:sp>
        <p:nvSpPr>
          <p:cNvPr id="3" name="!!ray-0"/>
          <p:cNvSpPr/>
          <p:nvPr/>
        </p:nvSpPr>
        <p:spPr>
          <a:xfrm>
            <a:off x="1798625" y="1280160"/>
            <a:ext cx="268834" cy="914"/>
          </a:xfrm>
          <a:prstGeom prst="line">
            <a:avLst/>
          </a:prstGeom>
          <a:noFill/>
          <a:ln w="19050">
            <a:solidFill>
              <a:srgbClr val="F2A40E"/>
            </a:solidFill>
            <a:prstDash val="solid"/>
          </a:ln>
        </p:spPr>
      </p:sp>
      <p:sp>
        <p:nvSpPr>
          <p:cNvPr id="4" name="!!ray-1"/>
          <p:cNvSpPr/>
          <p:nvPr/>
        </p:nvSpPr>
        <p:spPr>
          <a:xfrm>
            <a:off x="1729164" y="1539392"/>
            <a:ext cx="232817" cy="134417"/>
          </a:xfrm>
          <a:prstGeom prst="line">
            <a:avLst/>
          </a:prstGeom>
          <a:noFill/>
          <a:ln w="19050">
            <a:solidFill>
              <a:srgbClr val="F2A40E">
                <a:alpha val="55000"/>
              </a:srgbClr>
            </a:solidFill>
            <a:prstDash val="solid"/>
          </a:ln>
        </p:spPr>
      </p:sp>
      <p:sp>
        <p:nvSpPr>
          <p:cNvPr id="5" name="!!ray-2"/>
          <p:cNvSpPr/>
          <p:nvPr/>
        </p:nvSpPr>
        <p:spPr>
          <a:xfrm>
            <a:off x="1539392" y="1729164"/>
            <a:ext cx="134417" cy="232817"/>
          </a:xfrm>
          <a:prstGeom prst="line">
            <a:avLst/>
          </a:prstGeom>
          <a:noFill/>
          <a:ln w="19050">
            <a:solidFill>
              <a:srgbClr val="F2A40E"/>
            </a:solidFill>
            <a:prstDash val="solid"/>
          </a:ln>
        </p:spPr>
      </p:sp>
      <p:sp>
        <p:nvSpPr>
          <p:cNvPr id="6" name="!!ray-3"/>
          <p:cNvSpPr/>
          <p:nvPr/>
        </p:nvSpPr>
        <p:spPr>
          <a:xfrm>
            <a:off x="1280160" y="1798625"/>
            <a:ext cx="914" cy="268834"/>
          </a:xfrm>
          <a:prstGeom prst="line">
            <a:avLst/>
          </a:prstGeom>
          <a:noFill/>
          <a:ln w="19050">
            <a:solidFill>
              <a:srgbClr val="F2A40E">
                <a:alpha val="55000"/>
              </a:srgbClr>
            </a:solidFill>
            <a:prstDash val="solid"/>
          </a:ln>
        </p:spPr>
      </p:sp>
      <p:sp>
        <p:nvSpPr>
          <p:cNvPr id="7" name="!!ray-4"/>
          <p:cNvSpPr/>
          <p:nvPr/>
        </p:nvSpPr>
        <p:spPr>
          <a:xfrm flipH="1">
            <a:off x="886511" y="1729164"/>
            <a:ext cx="134417" cy="232817"/>
          </a:xfrm>
          <a:prstGeom prst="line">
            <a:avLst/>
          </a:prstGeom>
          <a:noFill/>
          <a:ln w="19050">
            <a:solidFill>
              <a:srgbClr val="F2A40E"/>
            </a:solidFill>
            <a:prstDash val="solid"/>
          </a:ln>
        </p:spPr>
      </p:sp>
      <p:sp>
        <p:nvSpPr>
          <p:cNvPr id="8" name="!!ray-5"/>
          <p:cNvSpPr/>
          <p:nvPr/>
        </p:nvSpPr>
        <p:spPr>
          <a:xfrm flipH="1">
            <a:off x="598340" y="1539392"/>
            <a:ext cx="232817" cy="134417"/>
          </a:xfrm>
          <a:prstGeom prst="line">
            <a:avLst/>
          </a:prstGeom>
          <a:noFill/>
          <a:ln w="19050">
            <a:solidFill>
              <a:srgbClr val="F2A40E">
                <a:alpha val="55000"/>
              </a:srgbClr>
            </a:solidFill>
            <a:prstDash val="solid"/>
          </a:ln>
        </p:spPr>
      </p:sp>
      <p:sp>
        <p:nvSpPr>
          <p:cNvPr id="9" name="!!ray-6"/>
          <p:cNvSpPr/>
          <p:nvPr/>
        </p:nvSpPr>
        <p:spPr>
          <a:xfrm flipH="1">
            <a:off x="492862" y="1280160"/>
            <a:ext cx="268834" cy="914"/>
          </a:xfrm>
          <a:prstGeom prst="line">
            <a:avLst/>
          </a:prstGeom>
          <a:noFill/>
          <a:ln w="19050">
            <a:solidFill>
              <a:srgbClr val="F2A40E"/>
            </a:solidFill>
            <a:prstDash val="solid"/>
          </a:ln>
        </p:spPr>
      </p:sp>
      <p:sp>
        <p:nvSpPr>
          <p:cNvPr id="10" name="!!ray-7"/>
          <p:cNvSpPr/>
          <p:nvPr/>
        </p:nvSpPr>
        <p:spPr>
          <a:xfrm flipH="1" flipV="1">
            <a:off x="598340" y="886511"/>
            <a:ext cx="232817" cy="134417"/>
          </a:xfrm>
          <a:prstGeom prst="line">
            <a:avLst/>
          </a:prstGeom>
          <a:noFill/>
          <a:ln w="19050">
            <a:solidFill>
              <a:srgbClr val="F2A40E">
                <a:alpha val="55000"/>
              </a:srgbClr>
            </a:solidFill>
            <a:prstDash val="solid"/>
          </a:ln>
        </p:spPr>
      </p:sp>
      <p:sp>
        <p:nvSpPr>
          <p:cNvPr id="11" name="!!ray-8"/>
          <p:cNvSpPr/>
          <p:nvPr/>
        </p:nvSpPr>
        <p:spPr>
          <a:xfrm flipH="1" flipV="1">
            <a:off x="886511" y="598340"/>
            <a:ext cx="134417" cy="232817"/>
          </a:xfrm>
          <a:prstGeom prst="line">
            <a:avLst/>
          </a:prstGeom>
          <a:noFill/>
          <a:ln w="19050">
            <a:solidFill>
              <a:srgbClr val="F2A40E"/>
            </a:solidFill>
            <a:prstDash val="solid"/>
          </a:ln>
        </p:spPr>
      </p:sp>
      <p:sp>
        <p:nvSpPr>
          <p:cNvPr id="12" name="!!ray-9"/>
          <p:cNvSpPr/>
          <p:nvPr/>
        </p:nvSpPr>
        <p:spPr>
          <a:xfrm flipH="1" flipV="1">
            <a:off x="1280160" y="492862"/>
            <a:ext cx="914" cy="268834"/>
          </a:xfrm>
          <a:prstGeom prst="line">
            <a:avLst/>
          </a:prstGeom>
          <a:noFill/>
          <a:ln w="19050">
            <a:solidFill>
              <a:srgbClr val="F2A40E">
                <a:alpha val="55000"/>
              </a:srgbClr>
            </a:solidFill>
            <a:prstDash val="solid"/>
          </a:ln>
        </p:spPr>
      </p:sp>
      <p:sp>
        <p:nvSpPr>
          <p:cNvPr id="13" name="!!ray-10"/>
          <p:cNvSpPr/>
          <p:nvPr/>
        </p:nvSpPr>
        <p:spPr>
          <a:xfrm flipV="1">
            <a:off x="1539392" y="598340"/>
            <a:ext cx="134417" cy="232817"/>
          </a:xfrm>
          <a:prstGeom prst="line">
            <a:avLst/>
          </a:prstGeom>
          <a:noFill/>
          <a:ln w="19050">
            <a:solidFill>
              <a:srgbClr val="F2A40E"/>
            </a:solidFill>
            <a:prstDash val="solid"/>
          </a:ln>
        </p:spPr>
      </p:sp>
      <p:sp>
        <p:nvSpPr>
          <p:cNvPr id="14" name="!!ray-11"/>
          <p:cNvSpPr/>
          <p:nvPr/>
        </p:nvSpPr>
        <p:spPr>
          <a:xfrm flipV="1">
            <a:off x="1729164" y="886511"/>
            <a:ext cx="232817" cy="134417"/>
          </a:xfrm>
          <a:prstGeom prst="line">
            <a:avLst/>
          </a:prstGeom>
          <a:noFill/>
          <a:ln w="19050">
            <a:solidFill>
              <a:srgbClr val="F2A40E">
                <a:alpha val="55000"/>
              </a:srgbClr>
            </a:solidFill>
            <a:prstDash val="solid"/>
          </a:ln>
        </p:spPr>
      </p:sp>
      <p:sp>
        <p:nvSpPr>
          <p:cNvPr id="15" name="!!ring"/>
          <p:cNvSpPr/>
          <p:nvPr/>
        </p:nvSpPr>
        <p:spPr>
          <a:xfrm>
            <a:off x="896112" y="896112"/>
            <a:ext cx="768096" cy="768096"/>
          </a:xfrm>
          <a:prstGeom prst="ellipse">
            <a:avLst/>
          </a:prstGeom>
          <a:solidFill>
            <a:srgbClr val="1C3EA6"/>
          </a:solidFill>
          <a:ln w="12700">
            <a:solidFill>
              <a:srgbClr val="FFFFFF"/>
            </a:solidFill>
            <a:prstDash val="solid"/>
          </a:ln>
        </p:spPr>
      </p:sp>
      <p:sp>
        <p:nvSpPr>
          <p:cNvPr id="16" name="!!flame"/>
          <p:cNvSpPr/>
          <p:nvPr/>
        </p:nvSpPr>
        <p:spPr>
          <a:xfrm>
            <a:off x="1118860" y="1118860"/>
            <a:ext cx="322600" cy="322600"/>
          </a:xfrm>
          <a:prstGeom prst="ellipse">
            <a:avLst/>
          </a:prstGeom>
          <a:solidFill>
            <a:srgbClr val="F2A40E"/>
          </a:solidFill>
          <a:ln w="12700">
            <a:solidFill>
              <a:srgbClr val="F2A40E"/>
            </a:solidFill>
            <a:prstDash val="solid"/>
          </a:ln>
        </p:spPr>
      </p:sp>
      <p:sp>
        <p:nvSpPr>
          <p:cNvPr id="17" name="!!kicker"/>
          <p:cNvSpPr txBox="1"/>
          <p:nvPr/>
        </p:nvSpPr>
        <p:spPr>
          <a:xfrm>
            <a:off x="868680" y="2194560"/>
            <a:ext cx="3474720" cy="320040"/>
          </a:xfrm>
          <a:prstGeom prst="rect">
            <a:avLst/>
          </a:prstGeom>
          <a:noFill/>
          <a:ln/>
        </p:spPr>
        <p:txBody>
          <a:bodyPr wrap="square" lIns="0" tIns="0" rIns="0" bIns="0" rtlCol="0" anchor="ctr"/>
          <a:lstStyle/>
          <a:p>
            <a:pPr marL="0" indent="0">
              <a:buNone/>
            </a:pPr>
            <a:r>
              <a:rPr lang="en-US" sz="1300" b="1" kern="0" spc="300" dirty="0">
                <a:solidFill>
                  <a:srgbClr val="F2A40E"/>
                </a:solidFill>
                <a:latin typeface="Calibri" pitchFamily="34" charset="0"/>
                <a:ea typeface="Calibri" pitchFamily="34" charset="-122"/>
                <a:cs typeface="Calibri" pitchFamily="34" charset="-120"/>
              </a:rPr>
              <a:t>01 · THE PROBLEM</a:t>
            </a:r>
            <a:endParaRPr lang="en-US" sz="1300" dirty="0"/>
          </a:p>
        </p:txBody>
      </p:sp>
      <p:sp>
        <p:nvSpPr>
          <p:cNvPr id="18" name="!!title"/>
          <p:cNvSpPr txBox="1"/>
          <p:nvPr/>
        </p:nvSpPr>
        <p:spPr>
          <a:xfrm>
            <a:off x="868680" y="2560320"/>
            <a:ext cx="3383280" cy="1920240"/>
          </a:xfrm>
          <a:prstGeom prst="rect">
            <a:avLst/>
          </a:prstGeom>
          <a:noFill/>
          <a:ln/>
        </p:spPr>
        <p:txBody>
          <a:bodyPr wrap="square" lIns="0" tIns="0" rIns="0" bIns="0" rtlCol="0" anchor="t"/>
          <a:lstStyle/>
          <a:p>
            <a:pPr marL="0" indent="0">
              <a:buNone/>
            </a:pPr>
            <a:r>
              <a:rPr lang="en-US" sz="3000" b="1" dirty="0">
                <a:solidFill>
                  <a:srgbClr val="FFFFFF"/>
                </a:solidFill>
                <a:latin typeface="Century Gothic" pitchFamily="34" charset="0"/>
                <a:ea typeface="Century Gothic" pitchFamily="34" charset="-122"/>
                <a:cs typeface="Century Gothic" pitchFamily="34" charset="-120"/>
              </a:rPr>
              <a:t>One printed page fails three students</a:t>
            </a:r>
            <a:endParaRPr lang="en-US" sz="3000" dirty="0"/>
          </a:p>
        </p:txBody>
      </p:sp>
      <p:sp>
        <p:nvSpPr>
          <p:cNvPr id="19" name="why"/>
          <p:cNvSpPr txBox="1"/>
          <p:nvPr/>
        </p:nvSpPr>
        <p:spPr>
          <a:xfrm>
            <a:off x="868680" y="4572000"/>
            <a:ext cx="3383280" cy="155448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Why it matters: </a:t>
            </a:r>
            <a:r>
              <a:rPr lang="en-US" sz="1500" dirty="0">
                <a:solidFill>
                  <a:srgbClr val="C9D4F2"/>
                </a:solidFill>
                <a:latin typeface="Calibri" pitchFamily="34" charset="0"/>
                <a:ea typeface="Calibri" pitchFamily="34" charset="-122"/>
                <a:cs typeface="Calibri" pitchFamily="34" charset="-120"/>
              </a:rPr>
              <a:t>about 1 in 6 people live with a significant disability (WHO, 2023). Teachers have no time to adapt every page three ways, so it never happens.</a:t>
            </a:r>
            <a:endParaRPr lang="en-US" sz="1500" dirty="0"/>
          </a:p>
        </p:txBody>
      </p:sp>
      <p:sp>
        <p:nvSpPr>
          <p:cNvPr id="20" name="!!card-0"/>
          <p:cNvSpPr/>
          <p:nvPr/>
        </p:nvSpPr>
        <p:spPr>
          <a:xfrm>
            <a:off x="4937760" y="548640"/>
            <a:ext cx="6812280" cy="1600200"/>
          </a:xfrm>
          <a:prstGeom prst="roundRect">
            <a:avLst>
              <a:gd name="adj" fmla="val 11429"/>
            </a:avLst>
          </a:prstGeom>
          <a:solidFill>
            <a:srgbClr val="FFFFFF"/>
          </a:solidFill>
          <a:ln w="12700">
            <a:solidFill>
              <a:srgbClr val="D3DEDC"/>
            </a:solidFill>
            <a:prstDash val="solid"/>
          </a:ln>
          <a:effectLst>
            <a:outerShdw blurRad="152400" dist="38100" dir="5400000" algn="bl" rotWithShape="0">
              <a:srgbClr val="0D1B3E">
                <a:alpha val="13000"/>
              </a:srgbClr>
            </a:outerShdw>
          </a:effectLst>
        </p:spPr>
      </p:sp>
      <p:sp>
        <p:nvSpPr>
          <p:cNvPr id="21" name="!!cdot-0"/>
          <p:cNvSpPr/>
          <p:nvPr/>
        </p:nvSpPr>
        <p:spPr>
          <a:xfrm>
            <a:off x="5257800" y="937260"/>
            <a:ext cx="822960" cy="822960"/>
          </a:xfrm>
          <a:prstGeom prst="ellipse">
            <a:avLst/>
          </a:prstGeom>
          <a:solidFill>
            <a:srgbClr val="D8F1EF"/>
          </a:solidFill>
          <a:ln w="12700">
            <a:solidFill>
              <a:srgbClr val="D8F1EF"/>
            </a:solidFill>
            <a:prstDash val="solid"/>
          </a:ln>
        </p:spPr>
      </p:sp>
      <p:pic>
        <p:nvPicPr>
          <p:cNvPr id="22" name="!!cicon-0" descr="preencoded.png"/>
          <p:cNvPicPr>
            <a:picLocks noChangeAspect="1"/>
          </p:cNvPicPr>
          <p:nvPr/>
        </p:nvPicPr>
        <p:blipFill>
          <a:blip r:embed="rId3"/>
          <a:stretch>
            <a:fillRect/>
          </a:stretch>
        </p:blipFill>
        <p:spPr>
          <a:xfrm>
            <a:off x="5455310" y="1134770"/>
            <a:ext cx="427939" cy="427939"/>
          </a:xfrm>
          <a:prstGeom prst="rect">
            <a:avLst/>
          </a:prstGeom>
        </p:spPr>
      </p:pic>
      <p:sp>
        <p:nvSpPr>
          <p:cNvPr id="23" name="!!ctitle-0"/>
          <p:cNvSpPr txBox="1"/>
          <p:nvPr/>
        </p:nvSpPr>
        <p:spPr>
          <a:xfrm>
            <a:off x="6263640" y="822960"/>
            <a:ext cx="5212080" cy="457200"/>
          </a:xfrm>
          <a:prstGeom prst="rect">
            <a:avLst/>
          </a:prstGeom>
          <a:noFill/>
          <a:ln/>
        </p:spPr>
        <p:txBody>
          <a:bodyPr wrap="square" lIns="0" tIns="0" rIns="0" bIns="0" rtlCol="0" anchor="ctr"/>
          <a:lstStyle/>
          <a:p>
            <a:pPr marL="0" indent="0">
              <a:buNone/>
            </a:pPr>
            <a:r>
              <a:rPr lang="en-US" sz="2000" b="1" dirty="0">
                <a:solidFill>
                  <a:srgbClr val="0D1B3E"/>
                </a:solidFill>
                <a:latin typeface="Century Gothic" pitchFamily="34" charset="0"/>
                <a:ea typeface="Century Gothic" pitchFamily="34" charset="-122"/>
                <a:cs typeface="Century Gothic" pitchFamily="34" charset="-120"/>
              </a:rPr>
              <a:t>Bilal is blind</a:t>
            </a:r>
            <a:endParaRPr lang="en-US" sz="2000" dirty="0"/>
          </a:p>
        </p:txBody>
      </p:sp>
      <p:sp>
        <p:nvSpPr>
          <p:cNvPr id="24" name="!!cdesc-0"/>
          <p:cNvSpPr txBox="1"/>
          <p:nvPr/>
        </p:nvSpPr>
        <p:spPr>
          <a:xfrm>
            <a:off x="6263640" y="1298448"/>
            <a:ext cx="5212080" cy="731520"/>
          </a:xfrm>
          <a:prstGeom prst="rect">
            <a:avLst/>
          </a:prstGeom>
          <a:noFill/>
          <a:ln/>
        </p:spPr>
        <p:txBody>
          <a:bodyPr wrap="square" lIns="0" tIns="0" rIns="0" bIns="0" rtlCol="0" anchor="t"/>
          <a:lstStyle/>
          <a:p>
            <a:pPr marL="0" indent="0">
              <a:buNone/>
            </a:pPr>
            <a:r>
              <a:rPr lang="en-US" sz="1500" dirty="0">
                <a:solidFill>
                  <a:srgbClr val="4A5875"/>
                </a:solidFill>
                <a:latin typeface="Calibri" pitchFamily="34" charset="0"/>
                <a:ea typeface="Calibri" pitchFamily="34" charset="-122"/>
                <a:cs typeface="Calibri" pitchFamily="34" charset="-120"/>
              </a:rPr>
              <a:t>He can’t read the page or see its diagrams. Most textbooks have no accessible version.</a:t>
            </a:r>
            <a:endParaRPr lang="en-US" sz="1500" dirty="0"/>
          </a:p>
        </p:txBody>
      </p:sp>
      <p:sp>
        <p:nvSpPr>
          <p:cNvPr id="25" name="!!card-1"/>
          <p:cNvSpPr/>
          <p:nvPr/>
        </p:nvSpPr>
        <p:spPr>
          <a:xfrm>
            <a:off x="4937760" y="2359152"/>
            <a:ext cx="6812280" cy="1600200"/>
          </a:xfrm>
          <a:prstGeom prst="roundRect">
            <a:avLst>
              <a:gd name="adj" fmla="val 11429"/>
            </a:avLst>
          </a:prstGeom>
          <a:solidFill>
            <a:srgbClr val="FFFFFF"/>
          </a:solidFill>
          <a:ln w="12700">
            <a:solidFill>
              <a:srgbClr val="D3DEDC"/>
            </a:solidFill>
            <a:prstDash val="solid"/>
          </a:ln>
          <a:effectLst>
            <a:outerShdw blurRad="152400" dist="38100" dir="5400000" algn="bl" rotWithShape="0">
              <a:srgbClr val="0D1B3E">
                <a:alpha val="13000"/>
              </a:srgbClr>
            </a:outerShdw>
          </a:effectLst>
        </p:spPr>
      </p:sp>
      <p:sp>
        <p:nvSpPr>
          <p:cNvPr id="26" name="!!cdot-1"/>
          <p:cNvSpPr/>
          <p:nvPr/>
        </p:nvSpPr>
        <p:spPr>
          <a:xfrm>
            <a:off x="5257800" y="2747772"/>
            <a:ext cx="822960" cy="822960"/>
          </a:xfrm>
          <a:prstGeom prst="ellipse">
            <a:avLst/>
          </a:prstGeom>
          <a:solidFill>
            <a:srgbClr val="E7EEF9"/>
          </a:solidFill>
          <a:ln w="12700">
            <a:solidFill>
              <a:srgbClr val="E7EEF9"/>
            </a:solidFill>
            <a:prstDash val="solid"/>
          </a:ln>
        </p:spPr>
      </p:sp>
      <p:pic>
        <p:nvPicPr>
          <p:cNvPr id="27" name="!!cicon-1" descr="preencoded.png"/>
          <p:cNvPicPr>
            <a:picLocks noChangeAspect="1"/>
          </p:cNvPicPr>
          <p:nvPr/>
        </p:nvPicPr>
        <p:blipFill>
          <a:blip r:embed="rId4"/>
          <a:stretch>
            <a:fillRect/>
          </a:stretch>
        </p:blipFill>
        <p:spPr>
          <a:xfrm>
            <a:off x="5455310" y="2945282"/>
            <a:ext cx="427939" cy="427939"/>
          </a:xfrm>
          <a:prstGeom prst="rect">
            <a:avLst/>
          </a:prstGeom>
        </p:spPr>
      </p:pic>
      <p:sp>
        <p:nvSpPr>
          <p:cNvPr id="28" name="!!ctitle-1"/>
          <p:cNvSpPr txBox="1"/>
          <p:nvPr/>
        </p:nvSpPr>
        <p:spPr>
          <a:xfrm>
            <a:off x="6263640" y="2633472"/>
            <a:ext cx="5212080" cy="457200"/>
          </a:xfrm>
          <a:prstGeom prst="rect">
            <a:avLst/>
          </a:prstGeom>
          <a:noFill/>
          <a:ln/>
        </p:spPr>
        <p:txBody>
          <a:bodyPr wrap="square" lIns="0" tIns="0" rIns="0" bIns="0" rtlCol="0" anchor="ctr"/>
          <a:lstStyle/>
          <a:p>
            <a:pPr marL="0" indent="0">
              <a:buNone/>
            </a:pPr>
            <a:r>
              <a:rPr lang="en-US" sz="2000" b="1" dirty="0">
                <a:solidFill>
                  <a:srgbClr val="0D1B3E"/>
                </a:solidFill>
                <a:latin typeface="Century Gothic" pitchFamily="34" charset="0"/>
                <a:ea typeface="Century Gothic" pitchFamily="34" charset="-122"/>
                <a:cs typeface="Century Gothic" pitchFamily="34" charset="-120"/>
              </a:rPr>
              <a:t>Sara is dyslexic</a:t>
            </a:r>
            <a:endParaRPr lang="en-US" sz="2000" dirty="0"/>
          </a:p>
        </p:txBody>
      </p:sp>
      <p:sp>
        <p:nvSpPr>
          <p:cNvPr id="29" name="!!cdesc-1"/>
          <p:cNvSpPr txBox="1"/>
          <p:nvPr/>
        </p:nvSpPr>
        <p:spPr>
          <a:xfrm>
            <a:off x="6263640" y="3108960"/>
            <a:ext cx="5212080" cy="731520"/>
          </a:xfrm>
          <a:prstGeom prst="rect">
            <a:avLst/>
          </a:prstGeom>
          <a:noFill/>
          <a:ln/>
        </p:spPr>
        <p:txBody>
          <a:bodyPr wrap="square" lIns="0" tIns="0" rIns="0" bIns="0" rtlCol="0" anchor="t"/>
          <a:lstStyle/>
          <a:p>
            <a:pPr marL="0" indent="0">
              <a:buNone/>
            </a:pPr>
            <a:r>
              <a:rPr lang="en-US" sz="1500" dirty="0">
                <a:solidFill>
                  <a:srgbClr val="4A5875"/>
                </a:solidFill>
                <a:latin typeface="Calibri" pitchFamily="34" charset="0"/>
                <a:ea typeface="Calibri" pitchFamily="34" charset="-122"/>
                <a:cs typeface="Calibri" pitchFamily="34" charset="-120"/>
              </a:rPr>
              <a:t>Long sentences and hard words lose her, and Urdu-medium students hit the same wall in English.</a:t>
            </a:r>
            <a:endParaRPr lang="en-US" sz="1500" dirty="0"/>
          </a:p>
        </p:txBody>
      </p:sp>
      <p:sp>
        <p:nvSpPr>
          <p:cNvPr id="30" name="!!card-2"/>
          <p:cNvSpPr/>
          <p:nvPr/>
        </p:nvSpPr>
        <p:spPr>
          <a:xfrm>
            <a:off x="4937760" y="4169664"/>
            <a:ext cx="6812280" cy="1600200"/>
          </a:xfrm>
          <a:prstGeom prst="roundRect">
            <a:avLst>
              <a:gd name="adj" fmla="val 11429"/>
            </a:avLst>
          </a:prstGeom>
          <a:solidFill>
            <a:srgbClr val="FFFFFF"/>
          </a:solidFill>
          <a:ln w="12700">
            <a:solidFill>
              <a:srgbClr val="D3DEDC"/>
            </a:solidFill>
            <a:prstDash val="solid"/>
          </a:ln>
          <a:effectLst>
            <a:outerShdw blurRad="152400" dist="38100" dir="5400000" algn="bl" rotWithShape="0">
              <a:srgbClr val="0D1B3E">
                <a:alpha val="13000"/>
              </a:srgbClr>
            </a:outerShdw>
          </a:effectLst>
        </p:spPr>
      </p:sp>
      <p:sp>
        <p:nvSpPr>
          <p:cNvPr id="31" name="!!cdot-2"/>
          <p:cNvSpPr/>
          <p:nvPr/>
        </p:nvSpPr>
        <p:spPr>
          <a:xfrm>
            <a:off x="5257800" y="4558284"/>
            <a:ext cx="822960" cy="822960"/>
          </a:xfrm>
          <a:prstGeom prst="ellipse">
            <a:avLst/>
          </a:prstGeom>
          <a:solidFill>
            <a:srgbClr val="FFF0CC"/>
          </a:solidFill>
          <a:ln w="12700">
            <a:solidFill>
              <a:srgbClr val="FFF0CC"/>
            </a:solidFill>
            <a:prstDash val="solid"/>
          </a:ln>
        </p:spPr>
      </p:sp>
      <p:pic>
        <p:nvPicPr>
          <p:cNvPr id="32" name="!!cicon-2" descr="preencoded.png"/>
          <p:cNvPicPr>
            <a:picLocks noChangeAspect="1"/>
          </p:cNvPicPr>
          <p:nvPr/>
        </p:nvPicPr>
        <p:blipFill>
          <a:blip r:embed="rId5"/>
          <a:stretch>
            <a:fillRect/>
          </a:stretch>
        </p:blipFill>
        <p:spPr>
          <a:xfrm>
            <a:off x="5455310" y="4755794"/>
            <a:ext cx="427939" cy="427939"/>
          </a:xfrm>
          <a:prstGeom prst="rect">
            <a:avLst/>
          </a:prstGeom>
        </p:spPr>
      </p:pic>
      <p:sp>
        <p:nvSpPr>
          <p:cNvPr id="33" name="!!ctitle-2"/>
          <p:cNvSpPr txBox="1"/>
          <p:nvPr/>
        </p:nvSpPr>
        <p:spPr>
          <a:xfrm>
            <a:off x="6263640" y="4443984"/>
            <a:ext cx="5212080" cy="457200"/>
          </a:xfrm>
          <a:prstGeom prst="rect">
            <a:avLst/>
          </a:prstGeom>
          <a:noFill/>
          <a:ln/>
        </p:spPr>
        <p:txBody>
          <a:bodyPr wrap="square" lIns="0" tIns="0" rIns="0" bIns="0" rtlCol="0" anchor="ctr"/>
          <a:lstStyle/>
          <a:p>
            <a:pPr marL="0" indent="0">
              <a:buNone/>
            </a:pPr>
            <a:r>
              <a:rPr lang="en-US" sz="2000" b="1" dirty="0">
                <a:solidFill>
                  <a:srgbClr val="0D1B3E"/>
                </a:solidFill>
                <a:latin typeface="Century Gothic" pitchFamily="34" charset="0"/>
                <a:ea typeface="Century Gothic" pitchFamily="34" charset="-122"/>
                <a:cs typeface="Century Gothic" pitchFamily="34" charset="-120"/>
              </a:rPr>
              <a:t>Hamza is deaf</a:t>
            </a:r>
            <a:endParaRPr lang="en-US" sz="2000" dirty="0"/>
          </a:p>
        </p:txBody>
      </p:sp>
      <p:sp>
        <p:nvSpPr>
          <p:cNvPr id="34" name="!!cdesc-2"/>
          <p:cNvSpPr txBox="1"/>
          <p:nvPr/>
        </p:nvSpPr>
        <p:spPr>
          <a:xfrm>
            <a:off x="6263640" y="4919472"/>
            <a:ext cx="5212080" cy="731520"/>
          </a:xfrm>
          <a:prstGeom prst="rect">
            <a:avLst/>
          </a:prstGeom>
          <a:noFill/>
          <a:ln/>
        </p:spPr>
        <p:txBody>
          <a:bodyPr wrap="square" lIns="0" tIns="0" rIns="0" bIns="0" rtlCol="0" anchor="t"/>
          <a:lstStyle/>
          <a:p>
            <a:pPr marL="0" indent="0">
              <a:buNone/>
            </a:pPr>
            <a:r>
              <a:rPr lang="en-US" sz="1500" dirty="0">
                <a:solidFill>
                  <a:srgbClr val="4A5875"/>
                </a:solidFill>
                <a:latin typeface="Calibri" pitchFamily="34" charset="0"/>
                <a:ea typeface="Calibri" pitchFamily="34" charset="-122"/>
                <a:cs typeface="Calibri" pitchFamily="34" charset="-120"/>
              </a:rPr>
              <a:t>He misses everything the teacher says while explaining the page.</a:t>
            </a:r>
            <a:endParaRPr lang="en-US" sz="1500" dirty="0"/>
          </a:p>
        </p:txBody>
      </p:sp>
      <p:sp>
        <p:nvSpPr>
          <p:cNvPr id="35" name="!!dot-0"/>
          <p:cNvSpPr/>
          <p:nvPr/>
        </p:nvSpPr>
        <p:spPr>
          <a:xfrm>
            <a:off x="10241280" y="6400800"/>
            <a:ext cx="100584" cy="100584"/>
          </a:xfrm>
          <a:prstGeom prst="ellipse">
            <a:avLst/>
          </a:prstGeom>
          <a:solidFill>
            <a:srgbClr val="C3CDDD"/>
          </a:solidFill>
          <a:ln w="12700">
            <a:solidFill>
              <a:srgbClr val="C3CDDD"/>
            </a:solidFill>
            <a:prstDash val="solid"/>
          </a:ln>
        </p:spPr>
      </p:sp>
      <p:sp>
        <p:nvSpPr>
          <p:cNvPr id="36" name="!!dot-1"/>
          <p:cNvSpPr/>
          <p:nvPr/>
        </p:nvSpPr>
        <p:spPr>
          <a:xfrm>
            <a:off x="10479024" y="6400800"/>
            <a:ext cx="155448" cy="155448"/>
          </a:xfrm>
          <a:prstGeom prst="ellipse">
            <a:avLst/>
          </a:prstGeom>
          <a:solidFill>
            <a:srgbClr val="F2A40E"/>
          </a:solidFill>
          <a:ln w="12700">
            <a:solidFill>
              <a:srgbClr val="F2A40E"/>
            </a:solidFill>
            <a:prstDash val="solid"/>
          </a:ln>
        </p:spPr>
      </p:sp>
      <p:sp>
        <p:nvSpPr>
          <p:cNvPr id="37" name="!!dot-2"/>
          <p:cNvSpPr/>
          <p:nvPr/>
        </p:nvSpPr>
        <p:spPr>
          <a:xfrm>
            <a:off x="10716768" y="6400800"/>
            <a:ext cx="100584" cy="100584"/>
          </a:xfrm>
          <a:prstGeom prst="ellipse">
            <a:avLst/>
          </a:prstGeom>
          <a:solidFill>
            <a:srgbClr val="C3CDDD"/>
          </a:solidFill>
          <a:ln w="12700">
            <a:solidFill>
              <a:srgbClr val="C3CDDD"/>
            </a:solidFill>
            <a:prstDash val="solid"/>
          </a:ln>
        </p:spPr>
      </p:sp>
      <p:sp>
        <p:nvSpPr>
          <p:cNvPr id="38" name="!!dot-3"/>
          <p:cNvSpPr/>
          <p:nvPr/>
        </p:nvSpPr>
        <p:spPr>
          <a:xfrm>
            <a:off x="10954512" y="6400800"/>
            <a:ext cx="100584" cy="100584"/>
          </a:xfrm>
          <a:prstGeom prst="ellipse">
            <a:avLst/>
          </a:prstGeom>
          <a:solidFill>
            <a:srgbClr val="C3CDDD"/>
          </a:solidFill>
          <a:ln w="12700">
            <a:solidFill>
              <a:srgbClr val="C3CDDD"/>
            </a:solidFill>
            <a:prstDash val="solid"/>
          </a:ln>
        </p:spPr>
      </p:sp>
      <p:sp>
        <p:nvSpPr>
          <p:cNvPr id="39" name="!!dot-4"/>
          <p:cNvSpPr/>
          <p:nvPr/>
        </p:nvSpPr>
        <p:spPr>
          <a:xfrm>
            <a:off x="11192256" y="6400800"/>
            <a:ext cx="100584" cy="100584"/>
          </a:xfrm>
          <a:prstGeom prst="ellipse">
            <a:avLst/>
          </a:prstGeom>
          <a:solidFill>
            <a:srgbClr val="C3CDDD"/>
          </a:solidFill>
          <a:ln w="12700">
            <a:solidFill>
              <a:srgbClr val="C3CDDD"/>
            </a:solidFill>
            <a:prstDash val="solid"/>
          </a:ln>
        </p:spPr>
      </p:sp>
      <p:sp>
        <p:nvSpPr>
          <p:cNvPr id="40" name="!!dot-5"/>
          <p:cNvSpPr/>
          <p:nvPr/>
        </p:nvSpPr>
        <p:spPr>
          <a:xfrm>
            <a:off x="11430000" y="6400800"/>
            <a:ext cx="100584" cy="100584"/>
          </a:xfrm>
          <a:prstGeom prst="ellipse">
            <a:avLst/>
          </a:prstGeom>
          <a:solidFill>
            <a:srgbClr val="C3CDDD"/>
          </a:solidFill>
          <a:ln w="12700">
            <a:solidFill>
              <a:srgbClr val="C3CDDD"/>
            </a:solidFill>
            <a:prstDash val="solid"/>
          </a:ln>
        </p:spPr>
      </p:sp>
      <p:sp>
        <p:nvSpPr>
          <p:cNvPr id="41" name="!!dot-6"/>
          <p:cNvSpPr/>
          <p:nvPr/>
        </p:nvSpPr>
        <p:spPr>
          <a:xfrm>
            <a:off x="11667744" y="6400800"/>
            <a:ext cx="100584" cy="100584"/>
          </a:xfrm>
          <a:prstGeom prst="ellipse">
            <a:avLst/>
          </a:prstGeom>
          <a:solidFill>
            <a:srgbClr val="C3CDDD"/>
          </a:solidFill>
          <a:ln w="12700">
            <a:solidFill>
              <a:srgbClr val="C3CDDD"/>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3"/>
        </a:solidFill>
        <a:effectLst/>
      </p:bgPr>
    </p:bg>
    <p:spTree>
      <p:nvGrpSpPr>
        <p:cNvPr id="1" name=""/>
        <p:cNvGrpSpPr/>
        <p:nvPr/>
      </p:nvGrpSpPr>
      <p:grpSpPr>
        <a:xfrm>
          <a:off x="0" y="0"/>
          <a:ext cx="0" cy="0"/>
          <a:chOff x="0" y="0"/>
          <a:chExt cx="0" cy="0"/>
        </a:xfrm>
      </p:grpSpPr>
      <p:sp>
        <p:nvSpPr>
          <p:cNvPr id="2" name="!!panel"/>
          <p:cNvSpPr/>
          <p:nvPr/>
        </p:nvSpPr>
        <p:spPr>
          <a:xfrm>
            <a:off x="0" y="0"/>
            <a:ext cx="12191695" cy="2011680"/>
          </a:xfrm>
          <a:prstGeom prst="roundRect">
            <a:avLst/>
          </a:prstGeom>
          <a:solidFill>
            <a:srgbClr val="1C3EA6"/>
          </a:solidFill>
          <a:ln w="12700">
            <a:solidFill>
              <a:srgbClr val="1C3EA6"/>
            </a:solidFill>
            <a:prstDash val="solid"/>
          </a:ln>
        </p:spPr>
      </p:sp>
      <p:sp>
        <p:nvSpPr>
          <p:cNvPr id="3" name="!!ray-0"/>
          <p:cNvSpPr/>
          <p:nvPr/>
        </p:nvSpPr>
        <p:spPr>
          <a:xfrm>
            <a:off x="11624767" y="1005840"/>
            <a:ext cx="243230" cy="914"/>
          </a:xfrm>
          <a:prstGeom prst="line">
            <a:avLst/>
          </a:prstGeom>
          <a:noFill/>
          <a:ln w="19050">
            <a:solidFill>
              <a:srgbClr val="F2A40E"/>
            </a:solidFill>
            <a:prstDash val="solid"/>
          </a:ln>
        </p:spPr>
      </p:sp>
      <p:sp>
        <p:nvSpPr>
          <p:cNvPr id="4" name="!!ray-1"/>
          <p:cNvSpPr/>
          <p:nvPr/>
        </p:nvSpPr>
        <p:spPr>
          <a:xfrm>
            <a:off x="11561921" y="1240384"/>
            <a:ext cx="210644" cy="121615"/>
          </a:xfrm>
          <a:prstGeom prst="line">
            <a:avLst/>
          </a:prstGeom>
          <a:noFill/>
          <a:ln w="19050">
            <a:solidFill>
              <a:srgbClr val="F2A40E">
                <a:alpha val="55000"/>
              </a:srgbClr>
            </a:solidFill>
            <a:prstDash val="solid"/>
          </a:ln>
        </p:spPr>
      </p:sp>
      <p:sp>
        <p:nvSpPr>
          <p:cNvPr id="5" name="!!ray-2"/>
          <p:cNvSpPr/>
          <p:nvPr/>
        </p:nvSpPr>
        <p:spPr>
          <a:xfrm>
            <a:off x="11390224" y="1412081"/>
            <a:ext cx="121615" cy="210644"/>
          </a:xfrm>
          <a:prstGeom prst="line">
            <a:avLst/>
          </a:prstGeom>
          <a:noFill/>
          <a:ln w="19050">
            <a:solidFill>
              <a:srgbClr val="F2A40E"/>
            </a:solidFill>
            <a:prstDash val="solid"/>
          </a:ln>
        </p:spPr>
      </p:sp>
      <p:sp>
        <p:nvSpPr>
          <p:cNvPr id="6" name="!!ray-3"/>
          <p:cNvSpPr/>
          <p:nvPr/>
        </p:nvSpPr>
        <p:spPr>
          <a:xfrm>
            <a:off x="11155680" y="1474927"/>
            <a:ext cx="914" cy="243230"/>
          </a:xfrm>
          <a:prstGeom prst="line">
            <a:avLst/>
          </a:prstGeom>
          <a:noFill/>
          <a:ln w="19050">
            <a:solidFill>
              <a:srgbClr val="F2A40E">
                <a:alpha val="55000"/>
              </a:srgbClr>
            </a:solidFill>
            <a:prstDash val="solid"/>
          </a:ln>
        </p:spPr>
      </p:sp>
      <p:sp>
        <p:nvSpPr>
          <p:cNvPr id="7" name="!!ray-4"/>
          <p:cNvSpPr/>
          <p:nvPr/>
        </p:nvSpPr>
        <p:spPr>
          <a:xfrm flipH="1">
            <a:off x="10799521" y="1412081"/>
            <a:ext cx="121615" cy="210644"/>
          </a:xfrm>
          <a:prstGeom prst="line">
            <a:avLst/>
          </a:prstGeom>
          <a:noFill/>
          <a:ln w="19050">
            <a:solidFill>
              <a:srgbClr val="F2A40E"/>
            </a:solidFill>
            <a:prstDash val="solid"/>
          </a:ln>
        </p:spPr>
      </p:sp>
      <p:sp>
        <p:nvSpPr>
          <p:cNvPr id="8" name="!!ray-5"/>
          <p:cNvSpPr/>
          <p:nvPr/>
        </p:nvSpPr>
        <p:spPr>
          <a:xfrm flipH="1">
            <a:off x="10538795" y="1240384"/>
            <a:ext cx="210644" cy="121615"/>
          </a:xfrm>
          <a:prstGeom prst="line">
            <a:avLst/>
          </a:prstGeom>
          <a:noFill/>
          <a:ln w="19050">
            <a:solidFill>
              <a:srgbClr val="F2A40E">
                <a:alpha val="55000"/>
              </a:srgbClr>
            </a:solidFill>
            <a:prstDash val="solid"/>
          </a:ln>
        </p:spPr>
      </p:sp>
      <p:sp>
        <p:nvSpPr>
          <p:cNvPr id="9" name="!!ray-6"/>
          <p:cNvSpPr/>
          <p:nvPr/>
        </p:nvSpPr>
        <p:spPr>
          <a:xfrm flipH="1">
            <a:off x="10443362" y="1005840"/>
            <a:ext cx="243230" cy="914"/>
          </a:xfrm>
          <a:prstGeom prst="line">
            <a:avLst/>
          </a:prstGeom>
          <a:noFill/>
          <a:ln w="19050">
            <a:solidFill>
              <a:srgbClr val="F2A40E"/>
            </a:solidFill>
            <a:prstDash val="solid"/>
          </a:ln>
        </p:spPr>
      </p:sp>
      <p:sp>
        <p:nvSpPr>
          <p:cNvPr id="10" name="!!ray-7"/>
          <p:cNvSpPr/>
          <p:nvPr/>
        </p:nvSpPr>
        <p:spPr>
          <a:xfrm flipH="1" flipV="1">
            <a:off x="10538795" y="649681"/>
            <a:ext cx="210644" cy="121615"/>
          </a:xfrm>
          <a:prstGeom prst="line">
            <a:avLst/>
          </a:prstGeom>
          <a:noFill/>
          <a:ln w="19050">
            <a:solidFill>
              <a:srgbClr val="F2A40E">
                <a:alpha val="55000"/>
              </a:srgbClr>
            </a:solidFill>
            <a:prstDash val="solid"/>
          </a:ln>
        </p:spPr>
      </p:sp>
      <p:sp>
        <p:nvSpPr>
          <p:cNvPr id="11" name="!!ray-8"/>
          <p:cNvSpPr/>
          <p:nvPr/>
        </p:nvSpPr>
        <p:spPr>
          <a:xfrm flipH="1" flipV="1">
            <a:off x="10799521" y="388955"/>
            <a:ext cx="121615" cy="210644"/>
          </a:xfrm>
          <a:prstGeom prst="line">
            <a:avLst/>
          </a:prstGeom>
          <a:noFill/>
          <a:ln w="19050">
            <a:solidFill>
              <a:srgbClr val="F2A40E"/>
            </a:solidFill>
            <a:prstDash val="solid"/>
          </a:ln>
        </p:spPr>
      </p:sp>
      <p:sp>
        <p:nvSpPr>
          <p:cNvPr id="12" name="!!ray-9"/>
          <p:cNvSpPr/>
          <p:nvPr/>
        </p:nvSpPr>
        <p:spPr>
          <a:xfrm flipH="1" flipV="1">
            <a:off x="11155680" y="293522"/>
            <a:ext cx="914" cy="243230"/>
          </a:xfrm>
          <a:prstGeom prst="line">
            <a:avLst/>
          </a:prstGeom>
          <a:noFill/>
          <a:ln w="19050">
            <a:solidFill>
              <a:srgbClr val="F2A40E">
                <a:alpha val="55000"/>
              </a:srgbClr>
            </a:solidFill>
            <a:prstDash val="solid"/>
          </a:ln>
        </p:spPr>
      </p:sp>
      <p:sp>
        <p:nvSpPr>
          <p:cNvPr id="13" name="!!ray-10"/>
          <p:cNvSpPr/>
          <p:nvPr/>
        </p:nvSpPr>
        <p:spPr>
          <a:xfrm flipV="1">
            <a:off x="11390224" y="388955"/>
            <a:ext cx="121615" cy="210644"/>
          </a:xfrm>
          <a:prstGeom prst="line">
            <a:avLst/>
          </a:prstGeom>
          <a:noFill/>
          <a:ln w="19050">
            <a:solidFill>
              <a:srgbClr val="F2A40E"/>
            </a:solidFill>
            <a:prstDash val="solid"/>
          </a:ln>
        </p:spPr>
      </p:sp>
      <p:sp>
        <p:nvSpPr>
          <p:cNvPr id="14" name="!!ray-11"/>
          <p:cNvSpPr/>
          <p:nvPr/>
        </p:nvSpPr>
        <p:spPr>
          <a:xfrm flipV="1">
            <a:off x="11561921" y="649681"/>
            <a:ext cx="210644" cy="121615"/>
          </a:xfrm>
          <a:prstGeom prst="line">
            <a:avLst/>
          </a:prstGeom>
          <a:noFill/>
          <a:ln w="19050">
            <a:solidFill>
              <a:srgbClr val="F2A40E">
                <a:alpha val="55000"/>
              </a:srgbClr>
            </a:solidFill>
            <a:prstDash val="solid"/>
          </a:ln>
        </p:spPr>
      </p:sp>
      <p:sp>
        <p:nvSpPr>
          <p:cNvPr id="15" name="!!ring"/>
          <p:cNvSpPr/>
          <p:nvPr/>
        </p:nvSpPr>
        <p:spPr>
          <a:xfrm>
            <a:off x="10808208" y="658368"/>
            <a:ext cx="694944" cy="694944"/>
          </a:xfrm>
          <a:prstGeom prst="ellipse">
            <a:avLst/>
          </a:prstGeom>
          <a:solidFill>
            <a:srgbClr val="1C3EA6"/>
          </a:solidFill>
          <a:ln w="12700">
            <a:solidFill>
              <a:srgbClr val="FFFFFF"/>
            </a:solidFill>
            <a:prstDash val="solid"/>
          </a:ln>
        </p:spPr>
      </p:sp>
      <p:sp>
        <p:nvSpPr>
          <p:cNvPr id="16" name="!!flame"/>
          <p:cNvSpPr/>
          <p:nvPr/>
        </p:nvSpPr>
        <p:spPr>
          <a:xfrm>
            <a:off x="11009742" y="859902"/>
            <a:ext cx="291876" cy="291876"/>
          </a:xfrm>
          <a:prstGeom prst="ellipse">
            <a:avLst/>
          </a:prstGeom>
          <a:solidFill>
            <a:srgbClr val="F2A40E"/>
          </a:solidFill>
          <a:ln w="12700">
            <a:solidFill>
              <a:srgbClr val="F2A40E"/>
            </a:solidFill>
            <a:prstDash val="solid"/>
          </a:ln>
        </p:spPr>
      </p:sp>
      <p:sp>
        <p:nvSpPr>
          <p:cNvPr id="17" name="!!kicker"/>
          <p:cNvSpPr txBox="1"/>
          <p:nvPr/>
        </p:nvSpPr>
        <p:spPr>
          <a:xfrm>
            <a:off x="731520" y="411480"/>
            <a:ext cx="8229600" cy="320040"/>
          </a:xfrm>
          <a:prstGeom prst="rect">
            <a:avLst/>
          </a:prstGeom>
          <a:noFill/>
          <a:ln/>
        </p:spPr>
        <p:txBody>
          <a:bodyPr wrap="square" lIns="0" tIns="0" rIns="0" bIns="0" rtlCol="0" anchor="ctr"/>
          <a:lstStyle/>
          <a:p>
            <a:pPr marL="0" indent="0">
              <a:buNone/>
            </a:pPr>
            <a:r>
              <a:rPr lang="en-US" sz="1300" b="1" kern="0" spc="300" dirty="0">
                <a:solidFill>
                  <a:srgbClr val="F2A40E"/>
                </a:solidFill>
                <a:latin typeface="Calibri" pitchFamily="34" charset="0"/>
                <a:ea typeface="Calibri" pitchFamily="34" charset="-122"/>
                <a:cs typeface="Calibri" pitchFamily="34" charset="-120"/>
              </a:rPr>
              <a:t>02 · OUR SOLUTION, AND WHERE AI IS USED</a:t>
            </a:r>
            <a:endParaRPr lang="en-US" sz="1300" dirty="0"/>
          </a:p>
        </p:txBody>
      </p:sp>
      <p:sp>
        <p:nvSpPr>
          <p:cNvPr id="18" name="!!title"/>
          <p:cNvSpPr txBox="1"/>
          <p:nvPr/>
        </p:nvSpPr>
        <p:spPr>
          <a:xfrm>
            <a:off x="731520" y="777240"/>
            <a:ext cx="9692640" cy="914400"/>
          </a:xfrm>
          <a:prstGeom prst="rect">
            <a:avLst/>
          </a:prstGeom>
          <a:noFill/>
          <a:ln/>
        </p:spPr>
        <p:txBody>
          <a:bodyPr wrap="square" lIns="0" tIns="0" rIns="0" bIns="0" rtlCol="0" anchor="t"/>
          <a:lstStyle/>
          <a:p>
            <a:pPr marL="0" indent="0">
              <a:buNone/>
            </a:pPr>
            <a:r>
              <a:rPr lang="en-US" sz="3400" b="1" dirty="0">
                <a:solidFill>
                  <a:srgbClr val="FFFFFF"/>
                </a:solidFill>
                <a:latin typeface="Century Gothic" pitchFamily="34" charset="0"/>
                <a:ea typeface="Century Gothic" pitchFamily="34" charset="-122"/>
                <a:cs typeface="Century Gothic" pitchFamily="34" charset="-120"/>
              </a:rPr>
              <a:t>One photo in. Three ways to learn out.</a:t>
            </a:r>
            <a:endParaRPr lang="en-US" sz="3400" dirty="0"/>
          </a:p>
        </p:txBody>
      </p:sp>
      <p:sp>
        <p:nvSpPr>
          <p:cNvPr id="19" name="step-0"/>
          <p:cNvSpPr/>
          <p:nvPr/>
        </p:nvSpPr>
        <p:spPr>
          <a:xfrm>
            <a:off x="731520" y="2331720"/>
            <a:ext cx="2615184" cy="1188720"/>
          </a:xfrm>
          <a:prstGeom prst="roundRect">
            <a:avLst>
              <a:gd name="adj" fmla="val 12308"/>
            </a:avLst>
          </a:prstGeom>
          <a:solidFill>
            <a:srgbClr val="FFFFFF"/>
          </a:solidFill>
          <a:ln w="12700">
            <a:solidFill>
              <a:srgbClr val="D3DEDC"/>
            </a:solidFill>
            <a:prstDash val="solid"/>
          </a:ln>
        </p:spPr>
      </p:sp>
      <p:sp>
        <p:nvSpPr>
          <p:cNvPr id="20" name="step-dot-0"/>
          <p:cNvSpPr/>
          <p:nvPr/>
        </p:nvSpPr>
        <p:spPr>
          <a:xfrm>
            <a:off x="932688" y="2532888"/>
            <a:ext cx="566928" cy="566928"/>
          </a:xfrm>
          <a:prstGeom prst="ellipse">
            <a:avLst/>
          </a:prstGeom>
          <a:solidFill>
            <a:srgbClr val="1C3EA6"/>
          </a:solidFill>
          <a:ln w="12700">
            <a:solidFill>
              <a:srgbClr val="1C3EA6"/>
            </a:solidFill>
            <a:prstDash val="solid"/>
          </a:ln>
        </p:spPr>
      </p:sp>
      <p:pic>
        <p:nvPicPr>
          <p:cNvPr id="21" name="step-icon-0" descr="preencoded.png"/>
          <p:cNvPicPr>
            <a:picLocks noChangeAspect="1"/>
          </p:cNvPicPr>
          <p:nvPr/>
        </p:nvPicPr>
        <p:blipFill>
          <a:blip r:embed="rId3"/>
          <a:stretch>
            <a:fillRect/>
          </a:stretch>
        </p:blipFill>
        <p:spPr>
          <a:xfrm>
            <a:off x="1069848" y="2670048"/>
            <a:ext cx="292608" cy="292608"/>
          </a:xfrm>
          <a:prstGeom prst="rect">
            <a:avLst/>
          </a:prstGeom>
        </p:spPr>
      </p:pic>
      <p:sp>
        <p:nvSpPr>
          <p:cNvPr id="22" name="step-t-0"/>
          <p:cNvSpPr txBox="1"/>
          <p:nvPr/>
        </p:nvSpPr>
        <p:spPr>
          <a:xfrm>
            <a:off x="1645920" y="2487168"/>
            <a:ext cx="1234440" cy="320040"/>
          </a:xfrm>
          <a:prstGeom prst="rect">
            <a:avLst/>
          </a:prstGeom>
          <a:noFill/>
          <a:ln/>
        </p:spPr>
        <p:txBody>
          <a:bodyPr wrap="square" lIns="0" tIns="0" rIns="0" bIns="0" rtlCol="0" anchor="ctr"/>
          <a:lstStyle/>
          <a:p>
            <a:pPr marL="0" indent="0">
              <a:buNone/>
            </a:pPr>
            <a:r>
              <a:rPr lang="en-US" sz="1600" b="1" dirty="0">
                <a:solidFill>
                  <a:srgbClr val="0D1B3E"/>
                </a:solidFill>
                <a:latin typeface="Century Gothic" pitchFamily="34" charset="0"/>
                <a:ea typeface="Century Gothic" pitchFamily="34" charset="-122"/>
                <a:cs typeface="Century Gothic" pitchFamily="34" charset="-120"/>
              </a:rPr>
              <a:t>Read</a:t>
            </a:r>
            <a:endParaRPr lang="en-US" sz="1600" dirty="0"/>
          </a:p>
        </p:txBody>
      </p:sp>
      <p:sp>
        <p:nvSpPr>
          <p:cNvPr id="23" name="step-d-0"/>
          <p:cNvSpPr txBox="1"/>
          <p:nvPr/>
        </p:nvSpPr>
        <p:spPr>
          <a:xfrm>
            <a:off x="1645920" y="2807208"/>
            <a:ext cx="1600200" cy="658368"/>
          </a:xfrm>
          <a:prstGeom prst="rect">
            <a:avLst/>
          </a:prstGeom>
          <a:noFill/>
          <a:ln/>
        </p:spPr>
        <p:txBody>
          <a:bodyPr wrap="square" lIns="0" tIns="0" rIns="0" bIns="0" rtlCol="0" anchor="t"/>
          <a:lstStyle/>
          <a:p>
            <a:pPr marL="0" indent="0">
              <a:buNone/>
            </a:pPr>
            <a:r>
              <a:rPr lang="en-US" sz="1200" dirty="0">
                <a:solidFill>
                  <a:srgbClr val="4A5875"/>
                </a:solidFill>
                <a:latin typeface="Calibri" pitchFamily="34" charset="0"/>
                <a:ea typeface="Calibri" pitchFamily="34" charset="-122"/>
                <a:cs typeface="Calibri" pitchFamily="34" charset="-120"/>
              </a:rPr>
              <a:t>Gemini reads the photo and describes every figure</a:t>
            </a:r>
            <a:endParaRPr lang="en-US" sz="1200" dirty="0"/>
          </a:p>
        </p:txBody>
      </p:sp>
      <p:sp>
        <p:nvSpPr>
          <p:cNvPr id="24" name="step-ai-0"/>
          <p:cNvSpPr txBox="1"/>
          <p:nvPr/>
        </p:nvSpPr>
        <p:spPr>
          <a:xfrm>
            <a:off x="2907792" y="2395728"/>
            <a:ext cx="365760" cy="219456"/>
          </a:xfrm>
          <a:prstGeom prst="rect">
            <a:avLst/>
          </a:prstGeom>
          <a:solidFill>
            <a:srgbClr val="FFF0CC"/>
          </a:solidFill>
          <a:ln/>
        </p:spPr>
        <p:txBody>
          <a:bodyPr wrap="square" lIns="0" tIns="0" rIns="0" bIns="0" rtlCol="0" anchor="ctr"/>
          <a:lstStyle/>
          <a:p>
            <a:pPr marL="0" indent="0" algn="ctr">
              <a:buNone/>
            </a:pPr>
            <a:r>
              <a:rPr lang="en-US" sz="900" b="1" dirty="0">
                <a:solidFill>
                  <a:srgbClr val="7F5100"/>
                </a:solidFill>
                <a:latin typeface="Calibri" pitchFamily="34" charset="0"/>
                <a:ea typeface="Calibri" pitchFamily="34" charset="-122"/>
                <a:cs typeface="Calibri" pitchFamily="34" charset="-120"/>
              </a:rPr>
              <a:t>AI</a:t>
            </a:r>
            <a:endParaRPr lang="en-US" sz="900" dirty="0"/>
          </a:p>
        </p:txBody>
      </p:sp>
      <p:sp>
        <p:nvSpPr>
          <p:cNvPr id="25" name="step-1"/>
          <p:cNvSpPr/>
          <p:nvPr/>
        </p:nvSpPr>
        <p:spPr>
          <a:xfrm>
            <a:off x="3529584" y="2331720"/>
            <a:ext cx="2615184" cy="1188720"/>
          </a:xfrm>
          <a:prstGeom prst="roundRect">
            <a:avLst>
              <a:gd name="adj" fmla="val 12308"/>
            </a:avLst>
          </a:prstGeom>
          <a:solidFill>
            <a:srgbClr val="FFFFFF"/>
          </a:solidFill>
          <a:ln w="12700">
            <a:solidFill>
              <a:srgbClr val="D3DEDC"/>
            </a:solidFill>
            <a:prstDash val="solid"/>
          </a:ln>
        </p:spPr>
      </p:sp>
      <p:sp>
        <p:nvSpPr>
          <p:cNvPr id="26" name="step-dot-1"/>
          <p:cNvSpPr/>
          <p:nvPr/>
        </p:nvSpPr>
        <p:spPr>
          <a:xfrm>
            <a:off x="3730752" y="2532888"/>
            <a:ext cx="566928" cy="566928"/>
          </a:xfrm>
          <a:prstGeom prst="ellipse">
            <a:avLst/>
          </a:prstGeom>
          <a:solidFill>
            <a:srgbClr val="0B8F8F"/>
          </a:solidFill>
          <a:ln w="12700">
            <a:solidFill>
              <a:srgbClr val="0B8F8F"/>
            </a:solidFill>
            <a:prstDash val="solid"/>
          </a:ln>
        </p:spPr>
      </p:sp>
      <p:pic>
        <p:nvPicPr>
          <p:cNvPr id="27" name="step-icon-1" descr="preencoded.png"/>
          <p:cNvPicPr>
            <a:picLocks noChangeAspect="1"/>
          </p:cNvPicPr>
          <p:nvPr/>
        </p:nvPicPr>
        <p:blipFill>
          <a:blip r:embed="rId4"/>
          <a:stretch>
            <a:fillRect/>
          </a:stretch>
        </p:blipFill>
        <p:spPr>
          <a:xfrm>
            <a:off x="3867912" y="2670048"/>
            <a:ext cx="292608" cy="292608"/>
          </a:xfrm>
          <a:prstGeom prst="rect">
            <a:avLst/>
          </a:prstGeom>
        </p:spPr>
      </p:pic>
      <p:sp>
        <p:nvSpPr>
          <p:cNvPr id="28" name="step-t-1"/>
          <p:cNvSpPr txBox="1"/>
          <p:nvPr/>
        </p:nvSpPr>
        <p:spPr>
          <a:xfrm>
            <a:off x="4443984" y="2487168"/>
            <a:ext cx="1234440" cy="320040"/>
          </a:xfrm>
          <a:prstGeom prst="rect">
            <a:avLst/>
          </a:prstGeom>
          <a:noFill/>
          <a:ln/>
        </p:spPr>
        <p:txBody>
          <a:bodyPr wrap="square" lIns="0" tIns="0" rIns="0" bIns="0" rtlCol="0" anchor="ctr"/>
          <a:lstStyle/>
          <a:p>
            <a:pPr marL="0" indent="0">
              <a:buNone/>
            </a:pPr>
            <a:r>
              <a:rPr lang="en-US" sz="1600" b="1" dirty="0">
                <a:solidFill>
                  <a:srgbClr val="0D1B3E"/>
                </a:solidFill>
                <a:latin typeface="Century Gothic" pitchFamily="34" charset="0"/>
                <a:ea typeface="Century Gothic" pitchFamily="34" charset="-122"/>
                <a:cs typeface="Century Gothic" pitchFamily="34" charset="-120"/>
              </a:rPr>
              <a:t>Rewrite</a:t>
            </a:r>
            <a:endParaRPr lang="en-US" sz="1600" dirty="0"/>
          </a:p>
        </p:txBody>
      </p:sp>
      <p:sp>
        <p:nvSpPr>
          <p:cNvPr id="29" name="step-d-1"/>
          <p:cNvSpPr txBox="1"/>
          <p:nvPr/>
        </p:nvSpPr>
        <p:spPr>
          <a:xfrm>
            <a:off x="4443984" y="2807208"/>
            <a:ext cx="1600200" cy="658368"/>
          </a:xfrm>
          <a:prstGeom prst="rect">
            <a:avLst/>
          </a:prstGeom>
          <a:noFill/>
          <a:ln/>
        </p:spPr>
        <p:txBody>
          <a:bodyPr wrap="square" lIns="0" tIns="0" rIns="0" bIns="0" rtlCol="0" anchor="t"/>
          <a:lstStyle/>
          <a:p>
            <a:pPr marL="0" indent="0">
              <a:buNone/>
            </a:pPr>
            <a:r>
              <a:rPr lang="en-US" sz="1200" dirty="0">
                <a:solidFill>
                  <a:srgbClr val="4A5875"/>
                </a:solidFill>
                <a:latin typeface="Calibri" pitchFamily="34" charset="0"/>
                <a:ea typeface="Calibri" pitchFamily="34" charset="-122"/>
                <a:cs typeface="Calibri" pitchFamily="34" charset="-120"/>
              </a:rPr>
              <a:t>Qwen rewrites it simply and explains hard words in Urdu</a:t>
            </a:r>
            <a:endParaRPr lang="en-US" sz="1200" dirty="0"/>
          </a:p>
        </p:txBody>
      </p:sp>
      <p:sp>
        <p:nvSpPr>
          <p:cNvPr id="30" name="step-ai-1"/>
          <p:cNvSpPr txBox="1"/>
          <p:nvPr/>
        </p:nvSpPr>
        <p:spPr>
          <a:xfrm>
            <a:off x="5705856" y="2395728"/>
            <a:ext cx="365760" cy="219456"/>
          </a:xfrm>
          <a:prstGeom prst="rect">
            <a:avLst/>
          </a:prstGeom>
          <a:solidFill>
            <a:srgbClr val="FFF0CC"/>
          </a:solidFill>
          <a:ln/>
        </p:spPr>
        <p:txBody>
          <a:bodyPr wrap="square" lIns="0" tIns="0" rIns="0" bIns="0" rtlCol="0" anchor="ctr"/>
          <a:lstStyle/>
          <a:p>
            <a:pPr marL="0" indent="0" algn="ctr">
              <a:buNone/>
            </a:pPr>
            <a:r>
              <a:rPr lang="en-US" sz="900" b="1" dirty="0">
                <a:solidFill>
                  <a:srgbClr val="7F5100"/>
                </a:solidFill>
                <a:latin typeface="Calibri" pitchFamily="34" charset="0"/>
                <a:ea typeface="Calibri" pitchFamily="34" charset="-122"/>
                <a:cs typeface="Calibri" pitchFamily="34" charset="-120"/>
              </a:rPr>
              <a:t>AI</a:t>
            </a:r>
            <a:endParaRPr lang="en-US" sz="900" dirty="0"/>
          </a:p>
        </p:txBody>
      </p:sp>
      <p:sp>
        <p:nvSpPr>
          <p:cNvPr id="31" name="step-2"/>
          <p:cNvSpPr/>
          <p:nvPr/>
        </p:nvSpPr>
        <p:spPr>
          <a:xfrm>
            <a:off x="6327648" y="2331720"/>
            <a:ext cx="2615184" cy="1188720"/>
          </a:xfrm>
          <a:prstGeom prst="roundRect">
            <a:avLst>
              <a:gd name="adj" fmla="val 12308"/>
            </a:avLst>
          </a:prstGeom>
          <a:solidFill>
            <a:srgbClr val="FFFFFF"/>
          </a:solidFill>
          <a:ln w="12700">
            <a:solidFill>
              <a:srgbClr val="D3DEDC"/>
            </a:solidFill>
            <a:prstDash val="solid"/>
          </a:ln>
        </p:spPr>
      </p:sp>
      <p:sp>
        <p:nvSpPr>
          <p:cNvPr id="32" name="step-dot-2"/>
          <p:cNvSpPr/>
          <p:nvPr/>
        </p:nvSpPr>
        <p:spPr>
          <a:xfrm>
            <a:off x="6528816" y="2532888"/>
            <a:ext cx="566928" cy="566928"/>
          </a:xfrm>
          <a:prstGeom prst="ellipse">
            <a:avLst/>
          </a:prstGeom>
          <a:solidFill>
            <a:srgbClr val="0C8259"/>
          </a:solidFill>
          <a:ln w="12700">
            <a:solidFill>
              <a:srgbClr val="0C8259"/>
            </a:solidFill>
            <a:prstDash val="solid"/>
          </a:ln>
        </p:spPr>
      </p:sp>
      <p:pic>
        <p:nvPicPr>
          <p:cNvPr id="33" name="step-icon-2" descr="preencoded.png"/>
          <p:cNvPicPr>
            <a:picLocks noChangeAspect="1"/>
          </p:cNvPicPr>
          <p:nvPr/>
        </p:nvPicPr>
        <p:blipFill>
          <a:blip r:embed="rId5"/>
          <a:stretch>
            <a:fillRect/>
          </a:stretch>
        </p:blipFill>
        <p:spPr>
          <a:xfrm>
            <a:off x="6665976" y="2670048"/>
            <a:ext cx="292608" cy="292608"/>
          </a:xfrm>
          <a:prstGeom prst="rect">
            <a:avLst/>
          </a:prstGeom>
        </p:spPr>
      </p:pic>
      <p:sp>
        <p:nvSpPr>
          <p:cNvPr id="34" name="step-t-2"/>
          <p:cNvSpPr txBox="1"/>
          <p:nvPr/>
        </p:nvSpPr>
        <p:spPr>
          <a:xfrm>
            <a:off x="7242048" y="2487168"/>
            <a:ext cx="1234440" cy="320040"/>
          </a:xfrm>
          <a:prstGeom prst="rect">
            <a:avLst/>
          </a:prstGeom>
          <a:noFill/>
          <a:ln/>
        </p:spPr>
        <p:txBody>
          <a:bodyPr wrap="square" lIns="0" tIns="0" rIns="0" bIns="0" rtlCol="0" anchor="ctr"/>
          <a:lstStyle/>
          <a:p>
            <a:pPr marL="0" indent="0">
              <a:buNone/>
            </a:pPr>
            <a:r>
              <a:rPr lang="en-US" sz="1600" b="1" dirty="0">
                <a:solidFill>
                  <a:srgbClr val="0D1B3E"/>
                </a:solidFill>
                <a:latin typeface="Century Gothic" pitchFamily="34" charset="0"/>
                <a:ea typeface="Century Gothic" pitchFamily="34" charset="-122"/>
                <a:cs typeface="Century Gothic" pitchFamily="34" charset="-120"/>
              </a:rPr>
              <a:t>Check</a:t>
            </a:r>
            <a:endParaRPr lang="en-US" sz="1600" dirty="0"/>
          </a:p>
        </p:txBody>
      </p:sp>
      <p:sp>
        <p:nvSpPr>
          <p:cNvPr id="35" name="step-d-2"/>
          <p:cNvSpPr txBox="1"/>
          <p:nvPr/>
        </p:nvSpPr>
        <p:spPr>
          <a:xfrm>
            <a:off x="7242048" y="2807208"/>
            <a:ext cx="1600200" cy="658368"/>
          </a:xfrm>
          <a:prstGeom prst="rect">
            <a:avLst/>
          </a:prstGeom>
          <a:noFill/>
          <a:ln/>
        </p:spPr>
        <p:txBody>
          <a:bodyPr wrap="square" lIns="0" tIns="0" rIns="0" bIns="0" rtlCol="0" anchor="t"/>
          <a:lstStyle/>
          <a:p>
            <a:pPr marL="0" indent="0">
              <a:buNone/>
            </a:pPr>
            <a:r>
              <a:rPr lang="en-US" sz="1200" dirty="0">
                <a:solidFill>
                  <a:srgbClr val="4A5875"/>
                </a:solidFill>
                <a:latin typeface="Calibri" pitchFamily="34" charset="0"/>
                <a:ea typeface="Calibri" pitchFamily="34" charset="-122"/>
                <a:cs typeface="Calibri" pitchFamily="34" charset="-120"/>
              </a:rPr>
              <a:t>Fact Guard, a different AI, verifies every fact</a:t>
            </a:r>
            <a:endParaRPr lang="en-US" sz="1200" dirty="0"/>
          </a:p>
        </p:txBody>
      </p:sp>
      <p:sp>
        <p:nvSpPr>
          <p:cNvPr id="36" name="step-ai-2"/>
          <p:cNvSpPr txBox="1"/>
          <p:nvPr/>
        </p:nvSpPr>
        <p:spPr>
          <a:xfrm>
            <a:off x="8503920" y="2395728"/>
            <a:ext cx="365760" cy="219456"/>
          </a:xfrm>
          <a:prstGeom prst="rect">
            <a:avLst/>
          </a:prstGeom>
          <a:solidFill>
            <a:srgbClr val="FFF0CC"/>
          </a:solidFill>
          <a:ln/>
        </p:spPr>
        <p:txBody>
          <a:bodyPr wrap="square" lIns="0" tIns="0" rIns="0" bIns="0" rtlCol="0" anchor="ctr"/>
          <a:lstStyle/>
          <a:p>
            <a:pPr marL="0" indent="0" algn="ctr">
              <a:buNone/>
            </a:pPr>
            <a:r>
              <a:rPr lang="en-US" sz="900" b="1" dirty="0">
                <a:solidFill>
                  <a:srgbClr val="7F5100"/>
                </a:solidFill>
                <a:latin typeface="Calibri" pitchFamily="34" charset="0"/>
                <a:ea typeface="Calibri" pitchFamily="34" charset="-122"/>
                <a:cs typeface="Calibri" pitchFamily="34" charset="-120"/>
              </a:rPr>
              <a:t>AI</a:t>
            </a:r>
            <a:endParaRPr lang="en-US" sz="900" dirty="0"/>
          </a:p>
        </p:txBody>
      </p:sp>
      <p:sp>
        <p:nvSpPr>
          <p:cNvPr id="37" name="step-3"/>
          <p:cNvSpPr/>
          <p:nvPr/>
        </p:nvSpPr>
        <p:spPr>
          <a:xfrm>
            <a:off x="9125712" y="2331720"/>
            <a:ext cx="2615184" cy="1188720"/>
          </a:xfrm>
          <a:prstGeom prst="roundRect">
            <a:avLst>
              <a:gd name="adj" fmla="val 12308"/>
            </a:avLst>
          </a:prstGeom>
          <a:solidFill>
            <a:srgbClr val="FFFFFF"/>
          </a:solidFill>
          <a:ln w="12700">
            <a:solidFill>
              <a:srgbClr val="D3DEDC"/>
            </a:solidFill>
            <a:prstDash val="solid"/>
          </a:ln>
        </p:spPr>
      </p:sp>
      <p:sp>
        <p:nvSpPr>
          <p:cNvPr id="38" name="step-dot-3"/>
          <p:cNvSpPr/>
          <p:nvPr/>
        </p:nvSpPr>
        <p:spPr>
          <a:xfrm>
            <a:off x="9326880" y="2532888"/>
            <a:ext cx="566928" cy="566928"/>
          </a:xfrm>
          <a:prstGeom prst="ellipse">
            <a:avLst/>
          </a:prstGeom>
          <a:solidFill>
            <a:srgbClr val="0D1B3E"/>
          </a:solidFill>
          <a:ln w="12700">
            <a:solidFill>
              <a:srgbClr val="0D1B3E"/>
            </a:solidFill>
            <a:prstDash val="solid"/>
          </a:ln>
        </p:spPr>
      </p:sp>
      <p:pic>
        <p:nvPicPr>
          <p:cNvPr id="39" name="step-icon-3" descr="preencoded.png"/>
          <p:cNvPicPr>
            <a:picLocks noChangeAspect="1"/>
          </p:cNvPicPr>
          <p:nvPr/>
        </p:nvPicPr>
        <p:blipFill>
          <a:blip r:embed="rId6"/>
          <a:stretch>
            <a:fillRect/>
          </a:stretch>
        </p:blipFill>
        <p:spPr>
          <a:xfrm>
            <a:off x="9464040" y="2670048"/>
            <a:ext cx="292608" cy="292608"/>
          </a:xfrm>
          <a:prstGeom prst="rect">
            <a:avLst/>
          </a:prstGeom>
        </p:spPr>
      </p:pic>
      <p:sp>
        <p:nvSpPr>
          <p:cNvPr id="40" name="step-t-3"/>
          <p:cNvSpPr txBox="1"/>
          <p:nvPr/>
        </p:nvSpPr>
        <p:spPr>
          <a:xfrm>
            <a:off x="10040112" y="2487168"/>
            <a:ext cx="1234440" cy="320040"/>
          </a:xfrm>
          <a:prstGeom prst="rect">
            <a:avLst/>
          </a:prstGeom>
          <a:noFill/>
          <a:ln/>
        </p:spPr>
        <p:txBody>
          <a:bodyPr wrap="square" lIns="0" tIns="0" rIns="0" bIns="0" rtlCol="0" anchor="ctr"/>
          <a:lstStyle/>
          <a:p>
            <a:pPr marL="0" indent="0">
              <a:buNone/>
            </a:pPr>
            <a:r>
              <a:rPr lang="en-US" sz="1600" b="1" dirty="0">
                <a:solidFill>
                  <a:srgbClr val="0D1B3E"/>
                </a:solidFill>
                <a:latin typeface="Century Gothic" pitchFamily="34" charset="0"/>
                <a:ea typeface="Century Gothic" pitchFamily="34" charset="-122"/>
                <a:cs typeface="Century Gothic" pitchFamily="34" charset="-120"/>
              </a:rPr>
              <a:t>Transcribe</a:t>
            </a:r>
            <a:endParaRPr lang="en-US" sz="1600" dirty="0"/>
          </a:p>
        </p:txBody>
      </p:sp>
      <p:sp>
        <p:nvSpPr>
          <p:cNvPr id="41" name="step-d-3"/>
          <p:cNvSpPr txBox="1"/>
          <p:nvPr/>
        </p:nvSpPr>
        <p:spPr>
          <a:xfrm>
            <a:off x="10040112" y="2807208"/>
            <a:ext cx="1600200" cy="658368"/>
          </a:xfrm>
          <a:prstGeom prst="rect">
            <a:avLst/>
          </a:prstGeom>
          <a:noFill/>
          <a:ln/>
        </p:spPr>
        <p:txBody>
          <a:bodyPr wrap="square" lIns="0" tIns="0" rIns="0" bIns="0" rtlCol="0" anchor="t"/>
          <a:lstStyle/>
          <a:p>
            <a:pPr marL="0" indent="0">
              <a:buNone/>
            </a:pPr>
            <a:r>
              <a:rPr lang="en-US" sz="1200" dirty="0">
                <a:solidFill>
                  <a:srgbClr val="4A5875"/>
                </a:solidFill>
                <a:latin typeface="Calibri" pitchFamily="34" charset="0"/>
                <a:ea typeface="Calibri" pitchFamily="34" charset="-122"/>
                <a:cs typeface="Calibri" pitchFamily="34" charset="-120"/>
              </a:rPr>
              <a:t>Whisper transcribes the lecture; voices read it all aloud</a:t>
            </a:r>
            <a:endParaRPr lang="en-US" sz="1200" dirty="0"/>
          </a:p>
        </p:txBody>
      </p:sp>
      <p:sp>
        <p:nvSpPr>
          <p:cNvPr id="42" name="step-ai-3"/>
          <p:cNvSpPr txBox="1"/>
          <p:nvPr/>
        </p:nvSpPr>
        <p:spPr>
          <a:xfrm>
            <a:off x="11301984" y="2395728"/>
            <a:ext cx="365760" cy="219456"/>
          </a:xfrm>
          <a:prstGeom prst="rect">
            <a:avLst/>
          </a:prstGeom>
          <a:solidFill>
            <a:srgbClr val="FFF0CC"/>
          </a:solidFill>
          <a:ln/>
        </p:spPr>
        <p:txBody>
          <a:bodyPr wrap="square" lIns="0" tIns="0" rIns="0" bIns="0" rtlCol="0" anchor="ctr"/>
          <a:lstStyle/>
          <a:p>
            <a:pPr marL="0" indent="0" algn="ctr">
              <a:buNone/>
            </a:pPr>
            <a:r>
              <a:rPr lang="en-US" sz="900" b="1" dirty="0">
                <a:solidFill>
                  <a:srgbClr val="7F5100"/>
                </a:solidFill>
                <a:latin typeface="Calibri" pitchFamily="34" charset="0"/>
                <a:ea typeface="Calibri" pitchFamily="34" charset="-122"/>
                <a:cs typeface="Calibri" pitchFamily="34" charset="-120"/>
              </a:rPr>
              <a:t>AI</a:t>
            </a:r>
            <a:endParaRPr lang="en-US" sz="900" dirty="0"/>
          </a:p>
        </p:txBody>
      </p:sp>
      <p:sp>
        <p:nvSpPr>
          <p:cNvPr id="43" name="!!card-0"/>
          <p:cNvSpPr/>
          <p:nvPr/>
        </p:nvSpPr>
        <p:spPr>
          <a:xfrm>
            <a:off x="731520" y="3840480"/>
            <a:ext cx="3520440" cy="2331720"/>
          </a:xfrm>
          <a:prstGeom prst="roundRect">
            <a:avLst>
              <a:gd name="adj" fmla="val 7843"/>
            </a:avLst>
          </a:prstGeom>
          <a:solidFill>
            <a:srgbClr val="FFFFFF"/>
          </a:solidFill>
          <a:ln w="12700">
            <a:solidFill>
              <a:srgbClr val="D3DEDC"/>
            </a:solidFill>
            <a:prstDash val="solid"/>
          </a:ln>
          <a:effectLst>
            <a:outerShdw blurRad="152400" dist="38100" dir="5400000" algn="bl" rotWithShape="0">
              <a:srgbClr val="0D1B3E">
                <a:alpha val="13000"/>
              </a:srgbClr>
            </a:outerShdw>
          </a:effectLst>
        </p:spPr>
      </p:sp>
      <p:sp>
        <p:nvSpPr>
          <p:cNvPr id="44" name="!!cdot-0"/>
          <p:cNvSpPr/>
          <p:nvPr/>
        </p:nvSpPr>
        <p:spPr>
          <a:xfrm>
            <a:off x="1051560" y="4133088"/>
            <a:ext cx="731520" cy="731520"/>
          </a:xfrm>
          <a:prstGeom prst="ellipse">
            <a:avLst/>
          </a:prstGeom>
          <a:solidFill>
            <a:srgbClr val="D8F1EF"/>
          </a:solidFill>
          <a:ln w="12700">
            <a:solidFill>
              <a:srgbClr val="D8F1EF"/>
            </a:solidFill>
            <a:prstDash val="solid"/>
          </a:ln>
        </p:spPr>
      </p:sp>
      <p:pic>
        <p:nvPicPr>
          <p:cNvPr id="45" name="!!cicon-0" descr="preencoded.png"/>
          <p:cNvPicPr>
            <a:picLocks noChangeAspect="1"/>
          </p:cNvPicPr>
          <p:nvPr/>
        </p:nvPicPr>
        <p:blipFill>
          <a:blip r:embed="rId7"/>
          <a:stretch>
            <a:fillRect/>
          </a:stretch>
        </p:blipFill>
        <p:spPr>
          <a:xfrm>
            <a:off x="1227125" y="4308653"/>
            <a:ext cx="380390" cy="380390"/>
          </a:xfrm>
          <a:prstGeom prst="rect">
            <a:avLst/>
          </a:prstGeom>
        </p:spPr>
      </p:pic>
      <p:sp>
        <p:nvSpPr>
          <p:cNvPr id="46" name="!!ctitle-0"/>
          <p:cNvSpPr txBox="1"/>
          <p:nvPr/>
        </p:nvSpPr>
        <p:spPr>
          <a:xfrm>
            <a:off x="1920240" y="4224528"/>
            <a:ext cx="2194560" cy="457200"/>
          </a:xfrm>
          <a:prstGeom prst="rect">
            <a:avLst/>
          </a:prstGeom>
          <a:noFill/>
          <a:ln/>
        </p:spPr>
        <p:txBody>
          <a:bodyPr wrap="square" lIns="0" tIns="0" rIns="0" bIns="0" rtlCol="0" anchor="ctr"/>
          <a:lstStyle/>
          <a:p>
            <a:pPr marL="0" indent="0">
              <a:buNone/>
            </a:pPr>
            <a:r>
              <a:rPr lang="en-US" sz="2000" b="1" dirty="0">
                <a:solidFill>
                  <a:srgbClr val="0D1B3E"/>
                </a:solidFill>
                <a:latin typeface="Century Gothic" pitchFamily="34" charset="0"/>
                <a:ea typeface="Century Gothic" pitchFamily="34" charset="-122"/>
                <a:cs typeface="Century Gothic" pitchFamily="34" charset="-120"/>
              </a:rPr>
              <a:t>Listen</a:t>
            </a:r>
            <a:endParaRPr lang="en-US" sz="2000" dirty="0"/>
          </a:p>
        </p:txBody>
      </p:sp>
      <p:sp>
        <p:nvSpPr>
          <p:cNvPr id="47" name="!!cdesc-0"/>
          <p:cNvSpPr txBox="1"/>
          <p:nvPr/>
        </p:nvSpPr>
        <p:spPr>
          <a:xfrm>
            <a:off x="1051560" y="4892040"/>
            <a:ext cx="2926080" cy="1188720"/>
          </a:xfrm>
          <a:prstGeom prst="rect">
            <a:avLst/>
          </a:prstGeom>
          <a:noFill/>
          <a:ln/>
        </p:spPr>
        <p:txBody>
          <a:bodyPr wrap="square" lIns="0" tIns="0" rIns="0" bIns="0" rtlCol="0" anchor="t"/>
          <a:lstStyle/>
          <a:p>
            <a:pPr marL="0" indent="0">
              <a:buNone/>
            </a:pPr>
            <a:r>
              <a:rPr lang="en-US" sz="1400" dirty="0">
                <a:solidFill>
                  <a:srgbClr val="4A5875"/>
                </a:solidFill>
                <a:latin typeface="Calibri" pitchFamily="34" charset="0"/>
                <a:ea typeface="Calibri" pitchFamily="34" charset="-122"/>
                <a:cs typeface="Calibri" pitchFamily="34" charset="-120"/>
              </a:rPr>
              <a:t>For Bilal: the page read aloud section by section, every figure described in words, full keyboard control.</a:t>
            </a:r>
            <a:endParaRPr lang="en-US" sz="1400" dirty="0"/>
          </a:p>
        </p:txBody>
      </p:sp>
      <p:sp>
        <p:nvSpPr>
          <p:cNvPr id="48" name="!!card-1"/>
          <p:cNvSpPr/>
          <p:nvPr/>
        </p:nvSpPr>
        <p:spPr>
          <a:xfrm>
            <a:off x="4480560" y="3840480"/>
            <a:ext cx="3520440" cy="2331720"/>
          </a:xfrm>
          <a:prstGeom prst="roundRect">
            <a:avLst>
              <a:gd name="adj" fmla="val 7843"/>
            </a:avLst>
          </a:prstGeom>
          <a:solidFill>
            <a:srgbClr val="FFFFFF"/>
          </a:solidFill>
          <a:ln w="12700">
            <a:solidFill>
              <a:srgbClr val="D3DEDC"/>
            </a:solidFill>
            <a:prstDash val="solid"/>
          </a:ln>
          <a:effectLst>
            <a:outerShdw blurRad="152400" dist="38100" dir="5400000" algn="bl" rotWithShape="0">
              <a:srgbClr val="0D1B3E">
                <a:alpha val="13000"/>
              </a:srgbClr>
            </a:outerShdw>
          </a:effectLst>
        </p:spPr>
      </p:sp>
      <p:sp>
        <p:nvSpPr>
          <p:cNvPr id="49" name="!!cdot-1"/>
          <p:cNvSpPr/>
          <p:nvPr/>
        </p:nvSpPr>
        <p:spPr>
          <a:xfrm>
            <a:off x="4800600" y="4133088"/>
            <a:ext cx="731520" cy="731520"/>
          </a:xfrm>
          <a:prstGeom prst="ellipse">
            <a:avLst/>
          </a:prstGeom>
          <a:solidFill>
            <a:srgbClr val="E7EEF9"/>
          </a:solidFill>
          <a:ln w="12700">
            <a:solidFill>
              <a:srgbClr val="E7EEF9"/>
            </a:solidFill>
            <a:prstDash val="solid"/>
          </a:ln>
        </p:spPr>
      </p:sp>
      <p:pic>
        <p:nvPicPr>
          <p:cNvPr id="50" name="!!cicon-1" descr="preencoded.png"/>
          <p:cNvPicPr>
            <a:picLocks noChangeAspect="1"/>
          </p:cNvPicPr>
          <p:nvPr/>
        </p:nvPicPr>
        <p:blipFill>
          <a:blip r:embed="rId8"/>
          <a:stretch>
            <a:fillRect/>
          </a:stretch>
        </p:blipFill>
        <p:spPr>
          <a:xfrm>
            <a:off x="4976165" y="4308653"/>
            <a:ext cx="380390" cy="380390"/>
          </a:xfrm>
          <a:prstGeom prst="rect">
            <a:avLst/>
          </a:prstGeom>
        </p:spPr>
      </p:pic>
      <p:sp>
        <p:nvSpPr>
          <p:cNvPr id="51" name="!!ctitle-1"/>
          <p:cNvSpPr txBox="1"/>
          <p:nvPr/>
        </p:nvSpPr>
        <p:spPr>
          <a:xfrm>
            <a:off x="5669280" y="4224528"/>
            <a:ext cx="2194560" cy="457200"/>
          </a:xfrm>
          <a:prstGeom prst="rect">
            <a:avLst/>
          </a:prstGeom>
          <a:noFill/>
          <a:ln/>
        </p:spPr>
        <p:txBody>
          <a:bodyPr wrap="square" lIns="0" tIns="0" rIns="0" bIns="0" rtlCol="0" anchor="ctr"/>
          <a:lstStyle/>
          <a:p>
            <a:pPr marL="0" indent="0">
              <a:buNone/>
            </a:pPr>
            <a:r>
              <a:rPr lang="en-US" sz="2000" b="1" dirty="0">
                <a:solidFill>
                  <a:srgbClr val="0D1B3E"/>
                </a:solidFill>
                <a:latin typeface="Century Gothic" pitchFamily="34" charset="0"/>
                <a:ea typeface="Century Gothic" pitchFamily="34" charset="-122"/>
                <a:cs typeface="Century Gothic" pitchFamily="34" charset="-120"/>
              </a:rPr>
              <a:t>Read Easy</a:t>
            </a:r>
            <a:endParaRPr lang="en-US" sz="2000" dirty="0"/>
          </a:p>
        </p:txBody>
      </p:sp>
      <p:sp>
        <p:nvSpPr>
          <p:cNvPr id="52" name="!!cdesc-1"/>
          <p:cNvSpPr txBox="1"/>
          <p:nvPr/>
        </p:nvSpPr>
        <p:spPr>
          <a:xfrm>
            <a:off x="4800600" y="4892040"/>
            <a:ext cx="2926080" cy="1188720"/>
          </a:xfrm>
          <a:prstGeom prst="rect">
            <a:avLst/>
          </a:prstGeom>
          <a:noFill/>
          <a:ln/>
        </p:spPr>
        <p:txBody>
          <a:bodyPr wrap="square" lIns="0" tIns="0" rIns="0" bIns="0" rtlCol="0" anchor="t"/>
          <a:lstStyle/>
          <a:p>
            <a:pPr marL="0" indent="0">
              <a:buNone/>
            </a:pPr>
            <a:r>
              <a:rPr lang="en-US" sz="1400" dirty="0">
                <a:solidFill>
                  <a:srgbClr val="4A5875"/>
                </a:solidFill>
                <a:latin typeface="Calibri" pitchFamily="34" charset="0"/>
                <a:ea typeface="Calibri" pitchFamily="34" charset="-122"/>
                <a:cs typeface="Calibri" pitchFamily="34" charset="-120"/>
              </a:rPr>
              <a:t>For Sara: simpler text beside the original, Urdu help for hard words, read-aloud that highlights each sentence.</a:t>
            </a:r>
            <a:endParaRPr lang="en-US" sz="1400" dirty="0"/>
          </a:p>
        </p:txBody>
      </p:sp>
      <p:sp>
        <p:nvSpPr>
          <p:cNvPr id="53" name="!!card-2"/>
          <p:cNvSpPr/>
          <p:nvPr/>
        </p:nvSpPr>
        <p:spPr>
          <a:xfrm>
            <a:off x="8229600" y="3840480"/>
            <a:ext cx="3520440" cy="2331720"/>
          </a:xfrm>
          <a:prstGeom prst="roundRect">
            <a:avLst>
              <a:gd name="adj" fmla="val 7843"/>
            </a:avLst>
          </a:prstGeom>
          <a:solidFill>
            <a:srgbClr val="FFFFFF"/>
          </a:solidFill>
          <a:ln w="12700">
            <a:solidFill>
              <a:srgbClr val="D3DEDC"/>
            </a:solidFill>
            <a:prstDash val="solid"/>
          </a:ln>
          <a:effectLst>
            <a:outerShdw blurRad="152400" dist="38100" dir="5400000" algn="bl" rotWithShape="0">
              <a:srgbClr val="0D1B3E">
                <a:alpha val="13000"/>
              </a:srgbClr>
            </a:outerShdw>
          </a:effectLst>
        </p:spPr>
      </p:sp>
      <p:sp>
        <p:nvSpPr>
          <p:cNvPr id="54" name="!!cdot-2"/>
          <p:cNvSpPr/>
          <p:nvPr/>
        </p:nvSpPr>
        <p:spPr>
          <a:xfrm>
            <a:off x="8549640" y="4133088"/>
            <a:ext cx="731520" cy="731520"/>
          </a:xfrm>
          <a:prstGeom prst="ellipse">
            <a:avLst/>
          </a:prstGeom>
          <a:solidFill>
            <a:srgbClr val="FFF0CC"/>
          </a:solidFill>
          <a:ln w="12700">
            <a:solidFill>
              <a:srgbClr val="FFF0CC"/>
            </a:solidFill>
            <a:prstDash val="solid"/>
          </a:ln>
        </p:spPr>
      </p:sp>
      <p:pic>
        <p:nvPicPr>
          <p:cNvPr id="55" name="!!cicon-2" descr="preencoded.png"/>
          <p:cNvPicPr>
            <a:picLocks noChangeAspect="1"/>
          </p:cNvPicPr>
          <p:nvPr/>
        </p:nvPicPr>
        <p:blipFill>
          <a:blip r:embed="rId9"/>
          <a:stretch>
            <a:fillRect/>
          </a:stretch>
        </p:blipFill>
        <p:spPr>
          <a:xfrm>
            <a:off x="8725205" y="4308653"/>
            <a:ext cx="380390" cy="380390"/>
          </a:xfrm>
          <a:prstGeom prst="rect">
            <a:avLst/>
          </a:prstGeom>
        </p:spPr>
      </p:pic>
      <p:sp>
        <p:nvSpPr>
          <p:cNvPr id="56" name="!!ctitle-2"/>
          <p:cNvSpPr txBox="1"/>
          <p:nvPr/>
        </p:nvSpPr>
        <p:spPr>
          <a:xfrm>
            <a:off x="9418320" y="4224528"/>
            <a:ext cx="2194560" cy="457200"/>
          </a:xfrm>
          <a:prstGeom prst="rect">
            <a:avLst/>
          </a:prstGeom>
          <a:noFill/>
          <a:ln/>
        </p:spPr>
        <p:txBody>
          <a:bodyPr wrap="square" lIns="0" tIns="0" rIns="0" bIns="0" rtlCol="0" anchor="ctr"/>
          <a:lstStyle/>
          <a:p>
            <a:pPr marL="0" indent="0">
              <a:buNone/>
            </a:pPr>
            <a:r>
              <a:rPr lang="en-US" sz="2000" b="1" dirty="0">
                <a:solidFill>
                  <a:srgbClr val="0D1B3E"/>
                </a:solidFill>
                <a:latin typeface="Century Gothic" pitchFamily="34" charset="0"/>
                <a:ea typeface="Century Gothic" pitchFamily="34" charset="-122"/>
                <a:cs typeface="Century Gothic" pitchFamily="34" charset="-120"/>
              </a:rPr>
              <a:t>Captions</a:t>
            </a:r>
            <a:endParaRPr lang="en-US" sz="2000" dirty="0"/>
          </a:p>
        </p:txBody>
      </p:sp>
      <p:sp>
        <p:nvSpPr>
          <p:cNvPr id="57" name="!!cdesc-2"/>
          <p:cNvSpPr txBox="1"/>
          <p:nvPr/>
        </p:nvSpPr>
        <p:spPr>
          <a:xfrm>
            <a:off x="8549640" y="4892040"/>
            <a:ext cx="2926080" cy="1188720"/>
          </a:xfrm>
          <a:prstGeom prst="rect">
            <a:avLst/>
          </a:prstGeom>
          <a:noFill/>
          <a:ln/>
        </p:spPr>
        <p:txBody>
          <a:bodyPr wrap="square" lIns="0" tIns="0" rIns="0" bIns="0" rtlCol="0" anchor="t"/>
          <a:lstStyle/>
          <a:p>
            <a:pPr marL="0" indent="0">
              <a:buNone/>
            </a:pPr>
            <a:r>
              <a:rPr lang="en-US" sz="1400" dirty="0">
                <a:solidFill>
                  <a:srgbClr val="4A5875"/>
                </a:solidFill>
                <a:latin typeface="Calibri" pitchFamily="34" charset="0"/>
                <a:ea typeface="Calibri" pitchFamily="34" charset="-122"/>
                <a:cs typeface="Calibri" pitchFamily="34" charset="-120"/>
              </a:rPr>
              <a:t>For Hamza: the lecture as a transcript synced to the audio, plus a summary checked against what was said.</a:t>
            </a:r>
            <a:endParaRPr lang="en-US" sz="1400" dirty="0"/>
          </a:p>
        </p:txBody>
      </p:sp>
      <p:sp>
        <p:nvSpPr>
          <p:cNvPr id="58" name="!!dot-0"/>
          <p:cNvSpPr/>
          <p:nvPr/>
        </p:nvSpPr>
        <p:spPr>
          <a:xfrm>
            <a:off x="10241280" y="6400800"/>
            <a:ext cx="100584" cy="100584"/>
          </a:xfrm>
          <a:prstGeom prst="ellipse">
            <a:avLst/>
          </a:prstGeom>
          <a:solidFill>
            <a:srgbClr val="C3CDDD"/>
          </a:solidFill>
          <a:ln w="12700">
            <a:solidFill>
              <a:srgbClr val="C3CDDD"/>
            </a:solidFill>
            <a:prstDash val="solid"/>
          </a:ln>
        </p:spPr>
      </p:sp>
      <p:sp>
        <p:nvSpPr>
          <p:cNvPr id="59" name="!!dot-1"/>
          <p:cNvSpPr/>
          <p:nvPr/>
        </p:nvSpPr>
        <p:spPr>
          <a:xfrm>
            <a:off x="10479024" y="6400800"/>
            <a:ext cx="100584" cy="100584"/>
          </a:xfrm>
          <a:prstGeom prst="ellipse">
            <a:avLst/>
          </a:prstGeom>
          <a:solidFill>
            <a:srgbClr val="C3CDDD"/>
          </a:solidFill>
          <a:ln w="12700">
            <a:solidFill>
              <a:srgbClr val="C3CDDD"/>
            </a:solidFill>
            <a:prstDash val="solid"/>
          </a:ln>
        </p:spPr>
      </p:sp>
      <p:sp>
        <p:nvSpPr>
          <p:cNvPr id="60" name="!!dot-2"/>
          <p:cNvSpPr/>
          <p:nvPr/>
        </p:nvSpPr>
        <p:spPr>
          <a:xfrm>
            <a:off x="10716768" y="6400800"/>
            <a:ext cx="155448" cy="155448"/>
          </a:xfrm>
          <a:prstGeom prst="ellipse">
            <a:avLst/>
          </a:prstGeom>
          <a:solidFill>
            <a:srgbClr val="F2A40E"/>
          </a:solidFill>
          <a:ln w="12700">
            <a:solidFill>
              <a:srgbClr val="F2A40E"/>
            </a:solidFill>
            <a:prstDash val="solid"/>
          </a:ln>
        </p:spPr>
      </p:sp>
      <p:sp>
        <p:nvSpPr>
          <p:cNvPr id="61" name="!!dot-3"/>
          <p:cNvSpPr/>
          <p:nvPr/>
        </p:nvSpPr>
        <p:spPr>
          <a:xfrm>
            <a:off x="10954512" y="6400800"/>
            <a:ext cx="100584" cy="100584"/>
          </a:xfrm>
          <a:prstGeom prst="ellipse">
            <a:avLst/>
          </a:prstGeom>
          <a:solidFill>
            <a:srgbClr val="C3CDDD"/>
          </a:solidFill>
          <a:ln w="12700">
            <a:solidFill>
              <a:srgbClr val="C3CDDD"/>
            </a:solidFill>
            <a:prstDash val="solid"/>
          </a:ln>
        </p:spPr>
      </p:sp>
      <p:sp>
        <p:nvSpPr>
          <p:cNvPr id="62" name="!!dot-4"/>
          <p:cNvSpPr/>
          <p:nvPr/>
        </p:nvSpPr>
        <p:spPr>
          <a:xfrm>
            <a:off x="11192256" y="6400800"/>
            <a:ext cx="100584" cy="100584"/>
          </a:xfrm>
          <a:prstGeom prst="ellipse">
            <a:avLst/>
          </a:prstGeom>
          <a:solidFill>
            <a:srgbClr val="C3CDDD"/>
          </a:solidFill>
          <a:ln w="12700">
            <a:solidFill>
              <a:srgbClr val="C3CDDD"/>
            </a:solidFill>
            <a:prstDash val="solid"/>
          </a:ln>
        </p:spPr>
      </p:sp>
      <p:sp>
        <p:nvSpPr>
          <p:cNvPr id="63" name="!!dot-5"/>
          <p:cNvSpPr/>
          <p:nvPr/>
        </p:nvSpPr>
        <p:spPr>
          <a:xfrm>
            <a:off x="11430000" y="6400800"/>
            <a:ext cx="100584" cy="100584"/>
          </a:xfrm>
          <a:prstGeom prst="ellipse">
            <a:avLst/>
          </a:prstGeom>
          <a:solidFill>
            <a:srgbClr val="C3CDDD"/>
          </a:solidFill>
          <a:ln w="12700">
            <a:solidFill>
              <a:srgbClr val="C3CDDD"/>
            </a:solidFill>
            <a:prstDash val="solid"/>
          </a:ln>
        </p:spPr>
      </p:sp>
      <p:sp>
        <p:nvSpPr>
          <p:cNvPr id="64" name="!!dot-6"/>
          <p:cNvSpPr/>
          <p:nvPr/>
        </p:nvSpPr>
        <p:spPr>
          <a:xfrm>
            <a:off x="11667744" y="6400800"/>
            <a:ext cx="100584" cy="100584"/>
          </a:xfrm>
          <a:prstGeom prst="ellipse">
            <a:avLst/>
          </a:prstGeom>
          <a:solidFill>
            <a:srgbClr val="C3CDDD"/>
          </a:solidFill>
          <a:ln w="12700">
            <a:solidFill>
              <a:srgbClr val="C3CDDD"/>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3E"/>
        </a:solidFill>
        <a:effectLst/>
      </p:bgPr>
    </p:bg>
    <p:spTree>
      <p:nvGrpSpPr>
        <p:cNvPr id="1" name=""/>
        <p:cNvGrpSpPr/>
        <p:nvPr/>
      </p:nvGrpSpPr>
      <p:grpSpPr>
        <a:xfrm>
          <a:off x="0" y="0"/>
          <a:ext cx="0" cy="0"/>
          <a:chOff x="0" y="0"/>
          <a:chExt cx="0" cy="0"/>
        </a:xfrm>
      </p:grpSpPr>
      <p:sp>
        <p:nvSpPr>
          <p:cNvPr id="2" name="!!panel"/>
          <p:cNvSpPr/>
          <p:nvPr/>
        </p:nvSpPr>
        <p:spPr>
          <a:xfrm>
            <a:off x="0" y="0"/>
            <a:ext cx="12191695" cy="6858000"/>
          </a:xfrm>
          <a:prstGeom prst="roundRect">
            <a:avLst/>
          </a:prstGeom>
          <a:solidFill>
            <a:srgbClr val="0D1B3E"/>
          </a:solidFill>
          <a:ln w="12700">
            <a:solidFill>
              <a:srgbClr val="0D1B3E"/>
            </a:solidFill>
            <a:prstDash val="solid"/>
          </a:ln>
        </p:spPr>
      </p:sp>
      <p:sp>
        <p:nvSpPr>
          <p:cNvPr id="3" name="!!ray-0"/>
          <p:cNvSpPr/>
          <p:nvPr/>
        </p:nvSpPr>
        <p:spPr>
          <a:xfrm>
            <a:off x="1789938" y="1143000"/>
            <a:ext cx="288036" cy="914"/>
          </a:xfrm>
          <a:prstGeom prst="line">
            <a:avLst/>
          </a:prstGeom>
          <a:noFill/>
          <a:ln w="19050">
            <a:solidFill>
              <a:srgbClr val="F2A40E"/>
            </a:solidFill>
            <a:prstDash val="solid"/>
          </a:ln>
        </p:spPr>
      </p:sp>
      <p:sp>
        <p:nvSpPr>
          <p:cNvPr id="4" name="!!ray-1"/>
          <p:cNvSpPr/>
          <p:nvPr/>
        </p:nvSpPr>
        <p:spPr>
          <a:xfrm>
            <a:off x="1715515" y="1420749"/>
            <a:ext cx="249446" cy="144018"/>
          </a:xfrm>
          <a:prstGeom prst="line">
            <a:avLst/>
          </a:prstGeom>
          <a:noFill/>
          <a:ln w="19050">
            <a:solidFill>
              <a:srgbClr val="F2A40E">
                <a:alpha val="55000"/>
              </a:srgbClr>
            </a:solidFill>
            <a:prstDash val="solid"/>
          </a:ln>
        </p:spPr>
      </p:sp>
      <p:sp>
        <p:nvSpPr>
          <p:cNvPr id="5" name="!!ray-2"/>
          <p:cNvSpPr/>
          <p:nvPr/>
        </p:nvSpPr>
        <p:spPr>
          <a:xfrm>
            <a:off x="1512189" y="1624075"/>
            <a:ext cx="144018" cy="249446"/>
          </a:xfrm>
          <a:prstGeom prst="line">
            <a:avLst/>
          </a:prstGeom>
          <a:noFill/>
          <a:ln w="19050">
            <a:solidFill>
              <a:srgbClr val="F2A40E"/>
            </a:solidFill>
            <a:prstDash val="solid"/>
          </a:ln>
        </p:spPr>
      </p:sp>
      <p:sp>
        <p:nvSpPr>
          <p:cNvPr id="6" name="!!ray-3"/>
          <p:cNvSpPr/>
          <p:nvPr/>
        </p:nvSpPr>
        <p:spPr>
          <a:xfrm>
            <a:off x="1234440" y="1698498"/>
            <a:ext cx="914" cy="288036"/>
          </a:xfrm>
          <a:prstGeom prst="line">
            <a:avLst/>
          </a:prstGeom>
          <a:noFill/>
          <a:ln w="19050">
            <a:solidFill>
              <a:srgbClr val="F2A40E">
                <a:alpha val="55000"/>
              </a:srgbClr>
            </a:solidFill>
            <a:prstDash val="solid"/>
          </a:ln>
        </p:spPr>
      </p:sp>
      <p:sp>
        <p:nvSpPr>
          <p:cNvPr id="7" name="!!ray-4"/>
          <p:cNvSpPr/>
          <p:nvPr/>
        </p:nvSpPr>
        <p:spPr>
          <a:xfrm flipH="1">
            <a:off x="812673" y="1624075"/>
            <a:ext cx="144018" cy="249446"/>
          </a:xfrm>
          <a:prstGeom prst="line">
            <a:avLst/>
          </a:prstGeom>
          <a:noFill/>
          <a:ln w="19050">
            <a:solidFill>
              <a:srgbClr val="F2A40E"/>
            </a:solidFill>
            <a:prstDash val="solid"/>
          </a:ln>
        </p:spPr>
      </p:sp>
      <p:sp>
        <p:nvSpPr>
          <p:cNvPr id="8" name="!!ray-5"/>
          <p:cNvSpPr/>
          <p:nvPr/>
        </p:nvSpPr>
        <p:spPr>
          <a:xfrm flipH="1">
            <a:off x="503918" y="1420749"/>
            <a:ext cx="249446" cy="144018"/>
          </a:xfrm>
          <a:prstGeom prst="line">
            <a:avLst/>
          </a:prstGeom>
          <a:noFill/>
          <a:ln w="19050">
            <a:solidFill>
              <a:srgbClr val="F2A40E">
                <a:alpha val="55000"/>
              </a:srgbClr>
            </a:solidFill>
            <a:prstDash val="solid"/>
          </a:ln>
        </p:spPr>
      </p:sp>
      <p:sp>
        <p:nvSpPr>
          <p:cNvPr id="9" name="!!ray-6"/>
          <p:cNvSpPr/>
          <p:nvPr/>
        </p:nvSpPr>
        <p:spPr>
          <a:xfrm flipH="1">
            <a:off x="390906" y="1143000"/>
            <a:ext cx="288036" cy="914"/>
          </a:xfrm>
          <a:prstGeom prst="line">
            <a:avLst/>
          </a:prstGeom>
          <a:noFill/>
          <a:ln w="19050">
            <a:solidFill>
              <a:srgbClr val="F2A40E"/>
            </a:solidFill>
            <a:prstDash val="solid"/>
          </a:ln>
        </p:spPr>
      </p:sp>
      <p:sp>
        <p:nvSpPr>
          <p:cNvPr id="10" name="!!ray-7"/>
          <p:cNvSpPr/>
          <p:nvPr/>
        </p:nvSpPr>
        <p:spPr>
          <a:xfrm flipH="1" flipV="1">
            <a:off x="503918" y="721233"/>
            <a:ext cx="249446" cy="144018"/>
          </a:xfrm>
          <a:prstGeom prst="line">
            <a:avLst/>
          </a:prstGeom>
          <a:noFill/>
          <a:ln w="19050">
            <a:solidFill>
              <a:srgbClr val="F2A40E">
                <a:alpha val="55000"/>
              </a:srgbClr>
            </a:solidFill>
            <a:prstDash val="solid"/>
          </a:ln>
        </p:spPr>
      </p:sp>
      <p:sp>
        <p:nvSpPr>
          <p:cNvPr id="11" name="!!ray-8"/>
          <p:cNvSpPr/>
          <p:nvPr/>
        </p:nvSpPr>
        <p:spPr>
          <a:xfrm flipH="1" flipV="1">
            <a:off x="812673" y="412478"/>
            <a:ext cx="144018" cy="249446"/>
          </a:xfrm>
          <a:prstGeom prst="line">
            <a:avLst/>
          </a:prstGeom>
          <a:noFill/>
          <a:ln w="19050">
            <a:solidFill>
              <a:srgbClr val="F2A40E"/>
            </a:solidFill>
            <a:prstDash val="solid"/>
          </a:ln>
        </p:spPr>
      </p:sp>
      <p:sp>
        <p:nvSpPr>
          <p:cNvPr id="12" name="!!ray-9"/>
          <p:cNvSpPr/>
          <p:nvPr/>
        </p:nvSpPr>
        <p:spPr>
          <a:xfrm flipH="1" flipV="1">
            <a:off x="1234440" y="299466"/>
            <a:ext cx="914" cy="288036"/>
          </a:xfrm>
          <a:prstGeom prst="line">
            <a:avLst/>
          </a:prstGeom>
          <a:noFill/>
          <a:ln w="19050">
            <a:solidFill>
              <a:srgbClr val="F2A40E">
                <a:alpha val="55000"/>
              </a:srgbClr>
            </a:solidFill>
            <a:prstDash val="solid"/>
          </a:ln>
        </p:spPr>
      </p:sp>
      <p:sp>
        <p:nvSpPr>
          <p:cNvPr id="13" name="!!ray-10"/>
          <p:cNvSpPr/>
          <p:nvPr/>
        </p:nvSpPr>
        <p:spPr>
          <a:xfrm flipV="1">
            <a:off x="1512189" y="412478"/>
            <a:ext cx="144018" cy="249446"/>
          </a:xfrm>
          <a:prstGeom prst="line">
            <a:avLst/>
          </a:prstGeom>
          <a:noFill/>
          <a:ln w="19050">
            <a:solidFill>
              <a:srgbClr val="F2A40E"/>
            </a:solidFill>
            <a:prstDash val="solid"/>
          </a:ln>
        </p:spPr>
      </p:sp>
      <p:sp>
        <p:nvSpPr>
          <p:cNvPr id="14" name="!!ray-11"/>
          <p:cNvSpPr/>
          <p:nvPr/>
        </p:nvSpPr>
        <p:spPr>
          <a:xfrm flipV="1">
            <a:off x="1715515" y="721233"/>
            <a:ext cx="249446" cy="144018"/>
          </a:xfrm>
          <a:prstGeom prst="line">
            <a:avLst/>
          </a:prstGeom>
          <a:noFill/>
          <a:ln w="19050">
            <a:solidFill>
              <a:srgbClr val="F2A40E">
                <a:alpha val="55000"/>
              </a:srgbClr>
            </a:solidFill>
            <a:prstDash val="solid"/>
          </a:ln>
        </p:spPr>
      </p:sp>
      <p:sp>
        <p:nvSpPr>
          <p:cNvPr id="15" name="!!ring"/>
          <p:cNvSpPr/>
          <p:nvPr/>
        </p:nvSpPr>
        <p:spPr>
          <a:xfrm>
            <a:off x="822960" y="731520"/>
            <a:ext cx="822960" cy="822960"/>
          </a:xfrm>
          <a:prstGeom prst="ellipse">
            <a:avLst/>
          </a:prstGeom>
          <a:solidFill>
            <a:srgbClr val="1C3EA6"/>
          </a:solidFill>
          <a:ln w="12700">
            <a:solidFill>
              <a:srgbClr val="FFFFFF"/>
            </a:solidFill>
            <a:prstDash val="solid"/>
          </a:ln>
        </p:spPr>
      </p:sp>
      <p:sp>
        <p:nvSpPr>
          <p:cNvPr id="16" name="!!flame"/>
          <p:cNvSpPr/>
          <p:nvPr/>
        </p:nvSpPr>
        <p:spPr>
          <a:xfrm>
            <a:off x="1061618" y="970178"/>
            <a:ext cx="345643" cy="345643"/>
          </a:xfrm>
          <a:prstGeom prst="ellipse">
            <a:avLst/>
          </a:prstGeom>
          <a:solidFill>
            <a:srgbClr val="F2A40E"/>
          </a:solidFill>
          <a:ln w="12700">
            <a:solidFill>
              <a:srgbClr val="F2A40E"/>
            </a:solidFill>
            <a:prstDash val="solid"/>
          </a:ln>
        </p:spPr>
      </p:sp>
      <p:sp>
        <p:nvSpPr>
          <p:cNvPr id="17" name="!!kicker"/>
          <p:cNvSpPr txBox="1"/>
          <p:nvPr/>
        </p:nvSpPr>
        <p:spPr>
          <a:xfrm>
            <a:off x="2377440" y="987552"/>
            <a:ext cx="4572000" cy="320040"/>
          </a:xfrm>
          <a:prstGeom prst="rect">
            <a:avLst/>
          </a:prstGeom>
          <a:noFill/>
          <a:ln/>
        </p:spPr>
        <p:txBody>
          <a:bodyPr wrap="square" lIns="0" tIns="0" rIns="0" bIns="0" rtlCol="0" anchor="ctr"/>
          <a:lstStyle/>
          <a:p>
            <a:pPr marL="0" indent="0">
              <a:buNone/>
            </a:pPr>
            <a:r>
              <a:rPr lang="en-US" sz="1300" b="1" kern="0" spc="300" dirty="0">
                <a:solidFill>
                  <a:srgbClr val="F2A40E"/>
                </a:solidFill>
                <a:latin typeface="Calibri" pitchFamily="34" charset="0"/>
                <a:ea typeface="Calibri" pitchFamily="34" charset="-122"/>
                <a:cs typeface="Calibri" pitchFamily="34" charset="-120"/>
              </a:rPr>
              <a:t>03 · LIVE DEMO · 2 MINUTES</a:t>
            </a:r>
            <a:endParaRPr lang="en-US" sz="1300" dirty="0"/>
          </a:p>
        </p:txBody>
      </p:sp>
      <p:sp>
        <p:nvSpPr>
          <p:cNvPr id="18" name="!!title"/>
          <p:cNvSpPr txBox="1"/>
          <p:nvPr/>
        </p:nvSpPr>
        <p:spPr>
          <a:xfrm>
            <a:off x="731520" y="1920240"/>
            <a:ext cx="5577840" cy="1280160"/>
          </a:xfrm>
          <a:prstGeom prst="rect">
            <a:avLst/>
          </a:prstGeom>
          <a:noFill/>
          <a:ln/>
        </p:spPr>
        <p:txBody>
          <a:bodyPr wrap="square" lIns="0" tIns="0" rIns="0" bIns="0" rtlCol="0" anchor="t"/>
          <a:lstStyle/>
          <a:p>
            <a:pPr marL="0" indent="0">
              <a:buNone/>
            </a:pPr>
            <a:r>
              <a:rPr lang="en-US" sz="3200" b="1" dirty="0">
                <a:solidFill>
                  <a:srgbClr val="FFFFFF"/>
                </a:solidFill>
                <a:latin typeface="Century Gothic" pitchFamily="34" charset="0"/>
                <a:ea typeface="Century Gothic" pitchFamily="34" charset="-122"/>
                <a:cs typeface="Century Gothic" pitchFamily="34" charset="-120"/>
              </a:rPr>
              <a:t>Watch a real page become a lesson</a:t>
            </a:r>
            <a:endParaRPr lang="en-US" sz="3200" dirty="0"/>
          </a:p>
        </p:txBody>
      </p:sp>
      <p:sp>
        <p:nvSpPr>
          <p:cNvPr id="19" name="demo-n-0"/>
          <p:cNvSpPr/>
          <p:nvPr/>
        </p:nvSpPr>
        <p:spPr>
          <a:xfrm>
            <a:off x="731520" y="3465576"/>
            <a:ext cx="420624" cy="420624"/>
          </a:xfrm>
          <a:prstGeom prst="ellipse">
            <a:avLst/>
          </a:prstGeom>
          <a:solidFill>
            <a:srgbClr val="F2A40E"/>
          </a:solidFill>
          <a:ln w="12700">
            <a:solidFill>
              <a:srgbClr val="F2A40E"/>
            </a:solidFill>
            <a:prstDash val="solid"/>
          </a:ln>
        </p:spPr>
      </p:sp>
      <p:sp>
        <p:nvSpPr>
          <p:cNvPr id="20" name="demo-num-0"/>
          <p:cNvSpPr txBox="1"/>
          <p:nvPr/>
        </p:nvSpPr>
        <p:spPr>
          <a:xfrm>
            <a:off x="731520" y="3465576"/>
            <a:ext cx="420624" cy="420624"/>
          </a:xfrm>
          <a:prstGeom prst="rect">
            <a:avLst/>
          </a:prstGeom>
          <a:noFill/>
          <a:ln/>
        </p:spPr>
        <p:txBody>
          <a:bodyPr wrap="square" lIns="0" tIns="0" rIns="0" bIns="0" rtlCol="0" anchor="ctr"/>
          <a:lstStyle/>
          <a:p>
            <a:pPr marL="0" indent="0" algn="ctr">
              <a:buNone/>
            </a:pPr>
            <a:r>
              <a:rPr lang="en-US" sz="1500" b="1" dirty="0">
                <a:solidFill>
                  <a:srgbClr val="0D1B3E"/>
                </a:solidFill>
                <a:latin typeface="Calibri" pitchFamily="34" charset="0"/>
                <a:ea typeface="Calibri" pitchFamily="34" charset="-122"/>
                <a:cs typeface="Calibri" pitchFamily="34" charset="-120"/>
              </a:rPr>
              <a:t>1</a:t>
            </a:r>
            <a:endParaRPr lang="en-US" sz="1500" dirty="0"/>
          </a:p>
        </p:txBody>
      </p:sp>
      <p:sp>
        <p:nvSpPr>
          <p:cNvPr id="21" name="demo-t-0"/>
          <p:cNvSpPr txBox="1"/>
          <p:nvPr/>
        </p:nvSpPr>
        <p:spPr>
          <a:xfrm>
            <a:off x="1325880" y="3410712"/>
            <a:ext cx="4754880"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Photograph a printed page</a:t>
            </a:r>
            <a:endParaRPr lang="en-US" sz="1800" dirty="0"/>
          </a:p>
        </p:txBody>
      </p:sp>
      <p:sp>
        <p:nvSpPr>
          <p:cNvPr id="22" name="demo-d-0"/>
          <p:cNvSpPr txBox="1"/>
          <p:nvPr/>
        </p:nvSpPr>
        <p:spPr>
          <a:xfrm>
            <a:off x="1325880" y="3730752"/>
            <a:ext cx="4754880" cy="292608"/>
          </a:xfrm>
          <a:prstGeom prst="rect">
            <a:avLst/>
          </a:prstGeom>
          <a:noFill/>
          <a:ln/>
        </p:spPr>
        <p:txBody>
          <a:bodyPr wrap="square" lIns="0" tIns="0" rIns="0" bIns="0" rtlCol="0" anchor="ctr"/>
          <a:lstStyle/>
          <a:p>
            <a:pPr marL="0" indent="0">
              <a:buNone/>
            </a:pPr>
            <a:r>
              <a:rPr lang="en-US" sz="1300" dirty="0">
                <a:solidFill>
                  <a:srgbClr val="C9D4F2"/>
                </a:solidFill>
                <a:latin typeface="Calibri" pitchFamily="34" charset="0"/>
                <a:ea typeface="Calibri" pitchFamily="34" charset="-122"/>
                <a:cs typeface="Calibri" pitchFamily="34" charset="-120"/>
              </a:rPr>
              <a:t>Gemini reads it in about 5 seconds</a:t>
            </a:r>
            <a:endParaRPr lang="en-US" sz="1300" dirty="0"/>
          </a:p>
        </p:txBody>
      </p:sp>
      <p:sp>
        <p:nvSpPr>
          <p:cNvPr id="23" name="demo-n-1"/>
          <p:cNvSpPr/>
          <p:nvPr/>
        </p:nvSpPr>
        <p:spPr>
          <a:xfrm>
            <a:off x="731520" y="4178808"/>
            <a:ext cx="420624" cy="420624"/>
          </a:xfrm>
          <a:prstGeom prst="ellipse">
            <a:avLst/>
          </a:prstGeom>
          <a:solidFill>
            <a:srgbClr val="F2A40E"/>
          </a:solidFill>
          <a:ln w="12700">
            <a:solidFill>
              <a:srgbClr val="F2A40E"/>
            </a:solidFill>
            <a:prstDash val="solid"/>
          </a:ln>
        </p:spPr>
      </p:sp>
      <p:sp>
        <p:nvSpPr>
          <p:cNvPr id="24" name="demo-num-1"/>
          <p:cNvSpPr txBox="1"/>
          <p:nvPr/>
        </p:nvSpPr>
        <p:spPr>
          <a:xfrm>
            <a:off x="731520" y="4178808"/>
            <a:ext cx="420624" cy="420624"/>
          </a:xfrm>
          <a:prstGeom prst="rect">
            <a:avLst/>
          </a:prstGeom>
          <a:noFill/>
          <a:ln/>
        </p:spPr>
        <p:txBody>
          <a:bodyPr wrap="square" lIns="0" tIns="0" rIns="0" bIns="0" rtlCol="0" anchor="ctr"/>
          <a:lstStyle/>
          <a:p>
            <a:pPr marL="0" indent="0" algn="ctr">
              <a:buNone/>
            </a:pPr>
            <a:r>
              <a:rPr lang="en-US" sz="1500" b="1" dirty="0">
                <a:solidFill>
                  <a:srgbClr val="0D1B3E"/>
                </a:solidFill>
                <a:latin typeface="Calibri" pitchFamily="34" charset="0"/>
                <a:ea typeface="Calibri" pitchFamily="34" charset="-122"/>
                <a:cs typeface="Calibri" pitchFamily="34" charset="-120"/>
              </a:rPr>
              <a:t>2</a:t>
            </a:r>
            <a:endParaRPr lang="en-US" sz="1500" dirty="0"/>
          </a:p>
        </p:txBody>
      </p:sp>
      <p:sp>
        <p:nvSpPr>
          <p:cNvPr id="25" name="demo-t-1"/>
          <p:cNvSpPr txBox="1"/>
          <p:nvPr/>
        </p:nvSpPr>
        <p:spPr>
          <a:xfrm>
            <a:off x="1325880" y="4123944"/>
            <a:ext cx="4754880"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Read Easy</a:t>
            </a:r>
            <a:endParaRPr lang="en-US" sz="1800" dirty="0"/>
          </a:p>
        </p:txBody>
      </p:sp>
      <p:sp>
        <p:nvSpPr>
          <p:cNvPr id="26" name="demo-d-1"/>
          <p:cNvSpPr txBox="1"/>
          <p:nvPr/>
        </p:nvSpPr>
        <p:spPr>
          <a:xfrm>
            <a:off x="1325880" y="4443984"/>
            <a:ext cx="4754880" cy="292608"/>
          </a:xfrm>
          <a:prstGeom prst="rect">
            <a:avLst/>
          </a:prstGeom>
          <a:noFill/>
          <a:ln/>
        </p:spPr>
        <p:txBody>
          <a:bodyPr wrap="square" lIns="0" tIns="0" rIns="0" bIns="0" rtlCol="0" anchor="ctr"/>
          <a:lstStyle/>
          <a:p>
            <a:pPr marL="0" indent="0">
              <a:buNone/>
            </a:pPr>
            <a:r>
              <a:rPr lang="en-US" sz="1300" dirty="0">
                <a:solidFill>
                  <a:srgbClr val="C9D4F2"/>
                </a:solidFill>
                <a:latin typeface="Calibri" pitchFamily="34" charset="0"/>
                <a:ea typeface="Calibri" pitchFamily="34" charset="-122"/>
                <a:cs typeface="Calibri" pitchFamily="34" charset="-120"/>
              </a:rPr>
              <a:t>Read-aloud highlighting, Urdu help, Fact Guard badge</a:t>
            </a:r>
            <a:endParaRPr lang="en-US" sz="1300" dirty="0"/>
          </a:p>
        </p:txBody>
      </p:sp>
      <p:sp>
        <p:nvSpPr>
          <p:cNvPr id="27" name="demo-n-2"/>
          <p:cNvSpPr/>
          <p:nvPr/>
        </p:nvSpPr>
        <p:spPr>
          <a:xfrm>
            <a:off x="731520" y="4892040"/>
            <a:ext cx="420624" cy="420624"/>
          </a:xfrm>
          <a:prstGeom prst="ellipse">
            <a:avLst/>
          </a:prstGeom>
          <a:solidFill>
            <a:srgbClr val="F2A40E"/>
          </a:solidFill>
          <a:ln w="12700">
            <a:solidFill>
              <a:srgbClr val="F2A40E"/>
            </a:solidFill>
            <a:prstDash val="solid"/>
          </a:ln>
        </p:spPr>
      </p:sp>
      <p:sp>
        <p:nvSpPr>
          <p:cNvPr id="28" name="demo-num-2"/>
          <p:cNvSpPr txBox="1"/>
          <p:nvPr/>
        </p:nvSpPr>
        <p:spPr>
          <a:xfrm>
            <a:off x="731520" y="4892040"/>
            <a:ext cx="420624" cy="420624"/>
          </a:xfrm>
          <a:prstGeom prst="rect">
            <a:avLst/>
          </a:prstGeom>
          <a:noFill/>
          <a:ln/>
        </p:spPr>
        <p:txBody>
          <a:bodyPr wrap="square" lIns="0" tIns="0" rIns="0" bIns="0" rtlCol="0" anchor="ctr"/>
          <a:lstStyle/>
          <a:p>
            <a:pPr marL="0" indent="0" algn="ctr">
              <a:buNone/>
            </a:pPr>
            <a:r>
              <a:rPr lang="en-US" sz="1500" b="1" dirty="0">
                <a:solidFill>
                  <a:srgbClr val="0D1B3E"/>
                </a:solidFill>
                <a:latin typeface="Calibri" pitchFamily="34" charset="0"/>
                <a:ea typeface="Calibri" pitchFamily="34" charset="-122"/>
                <a:cs typeface="Calibri" pitchFamily="34" charset="-120"/>
              </a:rPr>
              <a:t>3</a:t>
            </a:r>
            <a:endParaRPr lang="en-US" sz="1500" dirty="0"/>
          </a:p>
        </p:txBody>
      </p:sp>
      <p:sp>
        <p:nvSpPr>
          <p:cNvPr id="29" name="demo-t-2"/>
          <p:cNvSpPr txBox="1"/>
          <p:nvPr/>
        </p:nvSpPr>
        <p:spPr>
          <a:xfrm>
            <a:off x="1325880" y="4837176"/>
            <a:ext cx="4754880"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Plant 3 errors</a:t>
            </a:r>
            <a:endParaRPr lang="en-US" sz="1800" dirty="0"/>
          </a:p>
        </p:txBody>
      </p:sp>
      <p:sp>
        <p:nvSpPr>
          <p:cNvPr id="30" name="demo-d-2"/>
          <p:cNvSpPr txBox="1"/>
          <p:nvPr/>
        </p:nvSpPr>
        <p:spPr>
          <a:xfrm>
            <a:off x="1325880" y="5157216"/>
            <a:ext cx="4754880" cy="292608"/>
          </a:xfrm>
          <a:prstGeom prst="rect">
            <a:avLst/>
          </a:prstGeom>
          <a:noFill/>
          <a:ln/>
        </p:spPr>
        <p:txBody>
          <a:bodyPr wrap="square" lIns="0" tIns="0" rIns="0" bIns="0" rtlCol="0" anchor="ctr"/>
          <a:lstStyle/>
          <a:p>
            <a:pPr marL="0" indent="0">
              <a:buNone/>
            </a:pPr>
            <a:r>
              <a:rPr lang="en-US" sz="1300" dirty="0">
                <a:solidFill>
                  <a:srgbClr val="C9D4F2"/>
                </a:solidFill>
                <a:latin typeface="Calibri" pitchFamily="34" charset="0"/>
                <a:ea typeface="Calibri" pitchFamily="34" charset="-122"/>
                <a:cs typeface="Calibri" pitchFamily="34" charset="-120"/>
              </a:rPr>
              <a:t>Fact Guard catches them and repairs the rewrite</a:t>
            </a:r>
            <a:endParaRPr lang="en-US" sz="1300" dirty="0"/>
          </a:p>
        </p:txBody>
      </p:sp>
      <p:sp>
        <p:nvSpPr>
          <p:cNvPr id="31" name="demo-n-3"/>
          <p:cNvSpPr/>
          <p:nvPr/>
        </p:nvSpPr>
        <p:spPr>
          <a:xfrm>
            <a:off x="731520" y="5605272"/>
            <a:ext cx="420624" cy="420624"/>
          </a:xfrm>
          <a:prstGeom prst="ellipse">
            <a:avLst/>
          </a:prstGeom>
          <a:solidFill>
            <a:srgbClr val="F2A40E"/>
          </a:solidFill>
          <a:ln w="12700">
            <a:solidFill>
              <a:srgbClr val="F2A40E"/>
            </a:solidFill>
            <a:prstDash val="solid"/>
          </a:ln>
        </p:spPr>
      </p:sp>
      <p:sp>
        <p:nvSpPr>
          <p:cNvPr id="32" name="demo-num-3"/>
          <p:cNvSpPr txBox="1"/>
          <p:nvPr/>
        </p:nvSpPr>
        <p:spPr>
          <a:xfrm>
            <a:off x="731520" y="5605272"/>
            <a:ext cx="420624" cy="420624"/>
          </a:xfrm>
          <a:prstGeom prst="rect">
            <a:avLst/>
          </a:prstGeom>
          <a:noFill/>
          <a:ln/>
        </p:spPr>
        <p:txBody>
          <a:bodyPr wrap="square" lIns="0" tIns="0" rIns="0" bIns="0" rtlCol="0" anchor="ctr"/>
          <a:lstStyle/>
          <a:p>
            <a:pPr marL="0" indent="0" algn="ctr">
              <a:buNone/>
            </a:pPr>
            <a:r>
              <a:rPr lang="en-US" sz="1500" b="1" dirty="0">
                <a:solidFill>
                  <a:srgbClr val="0D1B3E"/>
                </a:solidFill>
                <a:latin typeface="Calibri" pitchFamily="34" charset="0"/>
                <a:ea typeface="Calibri" pitchFamily="34" charset="-122"/>
                <a:cs typeface="Calibri" pitchFamily="34" charset="-120"/>
              </a:rPr>
              <a:t>4</a:t>
            </a:r>
            <a:endParaRPr lang="en-US" sz="1500" dirty="0"/>
          </a:p>
        </p:txBody>
      </p:sp>
      <p:sp>
        <p:nvSpPr>
          <p:cNvPr id="33" name="demo-t-3"/>
          <p:cNvSpPr txBox="1"/>
          <p:nvPr/>
        </p:nvSpPr>
        <p:spPr>
          <a:xfrm>
            <a:off x="1325880" y="5550408"/>
            <a:ext cx="4754880"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Listen and Captions</a:t>
            </a:r>
            <a:endParaRPr lang="en-US" sz="1800" dirty="0"/>
          </a:p>
        </p:txBody>
      </p:sp>
      <p:sp>
        <p:nvSpPr>
          <p:cNvPr id="34" name="demo-d-3"/>
          <p:cNvSpPr txBox="1"/>
          <p:nvPr/>
        </p:nvSpPr>
        <p:spPr>
          <a:xfrm>
            <a:off x="1325880" y="5870448"/>
            <a:ext cx="4754880" cy="292608"/>
          </a:xfrm>
          <a:prstGeom prst="rect">
            <a:avLst/>
          </a:prstGeom>
          <a:noFill/>
          <a:ln/>
        </p:spPr>
        <p:txBody>
          <a:bodyPr wrap="square" lIns="0" tIns="0" rIns="0" bIns="0" rtlCol="0" anchor="ctr"/>
          <a:lstStyle/>
          <a:p>
            <a:pPr marL="0" indent="0">
              <a:buNone/>
            </a:pPr>
            <a:r>
              <a:rPr lang="en-US" sz="1300" dirty="0">
                <a:solidFill>
                  <a:srgbClr val="C9D4F2"/>
                </a:solidFill>
                <a:latin typeface="Calibri" pitchFamily="34" charset="0"/>
                <a:ea typeface="Calibri" pitchFamily="34" charset="-122"/>
                <a:cs typeface="Calibri" pitchFamily="34" charset="-120"/>
              </a:rPr>
              <a:t>Figures described, lecture transcript synced</a:t>
            </a:r>
            <a:endParaRPr lang="en-US" sz="1300" dirty="0"/>
          </a:p>
        </p:txBody>
      </p:sp>
      <p:sp>
        <p:nvSpPr>
          <p:cNvPr id="35" name="shot-frame"/>
          <p:cNvSpPr/>
          <p:nvPr/>
        </p:nvSpPr>
        <p:spPr>
          <a:xfrm>
            <a:off x="6629400" y="1234440"/>
            <a:ext cx="5120640" cy="3291840"/>
          </a:xfrm>
          <a:prstGeom prst="roundRect">
            <a:avLst>
              <a:gd name="adj" fmla="val 3889"/>
            </a:avLst>
          </a:prstGeom>
          <a:solidFill>
            <a:srgbClr val="FFFFFF"/>
          </a:solidFill>
          <a:ln w="12700">
            <a:solidFill>
              <a:srgbClr val="2A3A6E"/>
            </a:solidFill>
            <a:prstDash val="solid"/>
          </a:ln>
        </p:spPr>
      </p:sp>
      <p:pic>
        <p:nvPicPr>
          <p:cNvPr id="36" name="shot" descr="C:\Users\rahee\AppData\Local\Temp\claude\C--Users-rahee-Desktop-AICon\b0d77b2b-594c-418c-bce0-e4f2d230c288\scratchpad\deck-read.png"/>
          <p:cNvPicPr>
            <a:picLocks noChangeAspect="1"/>
          </p:cNvPicPr>
          <p:nvPr/>
        </p:nvPicPr>
        <p:blipFill>
          <a:blip r:embed="rId3"/>
          <a:srcRect/>
          <a:stretch/>
        </p:blipFill>
        <p:spPr>
          <a:xfrm>
            <a:off x="6702552" y="1307592"/>
            <a:ext cx="4974336" cy="3145536"/>
          </a:xfrm>
          <a:prstGeom prst="rect">
            <a:avLst/>
          </a:prstGeom>
        </p:spPr>
      </p:pic>
      <p:sp>
        <p:nvSpPr>
          <p:cNvPr id="37" name="shot-note"/>
          <p:cNvSpPr txBox="1"/>
          <p:nvPr/>
        </p:nvSpPr>
        <p:spPr>
          <a:xfrm>
            <a:off x="6629400" y="4709160"/>
            <a:ext cx="5120640" cy="548640"/>
          </a:xfrm>
          <a:prstGeom prst="rect">
            <a:avLst/>
          </a:prstGeom>
          <a:noFill/>
          <a:ln/>
        </p:spPr>
        <p:txBody>
          <a:bodyPr wrap="square" lIns="0" tIns="0" rIns="0" bIns="0" rtlCol="0" anchor="ctr"/>
          <a:lstStyle/>
          <a:p>
            <a:pPr marL="0" indent="0">
              <a:buNone/>
            </a:pPr>
            <a:r>
              <a:rPr lang="en-US" sz="1300" i="1" dirty="0">
                <a:solidFill>
                  <a:srgbClr val="C9D4F2"/>
                </a:solidFill>
                <a:latin typeface="Calibri" pitchFamily="34" charset="0"/>
                <a:ea typeface="Calibri" pitchFamily="34" charset="-122"/>
                <a:cs typeface="Calibri" pitchFamily="34" charset="-120"/>
              </a:rPr>
              <a:t>Backup if the Wi-Fi fails: the same pipeline on cached sample lessons (demo mode).</a:t>
            </a:r>
            <a:endParaRPr lang="en-US" sz="1300" dirty="0"/>
          </a:p>
        </p:txBody>
      </p:sp>
      <p:sp>
        <p:nvSpPr>
          <p:cNvPr id="38" name="!!dot-0"/>
          <p:cNvSpPr/>
          <p:nvPr/>
        </p:nvSpPr>
        <p:spPr>
          <a:xfrm>
            <a:off x="10241280" y="6400800"/>
            <a:ext cx="100584" cy="100584"/>
          </a:xfrm>
          <a:prstGeom prst="ellipse">
            <a:avLst/>
          </a:prstGeom>
          <a:solidFill>
            <a:srgbClr val="3A4A7A"/>
          </a:solidFill>
          <a:ln w="12700">
            <a:solidFill>
              <a:srgbClr val="3A4A7A"/>
            </a:solidFill>
            <a:prstDash val="solid"/>
          </a:ln>
        </p:spPr>
      </p:sp>
      <p:sp>
        <p:nvSpPr>
          <p:cNvPr id="39" name="!!dot-1"/>
          <p:cNvSpPr/>
          <p:nvPr/>
        </p:nvSpPr>
        <p:spPr>
          <a:xfrm>
            <a:off x="10479024" y="6400800"/>
            <a:ext cx="100584" cy="100584"/>
          </a:xfrm>
          <a:prstGeom prst="ellipse">
            <a:avLst/>
          </a:prstGeom>
          <a:solidFill>
            <a:srgbClr val="3A4A7A"/>
          </a:solidFill>
          <a:ln w="12700">
            <a:solidFill>
              <a:srgbClr val="3A4A7A"/>
            </a:solidFill>
            <a:prstDash val="solid"/>
          </a:ln>
        </p:spPr>
      </p:sp>
      <p:sp>
        <p:nvSpPr>
          <p:cNvPr id="40" name="!!dot-2"/>
          <p:cNvSpPr/>
          <p:nvPr/>
        </p:nvSpPr>
        <p:spPr>
          <a:xfrm>
            <a:off x="10716768" y="6400800"/>
            <a:ext cx="100584" cy="100584"/>
          </a:xfrm>
          <a:prstGeom prst="ellipse">
            <a:avLst/>
          </a:prstGeom>
          <a:solidFill>
            <a:srgbClr val="3A4A7A"/>
          </a:solidFill>
          <a:ln w="12700">
            <a:solidFill>
              <a:srgbClr val="3A4A7A"/>
            </a:solidFill>
            <a:prstDash val="solid"/>
          </a:ln>
        </p:spPr>
      </p:sp>
      <p:sp>
        <p:nvSpPr>
          <p:cNvPr id="41" name="!!dot-3"/>
          <p:cNvSpPr/>
          <p:nvPr/>
        </p:nvSpPr>
        <p:spPr>
          <a:xfrm>
            <a:off x="10954512" y="6400800"/>
            <a:ext cx="155448" cy="155448"/>
          </a:xfrm>
          <a:prstGeom prst="ellipse">
            <a:avLst/>
          </a:prstGeom>
          <a:solidFill>
            <a:srgbClr val="F2A40E"/>
          </a:solidFill>
          <a:ln w="12700">
            <a:solidFill>
              <a:srgbClr val="F2A40E"/>
            </a:solidFill>
            <a:prstDash val="solid"/>
          </a:ln>
        </p:spPr>
      </p:sp>
      <p:sp>
        <p:nvSpPr>
          <p:cNvPr id="42" name="!!dot-4"/>
          <p:cNvSpPr/>
          <p:nvPr/>
        </p:nvSpPr>
        <p:spPr>
          <a:xfrm>
            <a:off x="11192256" y="6400800"/>
            <a:ext cx="100584" cy="100584"/>
          </a:xfrm>
          <a:prstGeom prst="ellipse">
            <a:avLst/>
          </a:prstGeom>
          <a:solidFill>
            <a:srgbClr val="3A4A7A"/>
          </a:solidFill>
          <a:ln w="12700">
            <a:solidFill>
              <a:srgbClr val="3A4A7A"/>
            </a:solidFill>
            <a:prstDash val="solid"/>
          </a:ln>
        </p:spPr>
      </p:sp>
      <p:sp>
        <p:nvSpPr>
          <p:cNvPr id="43" name="!!dot-5"/>
          <p:cNvSpPr/>
          <p:nvPr/>
        </p:nvSpPr>
        <p:spPr>
          <a:xfrm>
            <a:off x="11430000" y="6400800"/>
            <a:ext cx="100584" cy="100584"/>
          </a:xfrm>
          <a:prstGeom prst="ellipse">
            <a:avLst/>
          </a:prstGeom>
          <a:solidFill>
            <a:srgbClr val="3A4A7A"/>
          </a:solidFill>
          <a:ln w="12700">
            <a:solidFill>
              <a:srgbClr val="3A4A7A"/>
            </a:solidFill>
            <a:prstDash val="solid"/>
          </a:ln>
        </p:spPr>
      </p:sp>
      <p:sp>
        <p:nvSpPr>
          <p:cNvPr id="44" name="!!dot-6"/>
          <p:cNvSpPr/>
          <p:nvPr/>
        </p:nvSpPr>
        <p:spPr>
          <a:xfrm>
            <a:off x="11667744" y="6400800"/>
            <a:ext cx="100584" cy="100584"/>
          </a:xfrm>
          <a:prstGeom prst="ellipse">
            <a:avLst/>
          </a:prstGeom>
          <a:solidFill>
            <a:srgbClr val="3A4A7A"/>
          </a:solidFill>
          <a:ln w="12700">
            <a:solidFill>
              <a:srgbClr val="3A4A7A"/>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3"/>
        </a:solidFill>
        <a:effectLst/>
      </p:bgPr>
    </p:bg>
    <p:spTree>
      <p:nvGrpSpPr>
        <p:cNvPr id="1" name=""/>
        <p:cNvGrpSpPr/>
        <p:nvPr/>
      </p:nvGrpSpPr>
      <p:grpSpPr>
        <a:xfrm>
          <a:off x="0" y="0"/>
          <a:ext cx="0" cy="0"/>
          <a:chOff x="0" y="0"/>
          <a:chExt cx="0" cy="0"/>
        </a:xfrm>
      </p:grpSpPr>
      <p:sp>
        <p:nvSpPr>
          <p:cNvPr id="2" name="!!panel"/>
          <p:cNvSpPr/>
          <p:nvPr/>
        </p:nvSpPr>
        <p:spPr>
          <a:xfrm>
            <a:off x="7635240" y="411480"/>
            <a:ext cx="4160520" cy="5760720"/>
          </a:xfrm>
          <a:prstGeom prst="roundRect">
            <a:avLst>
              <a:gd name="adj" fmla="val 6593"/>
            </a:avLst>
          </a:prstGeom>
          <a:solidFill>
            <a:srgbClr val="1C3EA6"/>
          </a:solidFill>
          <a:ln w="12700">
            <a:solidFill>
              <a:srgbClr val="1C3EA6"/>
            </a:solidFill>
            <a:prstDash val="solid"/>
          </a:ln>
        </p:spPr>
      </p:sp>
      <p:sp>
        <p:nvSpPr>
          <p:cNvPr id="3" name="!!ray-0"/>
          <p:cNvSpPr/>
          <p:nvPr/>
        </p:nvSpPr>
        <p:spPr>
          <a:xfrm>
            <a:off x="10229393" y="1234440"/>
            <a:ext cx="268834" cy="914"/>
          </a:xfrm>
          <a:prstGeom prst="line">
            <a:avLst/>
          </a:prstGeom>
          <a:noFill/>
          <a:ln w="19050">
            <a:solidFill>
              <a:srgbClr val="F2A40E"/>
            </a:solidFill>
            <a:prstDash val="solid"/>
          </a:ln>
        </p:spPr>
      </p:sp>
      <p:sp>
        <p:nvSpPr>
          <p:cNvPr id="4" name="!!ray-1"/>
          <p:cNvSpPr/>
          <p:nvPr/>
        </p:nvSpPr>
        <p:spPr>
          <a:xfrm>
            <a:off x="10159932" y="1493672"/>
            <a:ext cx="232817" cy="134417"/>
          </a:xfrm>
          <a:prstGeom prst="line">
            <a:avLst/>
          </a:prstGeom>
          <a:noFill/>
          <a:ln w="19050">
            <a:solidFill>
              <a:srgbClr val="F2A40E">
                <a:alpha val="55000"/>
              </a:srgbClr>
            </a:solidFill>
            <a:prstDash val="solid"/>
          </a:ln>
        </p:spPr>
      </p:sp>
      <p:sp>
        <p:nvSpPr>
          <p:cNvPr id="5" name="!!ray-2"/>
          <p:cNvSpPr/>
          <p:nvPr/>
        </p:nvSpPr>
        <p:spPr>
          <a:xfrm>
            <a:off x="9970160" y="1683444"/>
            <a:ext cx="134417" cy="232817"/>
          </a:xfrm>
          <a:prstGeom prst="line">
            <a:avLst/>
          </a:prstGeom>
          <a:noFill/>
          <a:ln w="19050">
            <a:solidFill>
              <a:srgbClr val="F2A40E"/>
            </a:solidFill>
            <a:prstDash val="solid"/>
          </a:ln>
        </p:spPr>
      </p:sp>
      <p:sp>
        <p:nvSpPr>
          <p:cNvPr id="6" name="!!ray-3"/>
          <p:cNvSpPr/>
          <p:nvPr/>
        </p:nvSpPr>
        <p:spPr>
          <a:xfrm>
            <a:off x="9710928" y="1752905"/>
            <a:ext cx="914" cy="268834"/>
          </a:xfrm>
          <a:prstGeom prst="line">
            <a:avLst/>
          </a:prstGeom>
          <a:noFill/>
          <a:ln w="19050">
            <a:solidFill>
              <a:srgbClr val="F2A40E">
                <a:alpha val="55000"/>
              </a:srgbClr>
            </a:solidFill>
            <a:prstDash val="solid"/>
          </a:ln>
        </p:spPr>
      </p:sp>
      <p:sp>
        <p:nvSpPr>
          <p:cNvPr id="7" name="!!ray-4"/>
          <p:cNvSpPr/>
          <p:nvPr/>
        </p:nvSpPr>
        <p:spPr>
          <a:xfrm flipH="1">
            <a:off x="9317279" y="1683444"/>
            <a:ext cx="134417" cy="232817"/>
          </a:xfrm>
          <a:prstGeom prst="line">
            <a:avLst/>
          </a:prstGeom>
          <a:noFill/>
          <a:ln w="19050">
            <a:solidFill>
              <a:srgbClr val="F2A40E"/>
            </a:solidFill>
            <a:prstDash val="solid"/>
          </a:ln>
        </p:spPr>
      </p:sp>
      <p:sp>
        <p:nvSpPr>
          <p:cNvPr id="8" name="!!ray-5"/>
          <p:cNvSpPr/>
          <p:nvPr/>
        </p:nvSpPr>
        <p:spPr>
          <a:xfrm flipH="1">
            <a:off x="9029108" y="1493672"/>
            <a:ext cx="232817" cy="134417"/>
          </a:xfrm>
          <a:prstGeom prst="line">
            <a:avLst/>
          </a:prstGeom>
          <a:noFill/>
          <a:ln w="19050">
            <a:solidFill>
              <a:srgbClr val="F2A40E">
                <a:alpha val="55000"/>
              </a:srgbClr>
            </a:solidFill>
            <a:prstDash val="solid"/>
          </a:ln>
        </p:spPr>
      </p:sp>
      <p:sp>
        <p:nvSpPr>
          <p:cNvPr id="9" name="!!ray-6"/>
          <p:cNvSpPr/>
          <p:nvPr/>
        </p:nvSpPr>
        <p:spPr>
          <a:xfrm flipH="1">
            <a:off x="8923630" y="1234440"/>
            <a:ext cx="268834" cy="914"/>
          </a:xfrm>
          <a:prstGeom prst="line">
            <a:avLst/>
          </a:prstGeom>
          <a:noFill/>
          <a:ln w="19050">
            <a:solidFill>
              <a:srgbClr val="F2A40E"/>
            </a:solidFill>
            <a:prstDash val="solid"/>
          </a:ln>
        </p:spPr>
      </p:sp>
      <p:sp>
        <p:nvSpPr>
          <p:cNvPr id="10" name="!!ray-7"/>
          <p:cNvSpPr/>
          <p:nvPr/>
        </p:nvSpPr>
        <p:spPr>
          <a:xfrm flipH="1" flipV="1">
            <a:off x="9029108" y="840791"/>
            <a:ext cx="232817" cy="134417"/>
          </a:xfrm>
          <a:prstGeom prst="line">
            <a:avLst/>
          </a:prstGeom>
          <a:noFill/>
          <a:ln w="19050">
            <a:solidFill>
              <a:srgbClr val="F2A40E">
                <a:alpha val="55000"/>
              </a:srgbClr>
            </a:solidFill>
            <a:prstDash val="solid"/>
          </a:ln>
        </p:spPr>
      </p:sp>
      <p:sp>
        <p:nvSpPr>
          <p:cNvPr id="11" name="!!ray-8"/>
          <p:cNvSpPr/>
          <p:nvPr/>
        </p:nvSpPr>
        <p:spPr>
          <a:xfrm flipH="1" flipV="1">
            <a:off x="9317279" y="552620"/>
            <a:ext cx="134417" cy="232817"/>
          </a:xfrm>
          <a:prstGeom prst="line">
            <a:avLst/>
          </a:prstGeom>
          <a:noFill/>
          <a:ln w="19050">
            <a:solidFill>
              <a:srgbClr val="F2A40E"/>
            </a:solidFill>
            <a:prstDash val="solid"/>
          </a:ln>
        </p:spPr>
      </p:sp>
      <p:sp>
        <p:nvSpPr>
          <p:cNvPr id="12" name="!!ray-9"/>
          <p:cNvSpPr/>
          <p:nvPr/>
        </p:nvSpPr>
        <p:spPr>
          <a:xfrm flipH="1" flipV="1">
            <a:off x="9710928" y="447142"/>
            <a:ext cx="914" cy="268834"/>
          </a:xfrm>
          <a:prstGeom prst="line">
            <a:avLst/>
          </a:prstGeom>
          <a:noFill/>
          <a:ln w="19050">
            <a:solidFill>
              <a:srgbClr val="F2A40E">
                <a:alpha val="55000"/>
              </a:srgbClr>
            </a:solidFill>
            <a:prstDash val="solid"/>
          </a:ln>
        </p:spPr>
      </p:sp>
      <p:sp>
        <p:nvSpPr>
          <p:cNvPr id="13" name="!!ray-10"/>
          <p:cNvSpPr/>
          <p:nvPr/>
        </p:nvSpPr>
        <p:spPr>
          <a:xfrm flipV="1">
            <a:off x="9970160" y="552620"/>
            <a:ext cx="134417" cy="232817"/>
          </a:xfrm>
          <a:prstGeom prst="line">
            <a:avLst/>
          </a:prstGeom>
          <a:noFill/>
          <a:ln w="19050">
            <a:solidFill>
              <a:srgbClr val="F2A40E"/>
            </a:solidFill>
            <a:prstDash val="solid"/>
          </a:ln>
        </p:spPr>
      </p:sp>
      <p:sp>
        <p:nvSpPr>
          <p:cNvPr id="14" name="!!ray-11"/>
          <p:cNvSpPr/>
          <p:nvPr/>
        </p:nvSpPr>
        <p:spPr>
          <a:xfrm flipV="1">
            <a:off x="10159932" y="840791"/>
            <a:ext cx="232817" cy="134417"/>
          </a:xfrm>
          <a:prstGeom prst="line">
            <a:avLst/>
          </a:prstGeom>
          <a:noFill/>
          <a:ln w="19050">
            <a:solidFill>
              <a:srgbClr val="F2A40E">
                <a:alpha val="55000"/>
              </a:srgbClr>
            </a:solidFill>
            <a:prstDash val="solid"/>
          </a:ln>
        </p:spPr>
      </p:sp>
      <p:sp>
        <p:nvSpPr>
          <p:cNvPr id="15" name="!!ring"/>
          <p:cNvSpPr/>
          <p:nvPr/>
        </p:nvSpPr>
        <p:spPr>
          <a:xfrm>
            <a:off x="9326880" y="850392"/>
            <a:ext cx="768096" cy="768096"/>
          </a:xfrm>
          <a:prstGeom prst="ellipse">
            <a:avLst/>
          </a:prstGeom>
          <a:solidFill>
            <a:srgbClr val="1C3EA6"/>
          </a:solidFill>
          <a:ln w="12700">
            <a:solidFill>
              <a:srgbClr val="FFFFFF"/>
            </a:solidFill>
            <a:prstDash val="solid"/>
          </a:ln>
        </p:spPr>
      </p:sp>
      <p:sp>
        <p:nvSpPr>
          <p:cNvPr id="16" name="!!flame"/>
          <p:cNvSpPr/>
          <p:nvPr/>
        </p:nvSpPr>
        <p:spPr>
          <a:xfrm>
            <a:off x="9549628" y="1073140"/>
            <a:ext cx="322600" cy="322600"/>
          </a:xfrm>
          <a:prstGeom prst="ellipse">
            <a:avLst/>
          </a:prstGeom>
          <a:solidFill>
            <a:srgbClr val="F2A40E"/>
          </a:solidFill>
          <a:ln w="12700">
            <a:solidFill>
              <a:srgbClr val="F2A40E"/>
            </a:solidFill>
            <a:prstDash val="solid"/>
          </a:ln>
        </p:spPr>
      </p:sp>
      <p:sp>
        <p:nvSpPr>
          <p:cNvPr id="17" name="!!kicker"/>
          <p:cNvSpPr txBox="1"/>
          <p:nvPr/>
        </p:nvSpPr>
        <p:spPr>
          <a:xfrm>
            <a:off x="731520" y="548640"/>
            <a:ext cx="6400800" cy="320040"/>
          </a:xfrm>
          <a:prstGeom prst="rect">
            <a:avLst/>
          </a:prstGeom>
          <a:noFill/>
          <a:ln/>
        </p:spPr>
        <p:txBody>
          <a:bodyPr wrap="square" lIns="0" tIns="0" rIns="0" bIns="0" rtlCol="0" anchor="ctr"/>
          <a:lstStyle/>
          <a:p>
            <a:pPr marL="0" indent="0">
              <a:buNone/>
            </a:pPr>
            <a:r>
              <a:rPr lang="en-US" sz="1300" b="1" kern="0" spc="300" dirty="0">
                <a:solidFill>
                  <a:srgbClr val="0B8F8F"/>
                </a:solidFill>
                <a:latin typeface="Calibri" pitchFamily="34" charset="0"/>
                <a:ea typeface="Calibri" pitchFamily="34" charset="-122"/>
                <a:cs typeface="Calibri" pitchFamily="34" charset="-120"/>
              </a:rPr>
              <a:t>04 · WHY YOU CAN TRUST IT</a:t>
            </a:r>
            <a:endParaRPr lang="en-US" sz="1300" dirty="0"/>
          </a:p>
        </p:txBody>
      </p:sp>
      <p:sp>
        <p:nvSpPr>
          <p:cNvPr id="18" name="!!title"/>
          <p:cNvSpPr txBox="1"/>
          <p:nvPr/>
        </p:nvSpPr>
        <p:spPr>
          <a:xfrm>
            <a:off x="731520" y="896112"/>
            <a:ext cx="6583680" cy="1097280"/>
          </a:xfrm>
          <a:prstGeom prst="rect">
            <a:avLst/>
          </a:prstGeom>
          <a:noFill/>
          <a:ln/>
        </p:spPr>
        <p:txBody>
          <a:bodyPr wrap="square" lIns="0" tIns="0" rIns="0" bIns="0" rtlCol="0" anchor="t"/>
          <a:lstStyle/>
          <a:p>
            <a:pPr marL="0" indent="0">
              <a:buNone/>
            </a:pPr>
            <a:r>
              <a:rPr lang="en-US" sz="3000" b="1" dirty="0">
                <a:solidFill>
                  <a:srgbClr val="0D1B3E"/>
                </a:solidFill>
                <a:latin typeface="Century Gothic" pitchFamily="34" charset="0"/>
                <a:ea typeface="Century Gothic" pitchFamily="34" charset="-122"/>
                <a:cs typeface="Century Gothic" pitchFamily="34" charset="-120"/>
              </a:rPr>
              <a:t>Fact Guard: a second AI checks the first</a:t>
            </a:r>
            <a:endParaRPr lang="en-US" sz="3000" dirty="0"/>
          </a:p>
        </p:txBody>
      </p:sp>
      <p:sp>
        <p:nvSpPr>
          <p:cNvPr id="19" name="chk-dot-0"/>
          <p:cNvSpPr/>
          <p:nvPr/>
        </p:nvSpPr>
        <p:spPr>
          <a:xfrm>
            <a:off x="731520" y="2240280"/>
            <a:ext cx="658368" cy="658368"/>
          </a:xfrm>
          <a:prstGeom prst="ellipse">
            <a:avLst/>
          </a:prstGeom>
          <a:solidFill>
            <a:srgbClr val="E7EEF9"/>
          </a:solidFill>
          <a:ln w="12700">
            <a:solidFill>
              <a:srgbClr val="E7EEF9"/>
            </a:solidFill>
            <a:prstDash val="solid"/>
          </a:ln>
        </p:spPr>
      </p:sp>
      <p:pic>
        <p:nvPicPr>
          <p:cNvPr id="20" name="chk-icon-0" descr="preencoded.png"/>
          <p:cNvPicPr>
            <a:picLocks noChangeAspect="1"/>
          </p:cNvPicPr>
          <p:nvPr/>
        </p:nvPicPr>
        <p:blipFill>
          <a:blip r:embed="rId3"/>
          <a:stretch>
            <a:fillRect/>
          </a:stretch>
        </p:blipFill>
        <p:spPr>
          <a:xfrm>
            <a:off x="896112" y="2404872"/>
            <a:ext cx="329184" cy="329184"/>
          </a:xfrm>
          <a:prstGeom prst="rect">
            <a:avLst/>
          </a:prstGeom>
        </p:spPr>
      </p:pic>
      <p:sp>
        <p:nvSpPr>
          <p:cNvPr id="21" name="chk-t-0"/>
          <p:cNvSpPr txBox="1"/>
          <p:nvPr/>
        </p:nvSpPr>
        <p:spPr>
          <a:xfrm>
            <a:off x="1600200" y="2221992"/>
            <a:ext cx="5669280" cy="365760"/>
          </a:xfrm>
          <a:prstGeom prst="rect">
            <a:avLst/>
          </a:prstGeom>
          <a:noFill/>
          <a:ln/>
        </p:spPr>
        <p:txBody>
          <a:bodyPr wrap="square" lIns="0" tIns="0" rIns="0" bIns="0" rtlCol="0" anchor="ctr"/>
          <a:lstStyle/>
          <a:p>
            <a:pPr marL="0" indent="0">
              <a:buNone/>
            </a:pPr>
            <a:r>
              <a:rPr lang="en-US" sz="1800" b="1" dirty="0">
                <a:solidFill>
                  <a:srgbClr val="0D1B3E"/>
                </a:solidFill>
                <a:latin typeface="Century Gothic" pitchFamily="34" charset="0"/>
                <a:ea typeface="Century Gothic" pitchFamily="34" charset="-122"/>
                <a:cs typeface="Century Gothic" pitchFamily="34" charset="-120"/>
              </a:rPr>
              <a:t>A different AI family checks</a:t>
            </a:r>
            <a:endParaRPr lang="en-US" sz="1800" dirty="0"/>
          </a:p>
        </p:txBody>
      </p:sp>
      <p:sp>
        <p:nvSpPr>
          <p:cNvPr id="22" name="chk-d-0"/>
          <p:cNvSpPr txBox="1"/>
          <p:nvPr/>
        </p:nvSpPr>
        <p:spPr>
          <a:xfrm>
            <a:off x="1600200" y="2587752"/>
            <a:ext cx="5669280" cy="457200"/>
          </a:xfrm>
          <a:prstGeom prst="rect">
            <a:avLst/>
          </a:prstGeom>
          <a:noFill/>
          <a:ln/>
        </p:spPr>
        <p:txBody>
          <a:bodyPr wrap="square" lIns="0" tIns="0" rIns="0" bIns="0" rtlCol="0" anchor="t"/>
          <a:lstStyle/>
          <a:p>
            <a:pPr marL="0" indent="0">
              <a:buNone/>
            </a:pPr>
            <a:r>
              <a:rPr lang="en-US" sz="1400" dirty="0">
                <a:solidFill>
                  <a:srgbClr val="4A5875"/>
                </a:solidFill>
                <a:latin typeface="Calibri" pitchFamily="34" charset="0"/>
                <a:ea typeface="Calibri" pitchFamily="34" charset="-122"/>
                <a:cs typeface="Calibri" pitchFamily="34" charset="-120"/>
              </a:rPr>
              <a:t>It can’t simply agree with the model that rewrote the page.</a:t>
            </a:r>
            <a:endParaRPr lang="en-US" sz="1400" dirty="0"/>
          </a:p>
        </p:txBody>
      </p:sp>
      <p:sp>
        <p:nvSpPr>
          <p:cNvPr id="23" name="chk-dot-1"/>
          <p:cNvSpPr/>
          <p:nvPr/>
        </p:nvSpPr>
        <p:spPr>
          <a:xfrm>
            <a:off x="731520" y="3264408"/>
            <a:ext cx="658368" cy="658368"/>
          </a:xfrm>
          <a:prstGeom prst="ellipse">
            <a:avLst/>
          </a:prstGeom>
          <a:solidFill>
            <a:srgbClr val="E7EEF9"/>
          </a:solidFill>
          <a:ln w="12700">
            <a:solidFill>
              <a:srgbClr val="E7EEF9"/>
            </a:solidFill>
            <a:prstDash val="solid"/>
          </a:ln>
        </p:spPr>
      </p:sp>
      <p:pic>
        <p:nvPicPr>
          <p:cNvPr id="24" name="chk-icon-1" descr="preencoded.png"/>
          <p:cNvPicPr>
            <a:picLocks noChangeAspect="1"/>
          </p:cNvPicPr>
          <p:nvPr/>
        </p:nvPicPr>
        <p:blipFill>
          <a:blip r:embed="rId4"/>
          <a:stretch>
            <a:fillRect/>
          </a:stretch>
        </p:blipFill>
        <p:spPr>
          <a:xfrm>
            <a:off x="896112" y="3429000"/>
            <a:ext cx="329184" cy="329184"/>
          </a:xfrm>
          <a:prstGeom prst="rect">
            <a:avLst/>
          </a:prstGeom>
        </p:spPr>
      </p:pic>
      <p:sp>
        <p:nvSpPr>
          <p:cNvPr id="25" name="chk-t-1"/>
          <p:cNvSpPr txBox="1"/>
          <p:nvPr/>
        </p:nvSpPr>
        <p:spPr>
          <a:xfrm>
            <a:off x="1600200" y="3246120"/>
            <a:ext cx="5669280" cy="365760"/>
          </a:xfrm>
          <a:prstGeom prst="rect">
            <a:avLst/>
          </a:prstGeom>
          <a:noFill/>
          <a:ln/>
        </p:spPr>
        <p:txBody>
          <a:bodyPr wrap="square" lIns="0" tIns="0" rIns="0" bIns="0" rtlCol="0" anchor="ctr"/>
          <a:lstStyle/>
          <a:p>
            <a:pPr marL="0" indent="0">
              <a:buNone/>
            </a:pPr>
            <a:r>
              <a:rPr lang="en-US" sz="1800" b="1" dirty="0">
                <a:solidFill>
                  <a:srgbClr val="0D1B3E"/>
                </a:solidFill>
                <a:latin typeface="Century Gothic" pitchFamily="34" charset="0"/>
                <a:ea typeface="Century Gothic" pitchFamily="34" charset="-122"/>
                <a:cs typeface="Century Gothic" pitchFamily="34" charset="-120"/>
              </a:rPr>
              <a:t>Quote or it didn’t happen</a:t>
            </a:r>
            <a:endParaRPr lang="en-US" sz="1800" dirty="0"/>
          </a:p>
        </p:txBody>
      </p:sp>
      <p:sp>
        <p:nvSpPr>
          <p:cNvPr id="26" name="chk-d-1"/>
          <p:cNvSpPr txBox="1"/>
          <p:nvPr/>
        </p:nvSpPr>
        <p:spPr>
          <a:xfrm>
            <a:off x="1600200" y="3611880"/>
            <a:ext cx="5669280" cy="457200"/>
          </a:xfrm>
          <a:prstGeom prst="rect">
            <a:avLst/>
          </a:prstGeom>
          <a:noFill/>
          <a:ln/>
        </p:spPr>
        <p:txBody>
          <a:bodyPr wrap="square" lIns="0" tIns="0" rIns="0" bIns="0" rtlCol="0" anchor="t"/>
          <a:lstStyle/>
          <a:p>
            <a:pPr marL="0" indent="0">
              <a:buNone/>
            </a:pPr>
            <a:r>
              <a:rPr lang="en-US" sz="1400" dirty="0">
                <a:solidFill>
                  <a:srgbClr val="4A5875"/>
                </a:solidFill>
                <a:latin typeface="Calibri" pitchFamily="34" charset="0"/>
                <a:ea typeface="Calibri" pitchFamily="34" charset="-122"/>
                <a:cs typeface="Calibri" pitchFamily="34" charset="-120"/>
              </a:rPr>
              <a:t>Every kept fact must be quoted from the rewrite, and code confirms the quote.</a:t>
            </a:r>
            <a:endParaRPr lang="en-US" sz="1400" dirty="0"/>
          </a:p>
        </p:txBody>
      </p:sp>
      <p:sp>
        <p:nvSpPr>
          <p:cNvPr id="27" name="chk-dot-2"/>
          <p:cNvSpPr/>
          <p:nvPr/>
        </p:nvSpPr>
        <p:spPr>
          <a:xfrm>
            <a:off x="731520" y="4288536"/>
            <a:ext cx="658368" cy="658368"/>
          </a:xfrm>
          <a:prstGeom prst="ellipse">
            <a:avLst/>
          </a:prstGeom>
          <a:solidFill>
            <a:srgbClr val="E7EEF9"/>
          </a:solidFill>
          <a:ln w="12700">
            <a:solidFill>
              <a:srgbClr val="E7EEF9"/>
            </a:solidFill>
            <a:prstDash val="solid"/>
          </a:ln>
        </p:spPr>
      </p:sp>
      <p:pic>
        <p:nvPicPr>
          <p:cNvPr id="28" name="chk-icon-2" descr="preencoded.png"/>
          <p:cNvPicPr>
            <a:picLocks noChangeAspect="1"/>
          </p:cNvPicPr>
          <p:nvPr/>
        </p:nvPicPr>
        <p:blipFill>
          <a:blip r:embed="rId5"/>
          <a:stretch>
            <a:fillRect/>
          </a:stretch>
        </p:blipFill>
        <p:spPr>
          <a:xfrm>
            <a:off x="896112" y="4453128"/>
            <a:ext cx="329184" cy="329184"/>
          </a:xfrm>
          <a:prstGeom prst="rect">
            <a:avLst/>
          </a:prstGeom>
        </p:spPr>
      </p:pic>
      <p:sp>
        <p:nvSpPr>
          <p:cNvPr id="29" name="chk-t-2"/>
          <p:cNvSpPr txBox="1"/>
          <p:nvPr/>
        </p:nvSpPr>
        <p:spPr>
          <a:xfrm>
            <a:off x="1600200" y="4270248"/>
            <a:ext cx="5669280" cy="365760"/>
          </a:xfrm>
          <a:prstGeom prst="rect">
            <a:avLst/>
          </a:prstGeom>
          <a:noFill/>
          <a:ln/>
        </p:spPr>
        <p:txBody>
          <a:bodyPr wrap="square" lIns="0" tIns="0" rIns="0" bIns="0" rtlCol="0" anchor="ctr"/>
          <a:lstStyle/>
          <a:p>
            <a:pPr marL="0" indent="0">
              <a:buNone/>
            </a:pPr>
            <a:r>
              <a:rPr lang="en-US" sz="1800" b="1" dirty="0">
                <a:solidFill>
                  <a:srgbClr val="0D1B3E"/>
                </a:solidFill>
                <a:latin typeface="Century Gothic" pitchFamily="34" charset="0"/>
                <a:ea typeface="Century Gothic" pitchFamily="34" charset="-122"/>
                <a:cs typeface="Century Gothic" pitchFamily="34" charset="-120"/>
              </a:rPr>
              <a:t>Numbers checked by plain code</a:t>
            </a:r>
            <a:endParaRPr lang="en-US" sz="1800" dirty="0"/>
          </a:p>
        </p:txBody>
      </p:sp>
      <p:sp>
        <p:nvSpPr>
          <p:cNvPr id="30" name="chk-d-2"/>
          <p:cNvSpPr txBox="1"/>
          <p:nvPr/>
        </p:nvSpPr>
        <p:spPr>
          <a:xfrm>
            <a:off x="1600200" y="4636008"/>
            <a:ext cx="5669280" cy="457200"/>
          </a:xfrm>
          <a:prstGeom prst="rect">
            <a:avLst/>
          </a:prstGeom>
          <a:noFill/>
          <a:ln/>
        </p:spPr>
        <p:txBody>
          <a:bodyPr wrap="square" lIns="0" tIns="0" rIns="0" bIns="0" rtlCol="0" anchor="t"/>
          <a:lstStyle/>
          <a:p>
            <a:pPr marL="0" indent="0">
              <a:buNone/>
            </a:pPr>
            <a:r>
              <a:rPr lang="en-US" sz="1400" dirty="0">
                <a:solidFill>
                  <a:srgbClr val="4A5875"/>
                </a:solidFill>
                <a:latin typeface="Calibri" pitchFamily="34" charset="0"/>
                <a:ea typeface="Calibri" pitchFamily="34" charset="-122"/>
                <a:cs typeface="Calibri" pitchFamily="34" charset="-120"/>
              </a:rPr>
              <a:t>“50 min” can never quietly become “100 min”.</a:t>
            </a:r>
            <a:endParaRPr lang="en-US" sz="1400" dirty="0"/>
          </a:p>
        </p:txBody>
      </p:sp>
      <p:sp>
        <p:nvSpPr>
          <p:cNvPr id="31" name="chk-dot-3"/>
          <p:cNvSpPr/>
          <p:nvPr/>
        </p:nvSpPr>
        <p:spPr>
          <a:xfrm>
            <a:off x="731520" y="5312664"/>
            <a:ext cx="658368" cy="658368"/>
          </a:xfrm>
          <a:prstGeom prst="ellipse">
            <a:avLst/>
          </a:prstGeom>
          <a:solidFill>
            <a:srgbClr val="E7EEF9"/>
          </a:solidFill>
          <a:ln w="12700">
            <a:solidFill>
              <a:srgbClr val="E7EEF9"/>
            </a:solidFill>
            <a:prstDash val="solid"/>
          </a:ln>
        </p:spPr>
      </p:sp>
      <p:pic>
        <p:nvPicPr>
          <p:cNvPr id="32" name="chk-icon-3" descr="preencoded.png"/>
          <p:cNvPicPr>
            <a:picLocks noChangeAspect="1"/>
          </p:cNvPicPr>
          <p:nvPr/>
        </p:nvPicPr>
        <p:blipFill>
          <a:blip r:embed="rId6"/>
          <a:stretch>
            <a:fillRect/>
          </a:stretch>
        </p:blipFill>
        <p:spPr>
          <a:xfrm>
            <a:off x="896112" y="5477256"/>
            <a:ext cx="329184" cy="329184"/>
          </a:xfrm>
          <a:prstGeom prst="rect">
            <a:avLst/>
          </a:prstGeom>
        </p:spPr>
      </p:pic>
      <p:sp>
        <p:nvSpPr>
          <p:cNvPr id="33" name="chk-t-3"/>
          <p:cNvSpPr txBox="1"/>
          <p:nvPr/>
        </p:nvSpPr>
        <p:spPr>
          <a:xfrm>
            <a:off x="1600200" y="5294376"/>
            <a:ext cx="5669280" cy="365760"/>
          </a:xfrm>
          <a:prstGeom prst="rect">
            <a:avLst/>
          </a:prstGeom>
          <a:noFill/>
          <a:ln/>
        </p:spPr>
        <p:txBody>
          <a:bodyPr wrap="square" lIns="0" tIns="0" rIns="0" bIns="0" rtlCol="0" anchor="ctr"/>
          <a:lstStyle/>
          <a:p>
            <a:pPr marL="0" indent="0">
              <a:buNone/>
            </a:pPr>
            <a:r>
              <a:rPr lang="en-US" sz="1800" b="1" dirty="0">
                <a:solidFill>
                  <a:srgbClr val="0D1B3E"/>
                </a:solidFill>
                <a:latin typeface="Century Gothic" pitchFamily="34" charset="0"/>
                <a:ea typeface="Century Gothic" pitchFamily="34" charset="-122"/>
                <a:cs typeface="Century Gothic" pitchFamily="34" charset="-120"/>
              </a:rPr>
              <a:t>Repair, then re-check</a:t>
            </a:r>
            <a:endParaRPr lang="en-US" sz="1800" dirty="0"/>
          </a:p>
        </p:txBody>
      </p:sp>
      <p:sp>
        <p:nvSpPr>
          <p:cNvPr id="34" name="chk-d-3"/>
          <p:cNvSpPr txBox="1"/>
          <p:nvPr/>
        </p:nvSpPr>
        <p:spPr>
          <a:xfrm>
            <a:off x="1600200" y="5660136"/>
            <a:ext cx="5669280" cy="457200"/>
          </a:xfrm>
          <a:prstGeom prst="rect">
            <a:avLst/>
          </a:prstGeom>
          <a:noFill/>
          <a:ln/>
        </p:spPr>
        <p:txBody>
          <a:bodyPr wrap="square" lIns="0" tIns="0" rIns="0" bIns="0" rtlCol="0" anchor="t"/>
          <a:lstStyle/>
          <a:p>
            <a:pPr marL="0" indent="0">
              <a:buNone/>
            </a:pPr>
            <a:r>
              <a:rPr lang="en-US" sz="1400" dirty="0">
                <a:solidFill>
                  <a:srgbClr val="4A5875"/>
                </a:solidFill>
                <a:latin typeface="Calibri" pitchFamily="34" charset="0"/>
                <a:ea typeface="Calibri" pitchFamily="34" charset="-122"/>
                <a:cs typeface="Calibri" pitchFamily="34" charset="-120"/>
              </a:rPr>
              <a:t>Only flagged sentences are rewritten. Anything left stays visibly amber.</a:t>
            </a:r>
            <a:endParaRPr lang="en-US" sz="1400" dirty="0"/>
          </a:p>
        </p:txBody>
      </p:sp>
      <p:sp>
        <p:nvSpPr>
          <p:cNvPr id="35" name="st-label"/>
          <p:cNvSpPr txBox="1"/>
          <p:nvPr/>
        </p:nvSpPr>
        <p:spPr>
          <a:xfrm>
            <a:off x="8046720" y="2103120"/>
            <a:ext cx="3383280" cy="320040"/>
          </a:xfrm>
          <a:prstGeom prst="rect">
            <a:avLst/>
          </a:prstGeom>
          <a:noFill/>
          <a:ln/>
        </p:spPr>
        <p:txBody>
          <a:bodyPr wrap="square" lIns="0" tIns="0" rIns="0" bIns="0" rtlCol="0" anchor="ctr"/>
          <a:lstStyle/>
          <a:p>
            <a:pPr marL="0" indent="0">
              <a:buNone/>
            </a:pPr>
            <a:r>
              <a:rPr lang="en-US" sz="1300" b="1" kern="0" spc="300" dirty="0">
                <a:solidFill>
                  <a:srgbClr val="F2A40E"/>
                </a:solidFill>
                <a:latin typeface="Calibri" pitchFamily="34" charset="0"/>
                <a:ea typeface="Calibri" pitchFamily="34" charset="-122"/>
                <a:cs typeface="Calibri" pitchFamily="34" charset="-120"/>
              </a:rPr>
              <a:t>STRESS TEST</a:t>
            </a:r>
            <a:endParaRPr lang="en-US" sz="1300" dirty="0"/>
          </a:p>
        </p:txBody>
      </p:sp>
      <p:sp>
        <p:nvSpPr>
          <p:cNvPr id="36" name="!!stat-a"/>
          <p:cNvSpPr txBox="1"/>
          <p:nvPr/>
        </p:nvSpPr>
        <p:spPr>
          <a:xfrm>
            <a:off x="8046720" y="2423160"/>
            <a:ext cx="3474720" cy="1097280"/>
          </a:xfrm>
          <a:prstGeom prst="rect">
            <a:avLst/>
          </a:prstGeom>
          <a:noFill/>
          <a:ln/>
        </p:spPr>
        <p:txBody>
          <a:bodyPr wrap="square" lIns="0" tIns="0" rIns="0" bIns="0" rtlCol="0" anchor="ctr"/>
          <a:lstStyle/>
          <a:p>
            <a:pPr marL="0" indent="0">
              <a:buNone/>
            </a:pPr>
            <a:r>
              <a:rPr lang="en-US" sz="6800" b="1" dirty="0">
                <a:solidFill>
                  <a:srgbClr val="FFFFFF"/>
                </a:solidFill>
                <a:latin typeface="Century Gothic" pitchFamily="34" charset="0"/>
                <a:ea typeface="Century Gothic" pitchFamily="34" charset="-122"/>
                <a:cs typeface="Century Gothic" pitchFamily="34" charset="-120"/>
              </a:rPr>
              <a:t>28/28</a:t>
            </a:r>
            <a:endParaRPr lang="en-US" sz="6800" dirty="0"/>
          </a:p>
        </p:txBody>
      </p:sp>
      <p:sp>
        <p:nvSpPr>
          <p:cNvPr id="37" name="!!stat-a-label"/>
          <p:cNvSpPr txBox="1"/>
          <p:nvPr/>
        </p:nvSpPr>
        <p:spPr>
          <a:xfrm>
            <a:off x="8046720" y="3566160"/>
            <a:ext cx="3429000" cy="822960"/>
          </a:xfrm>
          <a:prstGeom prst="rect">
            <a:avLst/>
          </a:prstGeom>
          <a:noFill/>
          <a:ln/>
        </p:spPr>
        <p:txBody>
          <a:bodyPr wrap="square" lIns="0" tIns="0" rIns="0" bIns="0" rtlCol="0" anchor="t"/>
          <a:lstStyle/>
          <a:p>
            <a:pPr marL="0" indent="0">
              <a:buNone/>
            </a:pPr>
            <a:r>
              <a:rPr lang="en-US" sz="1500" dirty="0">
                <a:solidFill>
                  <a:srgbClr val="DCE4FA"/>
                </a:solidFill>
                <a:latin typeface="Calibri" pitchFamily="34" charset="0"/>
                <a:ea typeface="Calibri" pitchFamily="34" charset="-122"/>
                <a:cs typeface="Calibri" pitchFamily="34" charset="-120"/>
              </a:rPr>
              <a:t>planted errors caught: changed numbers, deleted facts, invented claims</a:t>
            </a:r>
            <a:endParaRPr lang="en-US" sz="1500" dirty="0"/>
          </a:p>
        </p:txBody>
      </p:sp>
      <p:sp>
        <p:nvSpPr>
          <p:cNvPr id="38" name="!!stat-b"/>
          <p:cNvSpPr txBox="1"/>
          <p:nvPr/>
        </p:nvSpPr>
        <p:spPr>
          <a:xfrm>
            <a:off x="8046720" y="4526280"/>
            <a:ext cx="3474720" cy="731520"/>
          </a:xfrm>
          <a:prstGeom prst="rect">
            <a:avLst/>
          </a:prstGeom>
          <a:noFill/>
          <a:ln/>
        </p:spPr>
        <p:txBody>
          <a:bodyPr wrap="square" lIns="0" tIns="0" rIns="0" bIns="0" rtlCol="0" anchor="ctr"/>
          <a:lstStyle/>
          <a:p>
            <a:pPr marL="0" indent="0">
              <a:buNone/>
            </a:pPr>
            <a:r>
              <a:rPr lang="en-US" sz="4000" b="1" dirty="0">
                <a:solidFill>
                  <a:srgbClr val="F2A40E"/>
                </a:solidFill>
                <a:latin typeface="Century Gothic" pitchFamily="34" charset="0"/>
                <a:ea typeface="Century Gothic" pitchFamily="34" charset="-122"/>
                <a:cs typeface="Century Gothic" pitchFamily="34" charset="-120"/>
              </a:rPr>
              <a:t>0/142</a:t>
            </a:r>
            <a:endParaRPr lang="en-US" sz="4000" dirty="0"/>
          </a:p>
        </p:txBody>
      </p:sp>
      <p:sp>
        <p:nvSpPr>
          <p:cNvPr id="39" name="!!stat-b-label"/>
          <p:cNvSpPr txBox="1"/>
          <p:nvPr/>
        </p:nvSpPr>
        <p:spPr>
          <a:xfrm>
            <a:off x="8046720" y="5257800"/>
            <a:ext cx="3429000" cy="457200"/>
          </a:xfrm>
          <a:prstGeom prst="rect">
            <a:avLst/>
          </a:prstGeom>
          <a:noFill/>
          <a:ln/>
        </p:spPr>
        <p:txBody>
          <a:bodyPr wrap="square" lIns="0" tIns="0" rIns="0" bIns="0" rtlCol="0" anchor="ctr"/>
          <a:lstStyle/>
          <a:p>
            <a:pPr marL="0" indent="0">
              <a:buNone/>
            </a:pPr>
            <a:r>
              <a:rPr lang="en-US" sz="1500" dirty="0">
                <a:solidFill>
                  <a:srgbClr val="DCE4FA"/>
                </a:solidFill>
                <a:latin typeface="Calibri" pitchFamily="34" charset="0"/>
                <a:ea typeface="Calibri" pitchFamily="34" charset="-122"/>
                <a:cs typeface="Calibri" pitchFamily="34" charset="-120"/>
              </a:rPr>
              <a:t>false alarms on unchanged facts</a:t>
            </a:r>
            <a:endParaRPr lang="en-US" sz="1500" dirty="0"/>
          </a:p>
        </p:txBody>
      </p:sp>
      <p:sp>
        <p:nvSpPr>
          <p:cNvPr id="40" name="!!dot-0"/>
          <p:cNvSpPr/>
          <p:nvPr/>
        </p:nvSpPr>
        <p:spPr>
          <a:xfrm>
            <a:off x="10241280" y="6400800"/>
            <a:ext cx="100584" cy="100584"/>
          </a:xfrm>
          <a:prstGeom prst="ellipse">
            <a:avLst/>
          </a:prstGeom>
          <a:solidFill>
            <a:srgbClr val="C3CDDD"/>
          </a:solidFill>
          <a:ln w="12700">
            <a:solidFill>
              <a:srgbClr val="C3CDDD"/>
            </a:solidFill>
            <a:prstDash val="solid"/>
          </a:ln>
        </p:spPr>
      </p:sp>
      <p:sp>
        <p:nvSpPr>
          <p:cNvPr id="41" name="!!dot-1"/>
          <p:cNvSpPr/>
          <p:nvPr/>
        </p:nvSpPr>
        <p:spPr>
          <a:xfrm>
            <a:off x="10479024" y="6400800"/>
            <a:ext cx="100584" cy="100584"/>
          </a:xfrm>
          <a:prstGeom prst="ellipse">
            <a:avLst/>
          </a:prstGeom>
          <a:solidFill>
            <a:srgbClr val="C3CDDD"/>
          </a:solidFill>
          <a:ln w="12700">
            <a:solidFill>
              <a:srgbClr val="C3CDDD"/>
            </a:solidFill>
            <a:prstDash val="solid"/>
          </a:ln>
        </p:spPr>
      </p:sp>
      <p:sp>
        <p:nvSpPr>
          <p:cNvPr id="42" name="!!dot-2"/>
          <p:cNvSpPr/>
          <p:nvPr/>
        </p:nvSpPr>
        <p:spPr>
          <a:xfrm>
            <a:off x="10716768" y="6400800"/>
            <a:ext cx="100584" cy="100584"/>
          </a:xfrm>
          <a:prstGeom prst="ellipse">
            <a:avLst/>
          </a:prstGeom>
          <a:solidFill>
            <a:srgbClr val="C3CDDD"/>
          </a:solidFill>
          <a:ln w="12700">
            <a:solidFill>
              <a:srgbClr val="C3CDDD"/>
            </a:solidFill>
            <a:prstDash val="solid"/>
          </a:ln>
        </p:spPr>
      </p:sp>
      <p:sp>
        <p:nvSpPr>
          <p:cNvPr id="43" name="!!dot-3"/>
          <p:cNvSpPr/>
          <p:nvPr/>
        </p:nvSpPr>
        <p:spPr>
          <a:xfrm>
            <a:off x="10954512" y="6400800"/>
            <a:ext cx="100584" cy="100584"/>
          </a:xfrm>
          <a:prstGeom prst="ellipse">
            <a:avLst/>
          </a:prstGeom>
          <a:solidFill>
            <a:srgbClr val="C3CDDD"/>
          </a:solidFill>
          <a:ln w="12700">
            <a:solidFill>
              <a:srgbClr val="C3CDDD"/>
            </a:solidFill>
            <a:prstDash val="solid"/>
          </a:ln>
        </p:spPr>
      </p:sp>
      <p:sp>
        <p:nvSpPr>
          <p:cNvPr id="44" name="!!dot-4"/>
          <p:cNvSpPr/>
          <p:nvPr/>
        </p:nvSpPr>
        <p:spPr>
          <a:xfrm>
            <a:off x="11192256" y="6400800"/>
            <a:ext cx="155448" cy="155448"/>
          </a:xfrm>
          <a:prstGeom prst="ellipse">
            <a:avLst/>
          </a:prstGeom>
          <a:solidFill>
            <a:srgbClr val="F2A40E"/>
          </a:solidFill>
          <a:ln w="12700">
            <a:solidFill>
              <a:srgbClr val="F2A40E"/>
            </a:solidFill>
            <a:prstDash val="solid"/>
          </a:ln>
        </p:spPr>
      </p:sp>
      <p:sp>
        <p:nvSpPr>
          <p:cNvPr id="45" name="!!dot-5"/>
          <p:cNvSpPr/>
          <p:nvPr/>
        </p:nvSpPr>
        <p:spPr>
          <a:xfrm>
            <a:off x="11430000" y="6400800"/>
            <a:ext cx="100584" cy="100584"/>
          </a:xfrm>
          <a:prstGeom prst="ellipse">
            <a:avLst/>
          </a:prstGeom>
          <a:solidFill>
            <a:srgbClr val="C3CDDD"/>
          </a:solidFill>
          <a:ln w="12700">
            <a:solidFill>
              <a:srgbClr val="C3CDDD"/>
            </a:solidFill>
            <a:prstDash val="solid"/>
          </a:ln>
        </p:spPr>
      </p:sp>
      <p:sp>
        <p:nvSpPr>
          <p:cNvPr id="46" name="!!dot-6"/>
          <p:cNvSpPr/>
          <p:nvPr/>
        </p:nvSpPr>
        <p:spPr>
          <a:xfrm>
            <a:off x="11667744" y="6400800"/>
            <a:ext cx="100584" cy="100584"/>
          </a:xfrm>
          <a:prstGeom prst="ellipse">
            <a:avLst/>
          </a:prstGeom>
          <a:solidFill>
            <a:srgbClr val="C3CDDD"/>
          </a:solidFill>
          <a:ln w="12700">
            <a:solidFill>
              <a:srgbClr val="C3CDDD"/>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3"/>
        </a:solidFill>
        <a:effectLst/>
      </p:bgPr>
    </p:bg>
    <p:spTree>
      <p:nvGrpSpPr>
        <p:cNvPr id="1" name=""/>
        <p:cNvGrpSpPr/>
        <p:nvPr/>
      </p:nvGrpSpPr>
      <p:grpSpPr>
        <a:xfrm>
          <a:off x="0" y="0"/>
          <a:ext cx="0" cy="0"/>
          <a:chOff x="0" y="0"/>
          <a:chExt cx="0" cy="0"/>
        </a:xfrm>
      </p:grpSpPr>
      <p:sp>
        <p:nvSpPr>
          <p:cNvPr id="2" name="!!ray-0"/>
          <p:cNvSpPr/>
          <p:nvPr/>
        </p:nvSpPr>
        <p:spPr>
          <a:xfrm>
            <a:off x="11663172" y="868680"/>
            <a:ext cx="192024" cy="914"/>
          </a:xfrm>
          <a:prstGeom prst="line">
            <a:avLst/>
          </a:prstGeom>
          <a:noFill/>
          <a:ln w="19050">
            <a:solidFill>
              <a:srgbClr val="F2A40E"/>
            </a:solidFill>
            <a:prstDash val="solid"/>
          </a:ln>
        </p:spPr>
      </p:sp>
      <p:sp>
        <p:nvSpPr>
          <p:cNvPr id="3" name="!!ray-1"/>
          <p:cNvSpPr/>
          <p:nvPr/>
        </p:nvSpPr>
        <p:spPr>
          <a:xfrm>
            <a:off x="11613557" y="1053846"/>
            <a:ext cx="166298" cy="96012"/>
          </a:xfrm>
          <a:prstGeom prst="line">
            <a:avLst/>
          </a:prstGeom>
          <a:noFill/>
          <a:ln w="19050">
            <a:solidFill>
              <a:srgbClr val="F2A40E">
                <a:alpha val="55000"/>
              </a:srgbClr>
            </a:solidFill>
            <a:prstDash val="solid"/>
          </a:ln>
        </p:spPr>
      </p:sp>
      <p:sp>
        <p:nvSpPr>
          <p:cNvPr id="4" name="!!ray-2"/>
          <p:cNvSpPr/>
          <p:nvPr/>
        </p:nvSpPr>
        <p:spPr>
          <a:xfrm>
            <a:off x="11478006" y="1189397"/>
            <a:ext cx="96012" cy="166298"/>
          </a:xfrm>
          <a:prstGeom prst="line">
            <a:avLst/>
          </a:prstGeom>
          <a:noFill/>
          <a:ln w="19050">
            <a:solidFill>
              <a:srgbClr val="F2A40E"/>
            </a:solidFill>
            <a:prstDash val="solid"/>
          </a:ln>
        </p:spPr>
      </p:sp>
      <p:sp>
        <p:nvSpPr>
          <p:cNvPr id="5" name="!!ray-3"/>
          <p:cNvSpPr/>
          <p:nvPr/>
        </p:nvSpPr>
        <p:spPr>
          <a:xfrm>
            <a:off x="11292840" y="1239012"/>
            <a:ext cx="914" cy="192024"/>
          </a:xfrm>
          <a:prstGeom prst="line">
            <a:avLst/>
          </a:prstGeom>
          <a:noFill/>
          <a:ln w="19050">
            <a:solidFill>
              <a:srgbClr val="F2A40E">
                <a:alpha val="55000"/>
              </a:srgbClr>
            </a:solidFill>
            <a:prstDash val="solid"/>
          </a:ln>
        </p:spPr>
      </p:sp>
      <p:sp>
        <p:nvSpPr>
          <p:cNvPr id="6" name="!!ray-4"/>
          <p:cNvSpPr/>
          <p:nvPr/>
        </p:nvSpPr>
        <p:spPr>
          <a:xfrm flipH="1">
            <a:off x="11011662" y="1189397"/>
            <a:ext cx="96012" cy="166298"/>
          </a:xfrm>
          <a:prstGeom prst="line">
            <a:avLst/>
          </a:prstGeom>
          <a:noFill/>
          <a:ln w="19050">
            <a:solidFill>
              <a:srgbClr val="F2A40E"/>
            </a:solidFill>
            <a:prstDash val="solid"/>
          </a:ln>
        </p:spPr>
      </p:sp>
      <p:sp>
        <p:nvSpPr>
          <p:cNvPr id="7" name="!!ray-5"/>
          <p:cNvSpPr/>
          <p:nvPr/>
        </p:nvSpPr>
        <p:spPr>
          <a:xfrm flipH="1">
            <a:off x="10805825" y="1053846"/>
            <a:ext cx="166298" cy="96012"/>
          </a:xfrm>
          <a:prstGeom prst="line">
            <a:avLst/>
          </a:prstGeom>
          <a:noFill/>
          <a:ln w="19050">
            <a:solidFill>
              <a:srgbClr val="F2A40E">
                <a:alpha val="55000"/>
              </a:srgbClr>
            </a:solidFill>
            <a:prstDash val="solid"/>
          </a:ln>
        </p:spPr>
      </p:sp>
      <p:sp>
        <p:nvSpPr>
          <p:cNvPr id="8" name="!!ray-6"/>
          <p:cNvSpPr/>
          <p:nvPr/>
        </p:nvSpPr>
        <p:spPr>
          <a:xfrm flipH="1">
            <a:off x="10730484" y="868680"/>
            <a:ext cx="192024" cy="914"/>
          </a:xfrm>
          <a:prstGeom prst="line">
            <a:avLst/>
          </a:prstGeom>
          <a:noFill/>
          <a:ln w="19050">
            <a:solidFill>
              <a:srgbClr val="F2A40E"/>
            </a:solidFill>
            <a:prstDash val="solid"/>
          </a:ln>
        </p:spPr>
      </p:sp>
      <p:sp>
        <p:nvSpPr>
          <p:cNvPr id="9" name="!!ray-7"/>
          <p:cNvSpPr/>
          <p:nvPr/>
        </p:nvSpPr>
        <p:spPr>
          <a:xfrm flipH="1" flipV="1">
            <a:off x="10805825" y="587502"/>
            <a:ext cx="166298" cy="96012"/>
          </a:xfrm>
          <a:prstGeom prst="line">
            <a:avLst/>
          </a:prstGeom>
          <a:noFill/>
          <a:ln w="19050">
            <a:solidFill>
              <a:srgbClr val="F2A40E">
                <a:alpha val="55000"/>
              </a:srgbClr>
            </a:solidFill>
            <a:prstDash val="solid"/>
          </a:ln>
        </p:spPr>
      </p:sp>
      <p:sp>
        <p:nvSpPr>
          <p:cNvPr id="10" name="!!ray-8"/>
          <p:cNvSpPr/>
          <p:nvPr/>
        </p:nvSpPr>
        <p:spPr>
          <a:xfrm flipH="1" flipV="1">
            <a:off x="11011662" y="381665"/>
            <a:ext cx="96012" cy="166298"/>
          </a:xfrm>
          <a:prstGeom prst="line">
            <a:avLst/>
          </a:prstGeom>
          <a:noFill/>
          <a:ln w="19050">
            <a:solidFill>
              <a:srgbClr val="F2A40E"/>
            </a:solidFill>
            <a:prstDash val="solid"/>
          </a:ln>
        </p:spPr>
      </p:sp>
      <p:sp>
        <p:nvSpPr>
          <p:cNvPr id="11" name="!!ray-9"/>
          <p:cNvSpPr/>
          <p:nvPr/>
        </p:nvSpPr>
        <p:spPr>
          <a:xfrm flipH="1" flipV="1">
            <a:off x="11292840" y="306324"/>
            <a:ext cx="914" cy="192024"/>
          </a:xfrm>
          <a:prstGeom prst="line">
            <a:avLst/>
          </a:prstGeom>
          <a:noFill/>
          <a:ln w="19050">
            <a:solidFill>
              <a:srgbClr val="F2A40E">
                <a:alpha val="55000"/>
              </a:srgbClr>
            </a:solidFill>
            <a:prstDash val="solid"/>
          </a:ln>
        </p:spPr>
      </p:sp>
      <p:sp>
        <p:nvSpPr>
          <p:cNvPr id="12" name="!!ray-10"/>
          <p:cNvSpPr/>
          <p:nvPr/>
        </p:nvSpPr>
        <p:spPr>
          <a:xfrm flipV="1">
            <a:off x="11478006" y="381665"/>
            <a:ext cx="96012" cy="166298"/>
          </a:xfrm>
          <a:prstGeom prst="line">
            <a:avLst/>
          </a:prstGeom>
          <a:noFill/>
          <a:ln w="19050">
            <a:solidFill>
              <a:srgbClr val="F2A40E"/>
            </a:solidFill>
            <a:prstDash val="solid"/>
          </a:ln>
        </p:spPr>
      </p:sp>
      <p:sp>
        <p:nvSpPr>
          <p:cNvPr id="13" name="!!ray-11"/>
          <p:cNvSpPr/>
          <p:nvPr/>
        </p:nvSpPr>
        <p:spPr>
          <a:xfrm flipV="1">
            <a:off x="11613557" y="587502"/>
            <a:ext cx="166298" cy="96012"/>
          </a:xfrm>
          <a:prstGeom prst="line">
            <a:avLst/>
          </a:prstGeom>
          <a:noFill/>
          <a:ln w="19050">
            <a:solidFill>
              <a:srgbClr val="F2A40E">
                <a:alpha val="55000"/>
              </a:srgbClr>
            </a:solidFill>
            <a:prstDash val="solid"/>
          </a:ln>
        </p:spPr>
      </p:sp>
      <p:sp>
        <p:nvSpPr>
          <p:cNvPr id="14" name="!!ring"/>
          <p:cNvSpPr/>
          <p:nvPr/>
        </p:nvSpPr>
        <p:spPr>
          <a:xfrm>
            <a:off x="11018520" y="594360"/>
            <a:ext cx="548640" cy="548640"/>
          </a:xfrm>
          <a:prstGeom prst="ellipse">
            <a:avLst/>
          </a:prstGeom>
          <a:solidFill>
            <a:srgbClr val="1C3EA6"/>
          </a:solidFill>
          <a:ln w="12700">
            <a:solidFill>
              <a:srgbClr val="FFFFFF"/>
            </a:solidFill>
            <a:prstDash val="solid"/>
          </a:ln>
        </p:spPr>
      </p:sp>
      <p:sp>
        <p:nvSpPr>
          <p:cNvPr id="15" name="!!flame"/>
          <p:cNvSpPr/>
          <p:nvPr/>
        </p:nvSpPr>
        <p:spPr>
          <a:xfrm>
            <a:off x="11177626" y="753466"/>
            <a:ext cx="230429" cy="230429"/>
          </a:xfrm>
          <a:prstGeom prst="ellipse">
            <a:avLst/>
          </a:prstGeom>
          <a:solidFill>
            <a:srgbClr val="F2A40E"/>
          </a:solidFill>
          <a:ln w="12700">
            <a:solidFill>
              <a:srgbClr val="F2A40E"/>
            </a:solidFill>
            <a:prstDash val="solid"/>
          </a:ln>
        </p:spPr>
      </p:sp>
      <p:sp>
        <p:nvSpPr>
          <p:cNvPr id="16" name="!!kicker"/>
          <p:cNvSpPr txBox="1"/>
          <p:nvPr/>
        </p:nvSpPr>
        <p:spPr>
          <a:xfrm>
            <a:off x="731520" y="548640"/>
            <a:ext cx="6400800" cy="320040"/>
          </a:xfrm>
          <a:prstGeom prst="rect">
            <a:avLst/>
          </a:prstGeom>
          <a:noFill/>
          <a:ln/>
        </p:spPr>
        <p:txBody>
          <a:bodyPr wrap="square" lIns="0" tIns="0" rIns="0" bIns="0" rtlCol="0" anchor="ctr"/>
          <a:lstStyle/>
          <a:p>
            <a:pPr marL="0" indent="0">
              <a:buNone/>
            </a:pPr>
            <a:r>
              <a:rPr lang="en-US" sz="1300" b="1" kern="0" spc="300" dirty="0">
                <a:solidFill>
                  <a:srgbClr val="0B8F8F"/>
                </a:solidFill>
                <a:latin typeface="Calibri" pitchFamily="34" charset="0"/>
                <a:ea typeface="Calibri" pitchFamily="34" charset="-122"/>
                <a:cs typeface="Calibri" pitchFamily="34" charset="-120"/>
              </a:rPr>
              <a:t>05 · MEASURED, NOT CLAIMED</a:t>
            </a:r>
            <a:endParaRPr lang="en-US" sz="1300" dirty="0"/>
          </a:p>
        </p:txBody>
      </p:sp>
      <p:sp>
        <p:nvSpPr>
          <p:cNvPr id="17" name="!!title"/>
          <p:cNvSpPr txBox="1"/>
          <p:nvPr/>
        </p:nvSpPr>
        <p:spPr>
          <a:xfrm>
            <a:off x="731520" y="896112"/>
            <a:ext cx="9144000" cy="822960"/>
          </a:xfrm>
          <a:prstGeom prst="rect">
            <a:avLst/>
          </a:prstGeom>
          <a:noFill/>
          <a:ln/>
        </p:spPr>
        <p:txBody>
          <a:bodyPr wrap="square" lIns="0" tIns="0" rIns="0" bIns="0" rtlCol="0" anchor="t"/>
          <a:lstStyle/>
          <a:p>
            <a:pPr marL="0" indent="0">
              <a:buNone/>
            </a:pPr>
            <a:r>
              <a:rPr lang="en-US" sz="3000" b="1" dirty="0">
                <a:solidFill>
                  <a:srgbClr val="0D1B3E"/>
                </a:solidFill>
                <a:latin typeface="Century Gothic" pitchFamily="34" charset="0"/>
                <a:ea typeface="Century Gothic" pitchFamily="34" charset="-122"/>
                <a:cs typeface="Century Gothic" pitchFamily="34" charset="-120"/>
              </a:rPr>
              <a:t>Real textbook pages, real numbers</a:t>
            </a:r>
            <a:endParaRPr lang="en-US" sz="3000" dirty="0"/>
          </a:p>
        </p:txBody>
      </p:sp>
      <p:sp>
        <p:nvSpPr>
          <p:cNvPr id="18" name="!!panel"/>
          <p:cNvSpPr/>
          <p:nvPr/>
        </p:nvSpPr>
        <p:spPr>
          <a:xfrm>
            <a:off x="731520" y="1965960"/>
            <a:ext cx="3520440" cy="2011680"/>
          </a:xfrm>
          <a:prstGeom prst="roundRect">
            <a:avLst>
              <a:gd name="adj" fmla="val 9091"/>
            </a:avLst>
          </a:prstGeom>
          <a:solidFill>
            <a:srgbClr val="1C3EA6"/>
          </a:solidFill>
          <a:ln w="12700">
            <a:solidFill>
              <a:srgbClr val="1C3EA6"/>
            </a:solidFill>
            <a:prstDash val="solid"/>
          </a:ln>
        </p:spPr>
      </p:sp>
      <p:sp>
        <p:nvSpPr>
          <p:cNvPr id="19" name="!!stat-a"/>
          <p:cNvSpPr txBox="1"/>
          <p:nvPr/>
        </p:nvSpPr>
        <p:spPr>
          <a:xfrm>
            <a:off x="1005840" y="2167128"/>
            <a:ext cx="3017520" cy="868680"/>
          </a:xfrm>
          <a:prstGeom prst="rect">
            <a:avLst/>
          </a:prstGeom>
          <a:noFill/>
          <a:ln/>
        </p:spPr>
        <p:txBody>
          <a:bodyPr wrap="square" lIns="0" tIns="0" rIns="0" bIns="0" rtlCol="0" anchor="ctr"/>
          <a:lstStyle/>
          <a:p>
            <a:pPr marL="0" indent="0">
              <a:buNone/>
            </a:pPr>
            <a:r>
              <a:rPr lang="en-US" sz="4400" b="1" dirty="0">
                <a:solidFill>
                  <a:srgbClr val="FFFFFF"/>
                </a:solidFill>
                <a:latin typeface="Century Gothic" pitchFamily="34" charset="0"/>
                <a:ea typeface="Century Gothic" pitchFamily="34" charset="-122"/>
                <a:cs typeface="Century Gothic" pitchFamily="34" charset="-120"/>
              </a:rPr>
              <a:t>28/28</a:t>
            </a:r>
            <a:endParaRPr lang="en-US" sz="4400" dirty="0"/>
          </a:p>
        </p:txBody>
      </p:sp>
      <p:sp>
        <p:nvSpPr>
          <p:cNvPr id="20" name="!!stat-a-label"/>
          <p:cNvSpPr txBox="1"/>
          <p:nvPr/>
        </p:nvSpPr>
        <p:spPr>
          <a:xfrm>
            <a:off x="1005840" y="3108960"/>
            <a:ext cx="3017520" cy="685800"/>
          </a:xfrm>
          <a:prstGeom prst="rect">
            <a:avLst/>
          </a:prstGeom>
          <a:noFill/>
          <a:ln/>
        </p:spPr>
        <p:txBody>
          <a:bodyPr wrap="square" lIns="0" tIns="0" rIns="0" bIns="0" rtlCol="0" anchor="t"/>
          <a:lstStyle/>
          <a:p>
            <a:pPr marL="0" indent="0">
              <a:buNone/>
            </a:pPr>
            <a:r>
              <a:rPr lang="en-US" sz="1500" dirty="0">
                <a:solidFill>
                  <a:srgbClr val="DCE4FA"/>
                </a:solidFill>
                <a:latin typeface="Calibri" pitchFamily="34" charset="0"/>
                <a:ea typeface="Calibri" pitchFamily="34" charset="-122"/>
                <a:cs typeface="Calibri" pitchFamily="34" charset="-120"/>
              </a:rPr>
              <a:t>planted errors caught by Fact Guard</a:t>
            </a:r>
            <a:endParaRPr lang="en-US" sz="1500" dirty="0"/>
          </a:p>
        </p:txBody>
      </p:sp>
      <p:sp>
        <p:nvSpPr>
          <p:cNvPr id="21" name="tile-0"/>
          <p:cNvSpPr/>
          <p:nvPr/>
        </p:nvSpPr>
        <p:spPr>
          <a:xfrm>
            <a:off x="4480560" y="1965960"/>
            <a:ext cx="3520440" cy="2011680"/>
          </a:xfrm>
          <a:prstGeom prst="roundRect">
            <a:avLst>
              <a:gd name="adj" fmla="val 9091"/>
            </a:avLst>
          </a:prstGeom>
          <a:solidFill>
            <a:srgbClr val="FFFFFF"/>
          </a:solidFill>
          <a:ln w="12700">
            <a:solidFill>
              <a:srgbClr val="D3DEDC"/>
            </a:solidFill>
            <a:prstDash val="solid"/>
          </a:ln>
        </p:spPr>
      </p:sp>
      <p:sp>
        <p:nvSpPr>
          <p:cNvPr id="22" name="!!stat-b"/>
          <p:cNvSpPr txBox="1"/>
          <p:nvPr/>
        </p:nvSpPr>
        <p:spPr>
          <a:xfrm>
            <a:off x="4754880" y="2167128"/>
            <a:ext cx="3017520" cy="868680"/>
          </a:xfrm>
          <a:prstGeom prst="rect">
            <a:avLst/>
          </a:prstGeom>
          <a:noFill/>
          <a:ln/>
        </p:spPr>
        <p:txBody>
          <a:bodyPr wrap="square" lIns="0" tIns="0" rIns="0" bIns="0" rtlCol="0" anchor="ctr"/>
          <a:lstStyle/>
          <a:p>
            <a:pPr marL="0" indent="0">
              <a:buNone/>
            </a:pPr>
            <a:r>
              <a:rPr lang="en-US" sz="4000" b="1" dirty="0">
                <a:solidFill>
                  <a:srgbClr val="0B8F8F"/>
                </a:solidFill>
                <a:latin typeface="Century Gothic" pitchFamily="34" charset="0"/>
                <a:ea typeface="Century Gothic" pitchFamily="34" charset="-122"/>
                <a:cs typeface="Century Gothic" pitchFamily="34" charset="-120"/>
              </a:rPr>
              <a:t>0/142</a:t>
            </a:r>
            <a:endParaRPr lang="en-US" sz="4000" dirty="0"/>
          </a:p>
        </p:txBody>
      </p:sp>
      <p:sp>
        <p:nvSpPr>
          <p:cNvPr id="23" name="!!stat-b-label"/>
          <p:cNvSpPr txBox="1"/>
          <p:nvPr/>
        </p:nvSpPr>
        <p:spPr>
          <a:xfrm>
            <a:off x="4754880" y="3108960"/>
            <a:ext cx="3017520" cy="685800"/>
          </a:xfrm>
          <a:prstGeom prst="rect">
            <a:avLst/>
          </a:prstGeom>
          <a:noFill/>
          <a:ln/>
        </p:spPr>
        <p:txBody>
          <a:bodyPr wrap="square" lIns="0" tIns="0" rIns="0" bIns="0" rtlCol="0" anchor="t"/>
          <a:lstStyle/>
          <a:p>
            <a:pPr marL="0" indent="0">
              <a:buNone/>
            </a:pPr>
            <a:r>
              <a:rPr lang="en-US" sz="1500" dirty="0">
                <a:solidFill>
                  <a:srgbClr val="4A5875"/>
                </a:solidFill>
                <a:latin typeface="Calibri" pitchFamily="34" charset="0"/>
                <a:ea typeface="Calibri" pitchFamily="34" charset="-122"/>
                <a:cs typeface="Calibri" pitchFamily="34" charset="-120"/>
              </a:rPr>
              <a:t>false alarms on unchanged facts</a:t>
            </a:r>
            <a:endParaRPr lang="en-US" sz="1500" dirty="0"/>
          </a:p>
        </p:txBody>
      </p:sp>
      <p:sp>
        <p:nvSpPr>
          <p:cNvPr id="24" name="tile-1"/>
          <p:cNvSpPr/>
          <p:nvPr/>
        </p:nvSpPr>
        <p:spPr>
          <a:xfrm>
            <a:off x="8229600" y="1965960"/>
            <a:ext cx="3520440" cy="2011680"/>
          </a:xfrm>
          <a:prstGeom prst="roundRect">
            <a:avLst>
              <a:gd name="adj" fmla="val 9091"/>
            </a:avLst>
          </a:prstGeom>
          <a:solidFill>
            <a:srgbClr val="FFFFFF"/>
          </a:solidFill>
          <a:ln w="12700">
            <a:solidFill>
              <a:srgbClr val="D3DEDC"/>
            </a:solidFill>
            <a:prstDash val="solid"/>
          </a:ln>
        </p:spPr>
      </p:sp>
      <p:sp>
        <p:nvSpPr>
          <p:cNvPr id="25" name="tile-v-1"/>
          <p:cNvSpPr txBox="1"/>
          <p:nvPr/>
        </p:nvSpPr>
        <p:spPr>
          <a:xfrm>
            <a:off x="8503920" y="2167128"/>
            <a:ext cx="3017520" cy="868680"/>
          </a:xfrm>
          <a:prstGeom prst="rect">
            <a:avLst/>
          </a:prstGeom>
          <a:noFill/>
          <a:ln/>
        </p:spPr>
        <p:txBody>
          <a:bodyPr wrap="square" lIns="0" tIns="0" rIns="0" bIns="0" rtlCol="0" anchor="ctr"/>
          <a:lstStyle/>
          <a:p>
            <a:pPr marL="0" indent="0">
              <a:buNone/>
            </a:pPr>
            <a:r>
              <a:rPr lang="en-US" sz="4000" b="1" dirty="0">
                <a:solidFill>
                  <a:srgbClr val="0C8259"/>
                </a:solidFill>
                <a:latin typeface="Century Gothic" pitchFamily="34" charset="0"/>
                <a:ea typeface="Century Gothic" pitchFamily="34" charset="-122"/>
                <a:cs typeface="Century Gothic" pitchFamily="34" charset="-120"/>
              </a:rPr>
              <a:t>99%</a:t>
            </a:r>
            <a:endParaRPr lang="en-US" sz="4000" dirty="0"/>
          </a:p>
        </p:txBody>
      </p:sp>
      <p:sp>
        <p:nvSpPr>
          <p:cNvPr id="26" name="tile-l-1"/>
          <p:cNvSpPr txBox="1"/>
          <p:nvPr/>
        </p:nvSpPr>
        <p:spPr>
          <a:xfrm>
            <a:off x="8503920" y="3108960"/>
            <a:ext cx="3017520" cy="685800"/>
          </a:xfrm>
          <a:prstGeom prst="rect">
            <a:avLst/>
          </a:prstGeom>
          <a:noFill/>
          <a:ln/>
        </p:spPr>
        <p:txBody>
          <a:bodyPr wrap="square" lIns="0" tIns="0" rIns="0" bIns="0" rtlCol="0" anchor="t"/>
          <a:lstStyle/>
          <a:p>
            <a:pPr marL="0" indent="0">
              <a:buNone/>
            </a:pPr>
            <a:r>
              <a:rPr lang="en-US" sz="1500" dirty="0">
                <a:solidFill>
                  <a:srgbClr val="4A5875"/>
                </a:solidFill>
                <a:latin typeface="Calibri" pitchFamily="34" charset="0"/>
                <a:ea typeface="Calibri" pitchFamily="34" charset="-122"/>
                <a:cs typeface="Calibri" pitchFamily="34" charset="-120"/>
              </a:rPr>
              <a:t>facts verifiably kept in the rewrite</a:t>
            </a:r>
            <a:endParaRPr lang="en-US" sz="1500" dirty="0"/>
          </a:p>
        </p:txBody>
      </p:sp>
      <p:sp>
        <p:nvSpPr>
          <p:cNvPr id="27" name="tile-2"/>
          <p:cNvSpPr/>
          <p:nvPr/>
        </p:nvSpPr>
        <p:spPr>
          <a:xfrm>
            <a:off x="731520" y="4206240"/>
            <a:ext cx="3520440" cy="2011680"/>
          </a:xfrm>
          <a:prstGeom prst="roundRect">
            <a:avLst>
              <a:gd name="adj" fmla="val 9091"/>
            </a:avLst>
          </a:prstGeom>
          <a:solidFill>
            <a:srgbClr val="FFFFFF"/>
          </a:solidFill>
          <a:ln w="12700">
            <a:solidFill>
              <a:srgbClr val="D3DEDC"/>
            </a:solidFill>
            <a:prstDash val="solid"/>
          </a:ln>
        </p:spPr>
      </p:sp>
      <p:sp>
        <p:nvSpPr>
          <p:cNvPr id="28" name="tile-v-2"/>
          <p:cNvSpPr txBox="1"/>
          <p:nvPr/>
        </p:nvSpPr>
        <p:spPr>
          <a:xfrm>
            <a:off x="1005840" y="4407408"/>
            <a:ext cx="3017520" cy="868680"/>
          </a:xfrm>
          <a:prstGeom prst="rect">
            <a:avLst/>
          </a:prstGeom>
          <a:noFill/>
          <a:ln/>
        </p:spPr>
        <p:txBody>
          <a:bodyPr wrap="square" lIns="0" tIns="0" rIns="0" bIns="0" rtlCol="0" anchor="ctr"/>
          <a:lstStyle/>
          <a:p>
            <a:pPr marL="0" indent="0">
              <a:buNone/>
            </a:pPr>
            <a:r>
              <a:rPr lang="en-US" sz="4000" b="1" dirty="0">
                <a:solidFill>
                  <a:srgbClr val="1C3EA6"/>
                </a:solidFill>
                <a:latin typeface="Century Gothic" pitchFamily="34" charset="0"/>
                <a:ea typeface="Century Gothic" pitchFamily="34" charset="-122"/>
                <a:cs typeface="Century Gothic" pitchFamily="34" charset="-120"/>
              </a:rPr>
              <a:t>11.0 → 6.3</a:t>
            </a:r>
            <a:endParaRPr lang="en-US" sz="4000" dirty="0"/>
          </a:p>
        </p:txBody>
      </p:sp>
      <p:sp>
        <p:nvSpPr>
          <p:cNvPr id="29" name="tile-l-2"/>
          <p:cNvSpPr txBox="1"/>
          <p:nvPr/>
        </p:nvSpPr>
        <p:spPr>
          <a:xfrm>
            <a:off x="1005840" y="5349240"/>
            <a:ext cx="3017520" cy="685800"/>
          </a:xfrm>
          <a:prstGeom prst="rect">
            <a:avLst/>
          </a:prstGeom>
          <a:noFill/>
          <a:ln/>
        </p:spPr>
        <p:txBody>
          <a:bodyPr wrap="square" lIns="0" tIns="0" rIns="0" bIns="0" rtlCol="0" anchor="t"/>
          <a:lstStyle/>
          <a:p>
            <a:pPr marL="0" indent="0">
              <a:buNone/>
            </a:pPr>
            <a:r>
              <a:rPr lang="en-US" sz="1500" dirty="0">
                <a:solidFill>
                  <a:srgbClr val="4A5875"/>
                </a:solidFill>
                <a:latin typeface="Calibri" pitchFamily="34" charset="0"/>
                <a:ea typeface="Calibri" pitchFamily="34" charset="-122"/>
                <a:cs typeface="Calibri" pitchFamily="34" charset="-120"/>
              </a:rPr>
              <a:t>reading grade, original → Easier</a:t>
            </a:r>
            <a:endParaRPr lang="en-US" sz="1500" dirty="0"/>
          </a:p>
        </p:txBody>
      </p:sp>
      <p:sp>
        <p:nvSpPr>
          <p:cNvPr id="30" name="tile-3"/>
          <p:cNvSpPr/>
          <p:nvPr/>
        </p:nvSpPr>
        <p:spPr>
          <a:xfrm>
            <a:off x="4480560" y="4206240"/>
            <a:ext cx="3520440" cy="2011680"/>
          </a:xfrm>
          <a:prstGeom prst="roundRect">
            <a:avLst>
              <a:gd name="adj" fmla="val 9091"/>
            </a:avLst>
          </a:prstGeom>
          <a:solidFill>
            <a:srgbClr val="FFFFFF"/>
          </a:solidFill>
          <a:ln w="12700">
            <a:solidFill>
              <a:srgbClr val="D3DEDC"/>
            </a:solidFill>
            <a:prstDash val="solid"/>
          </a:ln>
        </p:spPr>
      </p:sp>
      <p:sp>
        <p:nvSpPr>
          <p:cNvPr id="31" name="tile-v-3"/>
          <p:cNvSpPr txBox="1"/>
          <p:nvPr/>
        </p:nvSpPr>
        <p:spPr>
          <a:xfrm>
            <a:off x="4754880" y="4407408"/>
            <a:ext cx="2103120" cy="868680"/>
          </a:xfrm>
          <a:prstGeom prst="rect">
            <a:avLst/>
          </a:prstGeom>
          <a:noFill/>
          <a:ln/>
        </p:spPr>
        <p:txBody>
          <a:bodyPr wrap="square" lIns="0" tIns="0" rIns="0" bIns="0" rtlCol="0" anchor="ctr"/>
          <a:lstStyle/>
          <a:p>
            <a:pPr marL="0" indent="0">
              <a:buNone/>
            </a:pPr>
            <a:r>
              <a:rPr lang="en-US" sz="3200" b="1" dirty="0">
                <a:solidFill>
                  <a:srgbClr val="0B8F8F"/>
                </a:solidFill>
                <a:latin typeface="Century Gothic" pitchFamily="34" charset="0"/>
                <a:ea typeface="Century Gothic" pitchFamily="34" charset="-122"/>
                <a:cs typeface="Century Gothic" pitchFamily="34" charset="-120"/>
              </a:rPr>
              <a:t>99.98%</a:t>
            </a:r>
            <a:endParaRPr lang="en-US" sz="3200" dirty="0"/>
          </a:p>
        </p:txBody>
      </p:sp>
      <p:sp>
        <p:nvSpPr>
          <p:cNvPr id="32" name="tile-l-3"/>
          <p:cNvSpPr txBox="1"/>
          <p:nvPr/>
        </p:nvSpPr>
        <p:spPr>
          <a:xfrm>
            <a:off x="4754880" y="5349240"/>
            <a:ext cx="2103120" cy="685800"/>
          </a:xfrm>
          <a:prstGeom prst="rect">
            <a:avLst/>
          </a:prstGeom>
          <a:noFill/>
          <a:ln/>
        </p:spPr>
        <p:txBody>
          <a:bodyPr wrap="square" lIns="0" tIns="0" rIns="0" bIns="0" rtlCol="0" anchor="t"/>
          <a:lstStyle/>
          <a:p>
            <a:pPr marL="0" indent="0">
              <a:buNone/>
            </a:pPr>
            <a:r>
              <a:rPr lang="en-US" sz="1500" dirty="0">
                <a:solidFill>
                  <a:srgbClr val="4A5875"/>
                </a:solidFill>
                <a:latin typeface="Calibri" pitchFamily="34" charset="0"/>
                <a:ea typeface="Calibri" pitchFamily="34" charset="-122"/>
                <a:cs typeface="Calibri" pitchFamily="34" charset="-120"/>
              </a:rPr>
              <a:t>page reading, even on this hard photo</a:t>
            </a:r>
            <a:endParaRPr lang="en-US" sz="1500" dirty="0"/>
          </a:p>
        </p:txBody>
      </p:sp>
      <p:pic>
        <p:nvPicPr>
          <p:cNvPr id="33" name="hard-photo" descr="C:\Users\rahee\AppData\Local\Temp\claude\C--Users-rahee-Desktop-AICon\b0d77b2b-594c-418c-bce0-e4f2d230c288\scratchpad\hard.jpg"/>
          <p:cNvPicPr>
            <a:picLocks noChangeAspect="1"/>
          </p:cNvPicPr>
          <p:nvPr/>
        </p:nvPicPr>
        <p:blipFill>
          <a:blip r:embed="rId3"/>
          <a:stretch>
            <a:fillRect/>
          </a:stretch>
        </p:blipFill>
        <p:spPr>
          <a:xfrm>
            <a:off x="6967728" y="4462272"/>
            <a:ext cx="822960" cy="1078992"/>
          </a:xfrm>
          <a:prstGeom prst="rect">
            <a:avLst/>
          </a:prstGeom>
        </p:spPr>
      </p:pic>
      <p:sp>
        <p:nvSpPr>
          <p:cNvPr id="34" name="tile-4"/>
          <p:cNvSpPr/>
          <p:nvPr/>
        </p:nvSpPr>
        <p:spPr>
          <a:xfrm>
            <a:off x="8229600" y="4206240"/>
            <a:ext cx="3520440" cy="2011680"/>
          </a:xfrm>
          <a:prstGeom prst="roundRect">
            <a:avLst>
              <a:gd name="adj" fmla="val 9091"/>
            </a:avLst>
          </a:prstGeom>
          <a:solidFill>
            <a:srgbClr val="FFFFFF"/>
          </a:solidFill>
          <a:ln w="12700">
            <a:solidFill>
              <a:srgbClr val="D3DEDC"/>
            </a:solidFill>
            <a:prstDash val="solid"/>
          </a:ln>
        </p:spPr>
      </p:sp>
      <p:sp>
        <p:nvSpPr>
          <p:cNvPr id="35" name="tile-v-4"/>
          <p:cNvSpPr txBox="1"/>
          <p:nvPr/>
        </p:nvSpPr>
        <p:spPr>
          <a:xfrm>
            <a:off x="8503920" y="4407408"/>
            <a:ext cx="3017520" cy="868680"/>
          </a:xfrm>
          <a:prstGeom prst="rect">
            <a:avLst/>
          </a:prstGeom>
          <a:noFill/>
          <a:ln/>
        </p:spPr>
        <p:txBody>
          <a:bodyPr wrap="square" lIns="0" tIns="0" rIns="0" bIns="0" rtlCol="0" anchor="ctr"/>
          <a:lstStyle/>
          <a:p>
            <a:pPr marL="0" indent="0">
              <a:buNone/>
            </a:pPr>
            <a:r>
              <a:rPr lang="en-US" sz="4000" b="1" dirty="0">
                <a:solidFill>
                  <a:srgbClr val="0D1B3E"/>
                </a:solidFill>
                <a:latin typeface="Century Gothic" pitchFamily="34" charset="0"/>
                <a:ea typeface="Century Gothic" pitchFamily="34" charset="-122"/>
                <a:cs typeface="Century Gothic" pitchFamily="34" charset="-120"/>
              </a:rPr>
              <a:t>26 s</a:t>
            </a:r>
            <a:endParaRPr lang="en-US" sz="4000" dirty="0"/>
          </a:p>
        </p:txBody>
      </p:sp>
      <p:sp>
        <p:nvSpPr>
          <p:cNvPr id="36" name="tile-l-4"/>
          <p:cNvSpPr txBox="1"/>
          <p:nvPr/>
        </p:nvSpPr>
        <p:spPr>
          <a:xfrm>
            <a:off x="8503920" y="5349240"/>
            <a:ext cx="3017520" cy="685800"/>
          </a:xfrm>
          <a:prstGeom prst="rect">
            <a:avLst/>
          </a:prstGeom>
          <a:noFill/>
          <a:ln/>
        </p:spPr>
        <p:txBody>
          <a:bodyPr wrap="square" lIns="0" tIns="0" rIns="0" bIns="0" rtlCol="0" anchor="t"/>
          <a:lstStyle/>
          <a:p>
            <a:pPr marL="0" indent="0">
              <a:buNone/>
            </a:pPr>
            <a:r>
              <a:rPr lang="en-US" sz="1500" dirty="0">
                <a:solidFill>
                  <a:srgbClr val="4A5875"/>
                </a:solidFill>
                <a:latin typeface="Calibri" pitchFamily="34" charset="0"/>
                <a:ea typeface="Calibri" pitchFamily="34" charset="-122"/>
                <a:cs typeface="Calibri" pitchFamily="34" charset="-120"/>
              </a:rPr>
              <a:t>to make a lesson, on free tiers</a:t>
            </a:r>
            <a:endParaRPr lang="en-US" sz="1500" dirty="0"/>
          </a:p>
        </p:txBody>
      </p:sp>
      <p:sp>
        <p:nvSpPr>
          <p:cNvPr id="37" name="source"/>
          <p:cNvSpPr txBox="1"/>
          <p:nvPr/>
        </p:nvSpPr>
        <p:spPr>
          <a:xfrm>
            <a:off x="731520" y="6355080"/>
            <a:ext cx="9144000" cy="274320"/>
          </a:xfrm>
          <a:prstGeom prst="rect">
            <a:avLst/>
          </a:prstGeom>
          <a:noFill/>
          <a:ln/>
        </p:spPr>
        <p:txBody>
          <a:bodyPr wrap="square" lIns="0" tIns="0" rIns="0" bIns="0" rtlCol="0" anchor="ctr"/>
          <a:lstStyle/>
          <a:p>
            <a:pPr marL="0" indent="0">
              <a:buNone/>
            </a:pPr>
            <a:r>
              <a:rPr lang="en-US" sz="1100" i="1" dirty="0">
                <a:solidFill>
                  <a:srgbClr val="4A5875"/>
                </a:solidFill>
                <a:latin typeface="Calibri" pitchFamily="34" charset="0"/>
                <a:ea typeface="Calibri" pitchFamily="34" charset="-122"/>
                <a:cs typeface="Calibri" pitchFamily="34" charset="-120"/>
              </a:rPr>
              <a:t>OpenStax textbook pages (CC BY 4.0) · every number comes from a script in our repo’s eval/ folder · synthetic test data is labelled</a:t>
            </a:r>
            <a:endParaRPr lang="en-US" sz="1100" dirty="0"/>
          </a:p>
        </p:txBody>
      </p:sp>
      <p:sp>
        <p:nvSpPr>
          <p:cNvPr id="38" name="!!dot-0"/>
          <p:cNvSpPr/>
          <p:nvPr/>
        </p:nvSpPr>
        <p:spPr>
          <a:xfrm>
            <a:off x="10241280" y="6400800"/>
            <a:ext cx="100584" cy="100584"/>
          </a:xfrm>
          <a:prstGeom prst="ellipse">
            <a:avLst/>
          </a:prstGeom>
          <a:solidFill>
            <a:srgbClr val="C3CDDD"/>
          </a:solidFill>
          <a:ln w="12700">
            <a:solidFill>
              <a:srgbClr val="C3CDDD"/>
            </a:solidFill>
            <a:prstDash val="solid"/>
          </a:ln>
        </p:spPr>
      </p:sp>
      <p:sp>
        <p:nvSpPr>
          <p:cNvPr id="39" name="!!dot-1"/>
          <p:cNvSpPr/>
          <p:nvPr/>
        </p:nvSpPr>
        <p:spPr>
          <a:xfrm>
            <a:off x="10479024" y="6400800"/>
            <a:ext cx="100584" cy="100584"/>
          </a:xfrm>
          <a:prstGeom prst="ellipse">
            <a:avLst/>
          </a:prstGeom>
          <a:solidFill>
            <a:srgbClr val="C3CDDD"/>
          </a:solidFill>
          <a:ln w="12700">
            <a:solidFill>
              <a:srgbClr val="C3CDDD"/>
            </a:solidFill>
            <a:prstDash val="solid"/>
          </a:ln>
        </p:spPr>
      </p:sp>
      <p:sp>
        <p:nvSpPr>
          <p:cNvPr id="40" name="!!dot-2"/>
          <p:cNvSpPr/>
          <p:nvPr/>
        </p:nvSpPr>
        <p:spPr>
          <a:xfrm>
            <a:off x="10716768" y="6400800"/>
            <a:ext cx="100584" cy="100584"/>
          </a:xfrm>
          <a:prstGeom prst="ellipse">
            <a:avLst/>
          </a:prstGeom>
          <a:solidFill>
            <a:srgbClr val="C3CDDD"/>
          </a:solidFill>
          <a:ln w="12700">
            <a:solidFill>
              <a:srgbClr val="C3CDDD"/>
            </a:solidFill>
            <a:prstDash val="solid"/>
          </a:ln>
        </p:spPr>
      </p:sp>
      <p:sp>
        <p:nvSpPr>
          <p:cNvPr id="41" name="!!dot-3"/>
          <p:cNvSpPr/>
          <p:nvPr/>
        </p:nvSpPr>
        <p:spPr>
          <a:xfrm>
            <a:off x="10954512" y="6400800"/>
            <a:ext cx="100584" cy="100584"/>
          </a:xfrm>
          <a:prstGeom prst="ellipse">
            <a:avLst/>
          </a:prstGeom>
          <a:solidFill>
            <a:srgbClr val="C3CDDD"/>
          </a:solidFill>
          <a:ln w="12700">
            <a:solidFill>
              <a:srgbClr val="C3CDDD"/>
            </a:solidFill>
            <a:prstDash val="solid"/>
          </a:ln>
        </p:spPr>
      </p:sp>
      <p:sp>
        <p:nvSpPr>
          <p:cNvPr id="42" name="!!dot-4"/>
          <p:cNvSpPr/>
          <p:nvPr/>
        </p:nvSpPr>
        <p:spPr>
          <a:xfrm>
            <a:off x="11192256" y="6400800"/>
            <a:ext cx="100584" cy="100584"/>
          </a:xfrm>
          <a:prstGeom prst="ellipse">
            <a:avLst/>
          </a:prstGeom>
          <a:solidFill>
            <a:srgbClr val="C3CDDD"/>
          </a:solidFill>
          <a:ln w="12700">
            <a:solidFill>
              <a:srgbClr val="C3CDDD"/>
            </a:solidFill>
            <a:prstDash val="solid"/>
          </a:ln>
        </p:spPr>
      </p:sp>
      <p:sp>
        <p:nvSpPr>
          <p:cNvPr id="43" name="!!dot-5"/>
          <p:cNvSpPr/>
          <p:nvPr/>
        </p:nvSpPr>
        <p:spPr>
          <a:xfrm>
            <a:off x="11430000" y="6400800"/>
            <a:ext cx="155448" cy="155448"/>
          </a:xfrm>
          <a:prstGeom prst="ellipse">
            <a:avLst/>
          </a:prstGeom>
          <a:solidFill>
            <a:srgbClr val="F2A40E"/>
          </a:solidFill>
          <a:ln w="12700">
            <a:solidFill>
              <a:srgbClr val="F2A40E"/>
            </a:solidFill>
            <a:prstDash val="solid"/>
          </a:ln>
        </p:spPr>
      </p:sp>
      <p:sp>
        <p:nvSpPr>
          <p:cNvPr id="44" name="!!dot-6"/>
          <p:cNvSpPr/>
          <p:nvPr/>
        </p:nvSpPr>
        <p:spPr>
          <a:xfrm>
            <a:off x="11667744" y="6400800"/>
            <a:ext cx="100584" cy="100584"/>
          </a:xfrm>
          <a:prstGeom prst="ellipse">
            <a:avLst/>
          </a:prstGeom>
          <a:solidFill>
            <a:srgbClr val="C3CDDD"/>
          </a:solidFill>
          <a:ln w="12700">
            <a:solidFill>
              <a:srgbClr val="C3CDDD"/>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3E"/>
        </a:solidFill>
        <a:effectLst/>
      </p:bgPr>
    </p:bg>
    <p:spTree>
      <p:nvGrpSpPr>
        <p:cNvPr id="1" name=""/>
        <p:cNvGrpSpPr/>
        <p:nvPr/>
      </p:nvGrpSpPr>
      <p:grpSpPr>
        <a:xfrm>
          <a:off x="0" y="0"/>
          <a:ext cx="0" cy="0"/>
          <a:chOff x="0" y="0"/>
          <a:chExt cx="0" cy="0"/>
        </a:xfrm>
      </p:grpSpPr>
      <p:sp>
        <p:nvSpPr>
          <p:cNvPr id="2" name="!!panel"/>
          <p:cNvSpPr/>
          <p:nvPr/>
        </p:nvSpPr>
        <p:spPr>
          <a:xfrm>
            <a:off x="0" y="0"/>
            <a:ext cx="12191695" cy="6858000"/>
          </a:xfrm>
          <a:prstGeom prst="roundRect">
            <a:avLst/>
          </a:prstGeom>
          <a:solidFill>
            <a:srgbClr val="0D1B3E"/>
          </a:solidFill>
          <a:ln w="12700">
            <a:solidFill>
              <a:srgbClr val="0D1B3E"/>
            </a:solidFill>
            <a:prstDash val="solid"/>
          </a:ln>
        </p:spPr>
      </p:sp>
      <p:sp>
        <p:nvSpPr>
          <p:cNvPr id="3" name="!!ray-0"/>
          <p:cNvSpPr/>
          <p:nvPr/>
        </p:nvSpPr>
        <p:spPr>
          <a:xfrm>
            <a:off x="10730484" y="3154680"/>
            <a:ext cx="704088" cy="914"/>
          </a:xfrm>
          <a:prstGeom prst="line">
            <a:avLst/>
          </a:prstGeom>
          <a:noFill/>
          <a:ln w="36322">
            <a:solidFill>
              <a:srgbClr val="F2A40E"/>
            </a:solidFill>
            <a:prstDash val="solid"/>
          </a:ln>
        </p:spPr>
      </p:sp>
      <p:sp>
        <p:nvSpPr>
          <p:cNvPr id="4" name="!!ray-1"/>
          <p:cNvSpPr/>
          <p:nvPr/>
        </p:nvSpPr>
        <p:spPr>
          <a:xfrm>
            <a:off x="10548562" y="3833622"/>
            <a:ext cx="609758" cy="352044"/>
          </a:xfrm>
          <a:prstGeom prst="line">
            <a:avLst/>
          </a:prstGeom>
          <a:noFill/>
          <a:ln w="36322">
            <a:solidFill>
              <a:srgbClr val="F2A40E">
                <a:alpha val="55000"/>
              </a:srgbClr>
            </a:solidFill>
            <a:prstDash val="solid"/>
          </a:ln>
        </p:spPr>
      </p:sp>
      <p:sp>
        <p:nvSpPr>
          <p:cNvPr id="5" name="!!ray-2"/>
          <p:cNvSpPr/>
          <p:nvPr/>
        </p:nvSpPr>
        <p:spPr>
          <a:xfrm>
            <a:off x="10051542" y="4330642"/>
            <a:ext cx="352044" cy="609758"/>
          </a:xfrm>
          <a:prstGeom prst="line">
            <a:avLst/>
          </a:prstGeom>
          <a:noFill/>
          <a:ln w="36322">
            <a:solidFill>
              <a:srgbClr val="F2A40E"/>
            </a:solidFill>
            <a:prstDash val="solid"/>
          </a:ln>
        </p:spPr>
      </p:sp>
      <p:sp>
        <p:nvSpPr>
          <p:cNvPr id="6" name="!!ray-3"/>
          <p:cNvSpPr/>
          <p:nvPr/>
        </p:nvSpPr>
        <p:spPr>
          <a:xfrm>
            <a:off x="9372600" y="4512564"/>
            <a:ext cx="914" cy="704088"/>
          </a:xfrm>
          <a:prstGeom prst="line">
            <a:avLst/>
          </a:prstGeom>
          <a:noFill/>
          <a:ln w="36322">
            <a:solidFill>
              <a:srgbClr val="F2A40E">
                <a:alpha val="55000"/>
              </a:srgbClr>
            </a:solidFill>
            <a:prstDash val="solid"/>
          </a:ln>
        </p:spPr>
      </p:sp>
      <p:sp>
        <p:nvSpPr>
          <p:cNvPr id="7" name="!!ray-4"/>
          <p:cNvSpPr/>
          <p:nvPr/>
        </p:nvSpPr>
        <p:spPr>
          <a:xfrm flipH="1">
            <a:off x="8341614" y="4330642"/>
            <a:ext cx="352044" cy="609758"/>
          </a:xfrm>
          <a:prstGeom prst="line">
            <a:avLst/>
          </a:prstGeom>
          <a:noFill/>
          <a:ln w="36322">
            <a:solidFill>
              <a:srgbClr val="F2A40E"/>
            </a:solidFill>
            <a:prstDash val="solid"/>
          </a:ln>
        </p:spPr>
      </p:sp>
      <p:sp>
        <p:nvSpPr>
          <p:cNvPr id="8" name="!!ray-5"/>
          <p:cNvSpPr/>
          <p:nvPr/>
        </p:nvSpPr>
        <p:spPr>
          <a:xfrm flipH="1">
            <a:off x="7586880" y="3833622"/>
            <a:ext cx="609758" cy="352044"/>
          </a:xfrm>
          <a:prstGeom prst="line">
            <a:avLst/>
          </a:prstGeom>
          <a:noFill/>
          <a:ln w="36322">
            <a:solidFill>
              <a:srgbClr val="F2A40E">
                <a:alpha val="55000"/>
              </a:srgbClr>
            </a:solidFill>
            <a:prstDash val="solid"/>
          </a:ln>
        </p:spPr>
      </p:sp>
      <p:sp>
        <p:nvSpPr>
          <p:cNvPr id="9" name="!!ray-6"/>
          <p:cNvSpPr/>
          <p:nvPr/>
        </p:nvSpPr>
        <p:spPr>
          <a:xfrm flipH="1">
            <a:off x="7310628" y="3154680"/>
            <a:ext cx="704088" cy="914"/>
          </a:xfrm>
          <a:prstGeom prst="line">
            <a:avLst/>
          </a:prstGeom>
          <a:noFill/>
          <a:ln w="36322">
            <a:solidFill>
              <a:srgbClr val="F2A40E"/>
            </a:solidFill>
            <a:prstDash val="solid"/>
          </a:ln>
        </p:spPr>
      </p:sp>
      <p:sp>
        <p:nvSpPr>
          <p:cNvPr id="10" name="!!ray-7"/>
          <p:cNvSpPr/>
          <p:nvPr/>
        </p:nvSpPr>
        <p:spPr>
          <a:xfrm flipH="1" flipV="1">
            <a:off x="7586880" y="2123694"/>
            <a:ext cx="609758" cy="352044"/>
          </a:xfrm>
          <a:prstGeom prst="line">
            <a:avLst/>
          </a:prstGeom>
          <a:noFill/>
          <a:ln w="36322">
            <a:solidFill>
              <a:srgbClr val="F2A40E">
                <a:alpha val="55000"/>
              </a:srgbClr>
            </a:solidFill>
            <a:prstDash val="solid"/>
          </a:ln>
        </p:spPr>
      </p:sp>
      <p:sp>
        <p:nvSpPr>
          <p:cNvPr id="11" name="!!ray-8"/>
          <p:cNvSpPr/>
          <p:nvPr/>
        </p:nvSpPr>
        <p:spPr>
          <a:xfrm flipH="1" flipV="1">
            <a:off x="8341614" y="1368960"/>
            <a:ext cx="352044" cy="609758"/>
          </a:xfrm>
          <a:prstGeom prst="line">
            <a:avLst/>
          </a:prstGeom>
          <a:noFill/>
          <a:ln w="36322">
            <a:solidFill>
              <a:srgbClr val="F2A40E"/>
            </a:solidFill>
            <a:prstDash val="solid"/>
          </a:ln>
        </p:spPr>
      </p:sp>
      <p:sp>
        <p:nvSpPr>
          <p:cNvPr id="12" name="!!ray-9"/>
          <p:cNvSpPr/>
          <p:nvPr/>
        </p:nvSpPr>
        <p:spPr>
          <a:xfrm flipH="1" flipV="1">
            <a:off x="9372600" y="1092708"/>
            <a:ext cx="914" cy="704088"/>
          </a:xfrm>
          <a:prstGeom prst="line">
            <a:avLst/>
          </a:prstGeom>
          <a:noFill/>
          <a:ln w="36322">
            <a:solidFill>
              <a:srgbClr val="F2A40E">
                <a:alpha val="55000"/>
              </a:srgbClr>
            </a:solidFill>
            <a:prstDash val="solid"/>
          </a:ln>
        </p:spPr>
      </p:sp>
      <p:sp>
        <p:nvSpPr>
          <p:cNvPr id="13" name="!!ray-10"/>
          <p:cNvSpPr/>
          <p:nvPr/>
        </p:nvSpPr>
        <p:spPr>
          <a:xfrm flipV="1">
            <a:off x="10051542" y="1368960"/>
            <a:ext cx="352044" cy="609758"/>
          </a:xfrm>
          <a:prstGeom prst="line">
            <a:avLst/>
          </a:prstGeom>
          <a:noFill/>
          <a:ln w="36322">
            <a:solidFill>
              <a:srgbClr val="F2A40E"/>
            </a:solidFill>
            <a:prstDash val="solid"/>
          </a:ln>
        </p:spPr>
      </p:sp>
      <p:sp>
        <p:nvSpPr>
          <p:cNvPr id="14" name="!!ray-11"/>
          <p:cNvSpPr/>
          <p:nvPr/>
        </p:nvSpPr>
        <p:spPr>
          <a:xfrm flipV="1">
            <a:off x="10548562" y="2123694"/>
            <a:ext cx="609758" cy="352044"/>
          </a:xfrm>
          <a:prstGeom prst="line">
            <a:avLst/>
          </a:prstGeom>
          <a:noFill/>
          <a:ln w="36322">
            <a:solidFill>
              <a:srgbClr val="F2A40E">
                <a:alpha val="55000"/>
              </a:srgbClr>
            </a:solidFill>
            <a:prstDash val="solid"/>
          </a:ln>
        </p:spPr>
      </p:sp>
      <p:sp>
        <p:nvSpPr>
          <p:cNvPr id="15" name="!!ring"/>
          <p:cNvSpPr/>
          <p:nvPr/>
        </p:nvSpPr>
        <p:spPr>
          <a:xfrm>
            <a:off x="8366760" y="2148840"/>
            <a:ext cx="2011680" cy="2011680"/>
          </a:xfrm>
          <a:prstGeom prst="ellipse">
            <a:avLst/>
          </a:prstGeom>
          <a:solidFill>
            <a:srgbClr val="1C3EA6"/>
          </a:solidFill>
          <a:ln w="27940">
            <a:solidFill>
              <a:srgbClr val="FFFFFF"/>
            </a:solidFill>
            <a:prstDash val="solid"/>
          </a:ln>
        </p:spPr>
      </p:sp>
      <p:sp>
        <p:nvSpPr>
          <p:cNvPr id="16" name="!!flame"/>
          <p:cNvSpPr/>
          <p:nvPr/>
        </p:nvSpPr>
        <p:spPr>
          <a:xfrm>
            <a:off x="8950147" y="2732227"/>
            <a:ext cx="844906" cy="844906"/>
          </a:xfrm>
          <a:prstGeom prst="ellipse">
            <a:avLst/>
          </a:prstGeom>
          <a:solidFill>
            <a:srgbClr val="F2A40E"/>
          </a:solidFill>
          <a:ln w="12700">
            <a:solidFill>
              <a:srgbClr val="F2A40E"/>
            </a:solidFill>
            <a:prstDash val="solid"/>
          </a:ln>
        </p:spPr>
      </p:sp>
      <p:sp>
        <p:nvSpPr>
          <p:cNvPr id="17" name="!!kicker"/>
          <p:cNvSpPr txBox="1"/>
          <p:nvPr/>
        </p:nvSpPr>
        <p:spPr>
          <a:xfrm>
            <a:off x="731520" y="594360"/>
            <a:ext cx="8229600" cy="320040"/>
          </a:xfrm>
          <a:prstGeom prst="rect">
            <a:avLst/>
          </a:prstGeom>
          <a:noFill/>
          <a:ln/>
        </p:spPr>
        <p:txBody>
          <a:bodyPr wrap="square" lIns="0" tIns="0" rIns="0" bIns="0" rtlCol="0" anchor="ctr"/>
          <a:lstStyle/>
          <a:p>
            <a:pPr marL="0" indent="0">
              <a:buNone/>
            </a:pPr>
            <a:r>
              <a:rPr lang="en-US" sz="1300" b="1" kern="0" spc="300" dirty="0">
                <a:solidFill>
                  <a:srgbClr val="F2A40E"/>
                </a:solidFill>
                <a:latin typeface="Calibri" pitchFamily="34" charset="0"/>
                <a:ea typeface="Calibri" pitchFamily="34" charset="-122"/>
                <a:cs typeface="Calibri" pitchFamily="34" charset="-120"/>
              </a:rPr>
              <a:t>06 · WHO ADOPTS IT, AND WHAT WE BUILT</a:t>
            </a:r>
            <a:endParaRPr lang="en-US" sz="1300" dirty="0"/>
          </a:p>
        </p:txBody>
      </p:sp>
      <p:sp>
        <p:nvSpPr>
          <p:cNvPr id="18" name="!!title"/>
          <p:cNvSpPr txBox="1"/>
          <p:nvPr/>
        </p:nvSpPr>
        <p:spPr>
          <a:xfrm>
            <a:off x="731520" y="960120"/>
            <a:ext cx="6949440" cy="914400"/>
          </a:xfrm>
          <a:prstGeom prst="rect">
            <a:avLst/>
          </a:prstGeom>
          <a:noFill/>
          <a:ln/>
        </p:spPr>
        <p:txBody>
          <a:bodyPr wrap="square" lIns="0" tIns="0" rIns="0" bIns="0" rtlCol="0" anchor="t"/>
          <a:lstStyle/>
          <a:p>
            <a:pPr marL="0" indent="0">
              <a:buNone/>
            </a:pPr>
            <a:r>
              <a:rPr lang="en-US" sz="4000" b="1" dirty="0">
                <a:solidFill>
                  <a:srgbClr val="FFFFFF"/>
                </a:solidFill>
                <a:latin typeface="Century Gothic" pitchFamily="34" charset="0"/>
                <a:ea typeface="Century Gothic" pitchFamily="34" charset="-122"/>
                <a:cs typeface="Century Gothic" pitchFamily="34" charset="-120"/>
              </a:rPr>
              <a:t>One page. Every learner.</a:t>
            </a:r>
            <a:endParaRPr lang="en-US" sz="4000" dirty="0"/>
          </a:p>
        </p:txBody>
      </p:sp>
      <p:sp>
        <p:nvSpPr>
          <p:cNvPr id="19" name="ad-dot-0"/>
          <p:cNvSpPr/>
          <p:nvPr/>
        </p:nvSpPr>
        <p:spPr>
          <a:xfrm>
            <a:off x="749808" y="2267712"/>
            <a:ext cx="146304" cy="146304"/>
          </a:xfrm>
          <a:prstGeom prst="ellipse">
            <a:avLst/>
          </a:prstGeom>
          <a:solidFill>
            <a:srgbClr val="F2A40E"/>
          </a:solidFill>
          <a:ln w="12700">
            <a:solidFill>
              <a:srgbClr val="F2A40E"/>
            </a:solidFill>
            <a:prstDash val="solid"/>
          </a:ln>
        </p:spPr>
      </p:sp>
      <p:sp>
        <p:nvSpPr>
          <p:cNvPr id="20" name="ad-0"/>
          <p:cNvSpPr txBox="1"/>
          <p:nvPr/>
        </p:nvSpPr>
        <p:spPr>
          <a:xfrm>
            <a:off x="1051560" y="2148840"/>
            <a:ext cx="6217920" cy="384048"/>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Special-education schools and inclusive-education NGOs</a:t>
            </a:r>
            <a:endParaRPr lang="en-US" sz="1800" dirty="0"/>
          </a:p>
        </p:txBody>
      </p:sp>
      <p:sp>
        <p:nvSpPr>
          <p:cNvPr id="21" name="ad-dot-1"/>
          <p:cNvSpPr/>
          <p:nvPr/>
        </p:nvSpPr>
        <p:spPr>
          <a:xfrm>
            <a:off x="749808" y="2816352"/>
            <a:ext cx="146304" cy="146304"/>
          </a:xfrm>
          <a:prstGeom prst="ellipse">
            <a:avLst/>
          </a:prstGeom>
          <a:solidFill>
            <a:srgbClr val="F2A40E"/>
          </a:solidFill>
          <a:ln w="12700">
            <a:solidFill>
              <a:srgbClr val="F2A40E"/>
            </a:solidFill>
            <a:prstDash val="solid"/>
          </a:ln>
        </p:spPr>
      </p:sp>
      <p:sp>
        <p:nvSpPr>
          <p:cNvPr id="22" name="ad-1"/>
          <p:cNvSpPr txBox="1"/>
          <p:nvPr/>
        </p:nvSpPr>
        <p:spPr>
          <a:xfrm>
            <a:off x="1051560" y="2697480"/>
            <a:ext cx="6217920" cy="384048"/>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Textbook boards and publishers making accessible editions</a:t>
            </a:r>
            <a:endParaRPr lang="en-US" sz="1800" dirty="0"/>
          </a:p>
        </p:txBody>
      </p:sp>
      <p:sp>
        <p:nvSpPr>
          <p:cNvPr id="23" name="ad-dot-2"/>
          <p:cNvSpPr/>
          <p:nvPr/>
        </p:nvSpPr>
        <p:spPr>
          <a:xfrm>
            <a:off x="749808" y="3364992"/>
            <a:ext cx="146304" cy="146304"/>
          </a:xfrm>
          <a:prstGeom prst="ellipse">
            <a:avLst/>
          </a:prstGeom>
          <a:solidFill>
            <a:srgbClr val="F2A40E"/>
          </a:solidFill>
          <a:ln w="12700">
            <a:solidFill>
              <a:srgbClr val="F2A40E"/>
            </a:solidFill>
            <a:prstDash val="solid"/>
          </a:ln>
        </p:spPr>
      </p:sp>
      <p:sp>
        <p:nvSpPr>
          <p:cNvPr id="24" name="ad-2"/>
          <p:cNvSpPr txBox="1"/>
          <p:nvPr/>
        </p:nvSpPr>
        <p:spPr>
          <a:xfrm>
            <a:off x="1051560" y="3246120"/>
            <a:ext cx="6217920" cy="384048"/>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School chains with Urdu-medium students in English classes</a:t>
            </a:r>
            <a:endParaRPr lang="en-US" sz="1800" dirty="0"/>
          </a:p>
        </p:txBody>
      </p:sp>
      <p:sp>
        <p:nvSpPr>
          <p:cNvPr id="25" name="ad-dot-3"/>
          <p:cNvSpPr/>
          <p:nvPr/>
        </p:nvSpPr>
        <p:spPr>
          <a:xfrm>
            <a:off x="749808" y="3913632"/>
            <a:ext cx="146304" cy="146304"/>
          </a:xfrm>
          <a:prstGeom prst="ellipse">
            <a:avLst/>
          </a:prstGeom>
          <a:solidFill>
            <a:srgbClr val="F2A40E"/>
          </a:solidFill>
          <a:ln w="12700">
            <a:solidFill>
              <a:srgbClr val="F2A40E"/>
            </a:solidFill>
            <a:prstDash val="solid"/>
          </a:ln>
        </p:spPr>
      </p:sp>
      <p:sp>
        <p:nvSpPr>
          <p:cNvPr id="26" name="ad-3"/>
          <p:cNvSpPr txBox="1"/>
          <p:nvPr/>
        </p:nvSpPr>
        <p:spPr>
          <a:xfrm>
            <a:off x="1051560" y="3794760"/>
            <a:ext cx="6217920" cy="384048"/>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Employers: accessible training manuals and safety notices</a:t>
            </a:r>
            <a:endParaRPr lang="en-US" sz="1800" dirty="0"/>
          </a:p>
        </p:txBody>
      </p:sp>
      <p:sp>
        <p:nvSpPr>
          <p:cNvPr id="27" name="chip-0"/>
          <p:cNvSpPr/>
          <p:nvPr/>
        </p:nvSpPr>
        <p:spPr>
          <a:xfrm>
            <a:off x="731520" y="4526280"/>
            <a:ext cx="2057400" cy="1005840"/>
          </a:xfrm>
          <a:prstGeom prst="roundRect">
            <a:avLst>
              <a:gd name="adj" fmla="val 14545"/>
            </a:avLst>
          </a:prstGeom>
          <a:solidFill>
            <a:srgbClr val="17285A"/>
          </a:solidFill>
          <a:ln w="12700">
            <a:solidFill>
              <a:srgbClr val="2A3A6E"/>
            </a:solidFill>
            <a:prstDash val="solid"/>
          </a:ln>
        </p:spPr>
      </p:sp>
      <p:sp>
        <p:nvSpPr>
          <p:cNvPr id="28" name="chip-a-0"/>
          <p:cNvSpPr txBox="1"/>
          <p:nvPr/>
        </p:nvSpPr>
        <p:spPr>
          <a:xfrm>
            <a:off x="914400" y="4617720"/>
            <a:ext cx="1737360" cy="411480"/>
          </a:xfrm>
          <a:prstGeom prst="rect">
            <a:avLst/>
          </a:prstGeom>
          <a:noFill/>
          <a:ln/>
        </p:spPr>
        <p:txBody>
          <a:bodyPr wrap="square" lIns="0" tIns="0" rIns="0" bIns="0" rtlCol="0" anchor="ctr"/>
          <a:lstStyle/>
          <a:p>
            <a:pPr marL="0" indent="0">
              <a:buNone/>
            </a:pPr>
            <a:r>
              <a:rPr lang="en-US" sz="2000" b="1" dirty="0">
                <a:solidFill>
                  <a:srgbClr val="F2A40E"/>
                </a:solidFill>
                <a:latin typeface="Century Gothic" pitchFamily="34" charset="0"/>
                <a:ea typeface="Century Gothic" pitchFamily="34" charset="-122"/>
                <a:cs typeface="Century Gothic" pitchFamily="34" charset="-120"/>
              </a:rPr>
              <a:t>PKR 0</a:t>
            </a:r>
            <a:endParaRPr lang="en-US" sz="2000" dirty="0"/>
          </a:p>
        </p:txBody>
      </p:sp>
      <p:sp>
        <p:nvSpPr>
          <p:cNvPr id="29" name="chip-b-0"/>
          <p:cNvSpPr txBox="1"/>
          <p:nvPr/>
        </p:nvSpPr>
        <p:spPr>
          <a:xfrm>
            <a:off x="914400" y="5029200"/>
            <a:ext cx="1737360" cy="411480"/>
          </a:xfrm>
          <a:prstGeom prst="rect">
            <a:avLst/>
          </a:prstGeom>
          <a:noFill/>
          <a:ln/>
        </p:spPr>
        <p:txBody>
          <a:bodyPr wrap="square" lIns="0" tIns="0" rIns="0" bIns="0" rtlCol="0" anchor="ctr"/>
          <a:lstStyle/>
          <a:p>
            <a:pPr marL="0" indent="0">
              <a:buNone/>
            </a:pPr>
            <a:r>
              <a:rPr lang="en-US" sz="1250" dirty="0">
                <a:solidFill>
                  <a:srgbClr val="C9D4F2"/>
                </a:solidFill>
                <a:latin typeface="Calibri" pitchFamily="34" charset="0"/>
                <a:ea typeface="Calibri" pitchFamily="34" charset="-122"/>
                <a:cs typeface="Calibri" pitchFamily="34" charset="-120"/>
              </a:rPr>
              <a:t>to run, on free tiers</a:t>
            </a:r>
            <a:endParaRPr lang="en-US" sz="1250" dirty="0"/>
          </a:p>
        </p:txBody>
      </p:sp>
      <p:sp>
        <p:nvSpPr>
          <p:cNvPr id="30" name="chip-1"/>
          <p:cNvSpPr/>
          <p:nvPr/>
        </p:nvSpPr>
        <p:spPr>
          <a:xfrm>
            <a:off x="2971800" y="4526280"/>
            <a:ext cx="2057400" cy="1005840"/>
          </a:xfrm>
          <a:prstGeom prst="roundRect">
            <a:avLst>
              <a:gd name="adj" fmla="val 14545"/>
            </a:avLst>
          </a:prstGeom>
          <a:solidFill>
            <a:srgbClr val="17285A"/>
          </a:solidFill>
          <a:ln w="12700">
            <a:solidFill>
              <a:srgbClr val="2A3A6E"/>
            </a:solidFill>
            <a:prstDash val="solid"/>
          </a:ln>
        </p:spPr>
      </p:sp>
      <p:sp>
        <p:nvSpPr>
          <p:cNvPr id="31" name="chip-a-1"/>
          <p:cNvSpPr txBox="1"/>
          <p:nvPr/>
        </p:nvSpPr>
        <p:spPr>
          <a:xfrm>
            <a:off x="3154680" y="4617720"/>
            <a:ext cx="1737360" cy="411480"/>
          </a:xfrm>
          <a:prstGeom prst="rect">
            <a:avLst/>
          </a:prstGeom>
          <a:noFill/>
          <a:ln/>
        </p:spPr>
        <p:txBody>
          <a:bodyPr wrap="square" lIns="0" tIns="0" rIns="0" bIns="0" rtlCol="0" anchor="ctr"/>
          <a:lstStyle/>
          <a:p>
            <a:pPr marL="0" indent="0">
              <a:buNone/>
            </a:pPr>
            <a:r>
              <a:rPr lang="en-US" sz="2000" b="1" dirty="0">
                <a:solidFill>
                  <a:srgbClr val="F2A40E"/>
                </a:solidFill>
                <a:latin typeface="Century Gothic" pitchFamily="34" charset="0"/>
                <a:ea typeface="Century Gothic" pitchFamily="34" charset="-122"/>
                <a:cs typeface="Century Gothic" pitchFamily="34" charset="-120"/>
              </a:rPr>
              <a:t>SDG 4.5</a:t>
            </a:r>
            <a:endParaRPr lang="en-US" sz="2000" dirty="0"/>
          </a:p>
        </p:txBody>
      </p:sp>
      <p:sp>
        <p:nvSpPr>
          <p:cNvPr id="32" name="chip-b-1"/>
          <p:cNvSpPr txBox="1"/>
          <p:nvPr/>
        </p:nvSpPr>
        <p:spPr>
          <a:xfrm>
            <a:off x="3154680" y="5029200"/>
            <a:ext cx="1737360" cy="411480"/>
          </a:xfrm>
          <a:prstGeom prst="rect">
            <a:avLst/>
          </a:prstGeom>
          <a:noFill/>
          <a:ln/>
        </p:spPr>
        <p:txBody>
          <a:bodyPr wrap="square" lIns="0" tIns="0" rIns="0" bIns="0" rtlCol="0" anchor="ctr"/>
          <a:lstStyle/>
          <a:p>
            <a:pPr marL="0" indent="0">
              <a:buNone/>
            </a:pPr>
            <a:r>
              <a:rPr lang="en-US" sz="1250" dirty="0">
                <a:solidFill>
                  <a:srgbClr val="C9D4F2"/>
                </a:solidFill>
                <a:latin typeface="Calibri" pitchFamily="34" charset="0"/>
                <a:ea typeface="Calibri" pitchFamily="34" charset="-122"/>
                <a:cs typeface="Calibri" pitchFamily="34" charset="-120"/>
              </a:rPr>
              <a:t>equal access to education</a:t>
            </a:r>
            <a:endParaRPr lang="en-US" sz="1250" dirty="0"/>
          </a:p>
        </p:txBody>
      </p:sp>
      <p:sp>
        <p:nvSpPr>
          <p:cNvPr id="33" name="chip-2"/>
          <p:cNvSpPr/>
          <p:nvPr/>
        </p:nvSpPr>
        <p:spPr>
          <a:xfrm>
            <a:off x="5212080" y="4526280"/>
            <a:ext cx="2057400" cy="1005840"/>
          </a:xfrm>
          <a:prstGeom prst="roundRect">
            <a:avLst>
              <a:gd name="adj" fmla="val 14545"/>
            </a:avLst>
          </a:prstGeom>
          <a:solidFill>
            <a:srgbClr val="17285A"/>
          </a:solidFill>
          <a:ln w="12700">
            <a:solidFill>
              <a:srgbClr val="2A3A6E"/>
            </a:solidFill>
            <a:prstDash val="solid"/>
          </a:ln>
        </p:spPr>
      </p:sp>
      <p:sp>
        <p:nvSpPr>
          <p:cNvPr id="34" name="chip-a-2"/>
          <p:cNvSpPr txBox="1"/>
          <p:nvPr/>
        </p:nvSpPr>
        <p:spPr>
          <a:xfrm>
            <a:off x="5394960" y="4617720"/>
            <a:ext cx="1737360" cy="411480"/>
          </a:xfrm>
          <a:prstGeom prst="rect">
            <a:avLst/>
          </a:prstGeom>
          <a:noFill/>
          <a:ln/>
        </p:spPr>
        <p:txBody>
          <a:bodyPr wrap="square" lIns="0" tIns="0" rIns="0" bIns="0" rtlCol="0" anchor="ctr"/>
          <a:lstStyle/>
          <a:p>
            <a:pPr marL="0" indent="0">
              <a:buNone/>
            </a:pPr>
            <a:r>
              <a:rPr lang="en-US" sz="2000" b="1" dirty="0">
                <a:solidFill>
                  <a:srgbClr val="F2A40E"/>
                </a:solidFill>
                <a:latin typeface="Century Gothic" pitchFamily="34" charset="0"/>
                <a:ea typeface="Century Gothic" pitchFamily="34" charset="-122"/>
                <a:cs typeface="Century Gothic" pitchFamily="34" charset="-120"/>
              </a:rPr>
              <a:t>Built here</a:t>
            </a:r>
            <a:endParaRPr lang="en-US" sz="2000" dirty="0"/>
          </a:p>
        </p:txBody>
      </p:sp>
      <p:sp>
        <p:nvSpPr>
          <p:cNvPr id="35" name="chip-b-2"/>
          <p:cNvSpPr txBox="1"/>
          <p:nvPr/>
        </p:nvSpPr>
        <p:spPr>
          <a:xfrm>
            <a:off x="5394960" y="5029200"/>
            <a:ext cx="1737360" cy="411480"/>
          </a:xfrm>
          <a:prstGeom prst="rect">
            <a:avLst/>
          </a:prstGeom>
          <a:noFill/>
          <a:ln/>
        </p:spPr>
        <p:txBody>
          <a:bodyPr wrap="square" lIns="0" tIns="0" rIns="0" bIns="0" rtlCol="0" anchor="ctr"/>
          <a:lstStyle/>
          <a:p>
            <a:pPr marL="0" indent="0">
              <a:buNone/>
            </a:pPr>
            <a:r>
              <a:rPr lang="en-US" sz="1250" dirty="0">
                <a:solidFill>
                  <a:srgbClr val="C9D4F2"/>
                </a:solidFill>
                <a:latin typeface="Calibri" pitchFamily="34" charset="0"/>
                <a:ea typeface="Calibri" pitchFamily="34" charset="-122"/>
                <a:cs typeface="Calibri" pitchFamily="34" charset="-120"/>
              </a:rPr>
              <a:t>all during AICON’26</a:t>
            </a:r>
            <a:endParaRPr lang="en-US" sz="1250" dirty="0"/>
          </a:p>
        </p:txBody>
      </p:sp>
      <p:sp>
        <p:nvSpPr>
          <p:cNvPr id="36" name="close"/>
          <p:cNvSpPr txBox="1"/>
          <p:nvPr/>
        </p:nvSpPr>
        <p:spPr>
          <a:xfrm>
            <a:off x="731520" y="5806440"/>
            <a:ext cx="8686800" cy="411480"/>
          </a:xfrm>
          <a:prstGeom prst="rect">
            <a:avLst/>
          </a:prstGeom>
          <a:noFill/>
          <a:ln/>
        </p:spPr>
        <p:txBody>
          <a:bodyPr wrap="square" lIns="0" tIns="0" rIns="0" bIns="0" rtlCol="0" anchor="ctr"/>
          <a:lstStyle/>
          <a:p>
            <a:pPr marL="0" indent="0">
              <a:buNone/>
            </a:pPr>
            <a:r>
              <a:rPr lang="en-US" sz="1800" b="1" dirty="0">
                <a:solidFill>
                  <a:srgbClr val="F2A40E"/>
                </a:solidFill>
                <a:latin typeface="Calibri" pitchFamily="34" charset="0"/>
                <a:ea typeface="Calibri" pitchFamily="34" charset="-122"/>
                <a:cs typeface="Calibri" pitchFamily="34" charset="-120"/>
              </a:rPr>
              <a:t>Next: a pilot with a special-education school. Thank you! Questions?</a:t>
            </a:r>
            <a:endParaRPr lang="en-US" sz="1800" dirty="0"/>
          </a:p>
        </p:txBody>
      </p:sp>
      <p:sp>
        <p:nvSpPr>
          <p:cNvPr id="37" name="!!dot-0"/>
          <p:cNvSpPr/>
          <p:nvPr/>
        </p:nvSpPr>
        <p:spPr>
          <a:xfrm>
            <a:off x="10241280" y="6400800"/>
            <a:ext cx="100584" cy="100584"/>
          </a:xfrm>
          <a:prstGeom prst="ellipse">
            <a:avLst/>
          </a:prstGeom>
          <a:solidFill>
            <a:srgbClr val="3A4A7A"/>
          </a:solidFill>
          <a:ln w="12700">
            <a:solidFill>
              <a:srgbClr val="3A4A7A"/>
            </a:solidFill>
            <a:prstDash val="solid"/>
          </a:ln>
        </p:spPr>
      </p:sp>
      <p:sp>
        <p:nvSpPr>
          <p:cNvPr id="38" name="!!dot-1"/>
          <p:cNvSpPr/>
          <p:nvPr/>
        </p:nvSpPr>
        <p:spPr>
          <a:xfrm>
            <a:off x="10479024" y="6400800"/>
            <a:ext cx="100584" cy="100584"/>
          </a:xfrm>
          <a:prstGeom prst="ellipse">
            <a:avLst/>
          </a:prstGeom>
          <a:solidFill>
            <a:srgbClr val="3A4A7A"/>
          </a:solidFill>
          <a:ln w="12700">
            <a:solidFill>
              <a:srgbClr val="3A4A7A"/>
            </a:solidFill>
            <a:prstDash val="solid"/>
          </a:ln>
        </p:spPr>
      </p:sp>
      <p:sp>
        <p:nvSpPr>
          <p:cNvPr id="39" name="!!dot-2"/>
          <p:cNvSpPr/>
          <p:nvPr/>
        </p:nvSpPr>
        <p:spPr>
          <a:xfrm>
            <a:off x="10716768" y="6400800"/>
            <a:ext cx="100584" cy="100584"/>
          </a:xfrm>
          <a:prstGeom prst="ellipse">
            <a:avLst/>
          </a:prstGeom>
          <a:solidFill>
            <a:srgbClr val="3A4A7A"/>
          </a:solidFill>
          <a:ln w="12700">
            <a:solidFill>
              <a:srgbClr val="3A4A7A"/>
            </a:solidFill>
            <a:prstDash val="solid"/>
          </a:ln>
        </p:spPr>
      </p:sp>
      <p:sp>
        <p:nvSpPr>
          <p:cNvPr id="40" name="!!dot-3"/>
          <p:cNvSpPr/>
          <p:nvPr/>
        </p:nvSpPr>
        <p:spPr>
          <a:xfrm>
            <a:off x="10954512" y="6400800"/>
            <a:ext cx="100584" cy="100584"/>
          </a:xfrm>
          <a:prstGeom prst="ellipse">
            <a:avLst/>
          </a:prstGeom>
          <a:solidFill>
            <a:srgbClr val="3A4A7A"/>
          </a:solidFill>
          <a:ln w="12700">
            <a:solidFill>
              <a:srgbClr val="3A4A7A"/>
            </a:solidFill>
            <a:prstDash val="solid"/>
          </a:ln>
        </p:spPr>
      </p:sp>
      <p:sp>
        <p:nvSpPr>
          <p:cNvPr id="41" name="!!dot-4"/>
          <p:cNvSpPr/>
          <p:nvPr/>
        </p:nvSpPr>
        <p:spPr>
          <a:xfrm>
            <a:off x="11192256" y="6400800"/>
            <a:ext cx="100584" cy="100584"/>
          </a:xfrm>
          <a:prstGeom prst="ellipse">
            <a:avLst/>
          </a:prstGeom>
          <a:solidFill>
            <a:srgbClr val="3A4A7A"/>
          </a:solidFill>
          <a:ln w="12700">
            <a:solidFill>
              <a:srgbClr val="3A4A7A"/>
            </a:solidFill>
            <a:prstDash val="solid"/>
          </a:ln>
        </p:spPr>
      </p:sp>
      <p:sp>
        <p:nvSpPr>
          <p:cNvPr id="42" name="!!dot-5"/>
          <p:cNvSpPr/>
          <p:nvPr/>
        </p:nvSpPr>
        <p:spPr>
          <a:xfrm>
            <a:off x="11430000" y="6400800"/>
            <a:ext cx="100584" cy="100584"/>
          </a:xfrm>
          <a:prstGeom prst="ellipse">
            <a:avLst/>
          </a:prstGeom>
          <a:solidFill>
            <a:srgbClr val="3A4A7A"/>
          </a:solidFill>
          <a:ln w="12700">
            <a:solidFill>
              <a:srgbClr val="3A4A7A"/>
            </a:solidFill>
            <a:prstDash val="solid"/>
          </a:ln>
        </p:spPr>
      </p:sp>
      <p:sp>
        <p:nvSpPr>
          <p:cNvPr id="43" name="!!dot-6"/>
          <p:cNvSpPr/>
          <p:nvPr/>
        </p:nvSpPr>
        <p:spPr>
          <a:xfrm>
            <a:off x="11667744" y="6400800"/>
            <a:ext cx="155448" cy="155448"/>
          </a:xfrm>
          <a:prstGeom prst="ellipse">
            <a:avLst/>
          </a:prstGeom>
          <a:solidFill>
            <a:srgbClr val="F2A40E"/>
          </a:solidFill>
          <a:ln w="12700">
            <a:solidFill>
              <a:srgbClr val="F2A40E"/>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F0F0F0"/>
      </a:dk1>
      <a:lt1>
        <a:sysClr val="window" lastClr="00000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F0F0F0"/>
      </a:dk1>
      <a:lt1>
        <a:sysClr val="window" lastClr="00000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1160</Words>
  <Application>Microsoft Office PowerPoint</Application>
  <PresentationFormat>Widescreen</PresentationFormat>
  <Paragraphs>107</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Century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AICON 26 Build With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Roshni: One page. Every learner.</dc:title>
  <dc:subject>PptxGenJS Presentation</dc:subject>
  <dc:creator>404 Team Not Found</dc:creator>
  <cp:lastModifiedBy>241854 Abdulraheem</cp:lastModifiedBy>
  <cp:revision>2</cp:revision>
  <dcterms:created xsi:type="dcterms:W3CDTF">2026-10-10T02:15:26Z</dcterms:created>
  <dcterms:modified xsi:type="dcterms:W3CDTF">2026-10-10T02:15:29Z</dcterms:modified>
</cp:coreProperties>
</file>