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69b6c0f-8516-55e2-6c5b-d57dc19b4594}">
          <p14:sldIdLst>
            <p14:sldId id="256"/>
          </p14:sldIdLst>
        </p14:section>
        <p14:section name="Problem" id="{ae2f44ae-4922-5d9e-575c-3637915644e1}">
          <p14:sldIdLst>
            <p14:sldId id="257"/>
          </p14:sldIdLst>
        </p14:section>
        <p14:section name="Solution" id="{49a6647b-d5e7-75c3-a374-0244dff56343}">
          <p14:sldIdLst>
            <p14:sldId id="258"/>
            <p14:sldId id="259"/>
          </p14:sldIdLst>
        </p14:section>
        <p14:section name="Product" id="{35e658fc-26ea-6e58-f5e7-cdb45570371f}">
          <p14:sldIdLst>
            <p14:sldId id="260"/>
          </p14:sldIdLst>
        </p14:section>
        <p14:section name="Evidence" id="{85db09e6-5ab4-6d1a-b6f6-27c7b373f7df}">
          <p14:sldIdLst>
            <p14:sldId id="261"/>
          </p14:sldIdLst>
        </p14:section>
        <p14:section name="Impact" id="{24854175-0cbf-ea91-cbff-811d2e94d545}">
          <p14:sldIdLst>
            <p14:sldId id="262"/>
          </p14:sldIdLst>
        </p14:section>
        <p14:section name="Close" id="{5b215968-bd6a-0283-643c-0009b57fdf2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in one line: a printed page works for almost nobody who needs help. Roshni turns one photo into three accessible versions, and Fact Guard proves the facts survived.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human: three named students, one page. The teacher has no time. WHO estimates 1.3 billion people, about 1 in 6, live with significant disability.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the pipeline, not a chat box: vision reading, rewriting, an independent checker, speech-to-text and speech. Remove the AI and nothing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in the demo: click Plant 3 errors and the cards flip to show what was caught. The false-alarm test audits each original page against itself, where nothing should be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here. Read aloud, tap an underlined word for Urdu, then run the stress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honesty: real OpenStax text, scripted tests, sample sizes on the Evidence page. Not yet tested with disabled students; that is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Industrial impact: clear adopters, near-zero running cost, and a workforce angle for accessible training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 and invite questions. Have the Evidence page open for follow-ups.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5"/>
                </a:solidFill>
              </a:rPr>
              <a:t>Roshni · AICON’26 Build With AI · 404 Team Not Found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y-0"/>
          <p:cNvSpPr/>
          <p:nvPr/>
        </p:nvSpPr>
        <p:spPr>
          <a:xfrm>
            <a:off x="10332720" y="2606040"/>
            <a:ext cx="502920" cy="914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3" name="ray-1"/>
          <p:cNvSpPr/>
          <p:nvPr/>
        </p:nvSpPr>
        <p:spPr>
          <a:xfrm>
            <a:off x="10216339" y="3040380"/>
            <a:ext cx="435541" cy="25146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4" name="ray-2"/>
          <p:cNvSpPr/>
          <p:nvPr/>
        </p:nvSpPr>
        <p:spPr>
          <a:xfrm>
            <a:off x="9898380" y="3358339"/>
            <a:ext cx="251460" cy="435541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5" name="ray-3"/>
          <p:cNvSpPr/>
          <p:nvPr/>
        </p:nvSpPr>
        <p:spPr>
          <a:xfrm>
            <a:off x="9464040" y="3474720"/>
            <a:ext cx="914" cy="50292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6" name="ray-4"/>
          <p:cNvSpPr/>
          <p:nvPr/>
        </p:nvSpPr>
        <p:spPr>
          <a:xfrm flipH="1">
            <a:off x="8778240" y="3358339"/>
            <a:ext cx="251460" cy="435541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7" name="ray-5"/>
          <p:cNvSpPr/>
          <p:nvPr/>
        </p:nvSpPr>
        <p:spPr>
          <a:xfrm flipH="1">
            <a:off x="8276200" y="3040380"/>
            <a:ext cx="435541" cy="25146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8" name="ray-6"/>
          <p:cNvSpPr/>
          <p:nvPr/>
        </p:nvSpPr>
        <p:spPr>
          <a:xfrm flipH="1">
            <a:off x="8092440" y="2606040"/>
            <a:ext cx="502920" cy="914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9" name="ray-7"/>
          <p:cNvSpPr/>
          <p:nvPr/>
        </p:nvSpPr>
        <p:spPr>
          <a:xfrm flipH="1" flipV="1">
            <a:off x="8276200" y="1920240"/>
            <a:ext cx="435541" cy="25146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10" name="ray-8"/>
          <p:cNvSpPr/>
          <p:nvPr/>
        </p:nvSpPr>
        <p:spPr>
          <a:xfrm flipH="1" flipV="1">
            <a:off x="8778240" y="1418200"/>
            <a:ext cx="251460" cy="435541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11" name="ray-9"/>
          <p:cNvSpPr/>
          <p:nvPr/>
        </p:nvSpPr>
        <p:spPr>
          <a:xfrm flipH="1" flipV="1">
            <a:off x="9464040" y="1234440"/>
            <a:ext cx="914" cy="50292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12" name="ray-10"/>
          <p:cNvSpPr/>
          <p:nvPr/>
        </p:nvSpPr>
        <p:spPr>
          <a:xfrm flipV="1">
            <a:off x="9898380" y="1418200"/>
            <a:ext cx="251460" cy="435541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13" name="ray-11"/>
          <p:cNvSpPr/>
          <p:nvPr/>
        </p:nvSpPr>
        <p:spPr>
          <a:xfrm flipV="1">
            <a:off x="10216339" y="1920240"/>
            <a:ext cx="435541" cy="25146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14" name="lamp"/>
          <p:cNvSpPr/>
          <p:nvPr/>
        </p:nvSpPr>
        <p:spPr>
          <a:xfrm>
            <a:off x="8823960" y="1965960"/>
            <a:ext cx="1280160" cy="1280160"/>
          </a:xfrm>
          <a:prstGeom prst="ellipse">
            <a:avLst/>
          </a:prstGeom>
          <a:solidFill>
            <a:srgbClr val="1C3EA6"/>
          </a:solidFill>
          <a:ln w="12700">
            <a:solidFill>
              <a:srgbClr val="1C3EA6"/>
            </a:solidFill>
            <a:prstDash val="solid"/>
          </a:ln>
        </p:spPr>
      </p:sp>
      <p:sp>
        <p:nvSpPr>
          <p:cNvPr id="15" name="flame"/>
          <p:cNvSpPr/>
          <p:nvPr/>
        </p:nvSpPr>
        <p:spPr>
          <a:xfrm>
            <a:off x="9189720" y="2331720"/>
            <a:ext cx="548640" cy="548640"/>
          </a:xfrm>
          <a:prstGeom prst="ellipse">
            <a:avLst/>
          </a:prstGeom>
          <a:solidFill>
            <a:srgbClr val="F2A40E"/>
          </a:solidFill>
          <a:ln w="12700">
            <a:solidFill>
              <a:srgbClr val="F2A40E"/>
            </a:solidFill>
            <a:prstDash val="solid"/>
          </a:ln>
        </p:spPr>
      </p:sp>
      <p:sp>
        <p:nvSpPr>
          <p:cNvPr id="16" name="eyebrow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40E"/>
                </a:solidFill>
              </a:rPr>
              <a:t>AICON’26 · BUILD WITH AI · EDTECH &amp; WORKFORCE</a:t>
            </a:r>
            <a:endParaRPr lang="en-US" sz="13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640080" y="21031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Roshni</a:t>
            </a:r>
            <a:endParaRPr lang="en-US" sz="5400" dirty="0"/>
          </a:p>
        </p:txBody>
      </p:sp>
      <p:sp>
        <p:nvSpPr>
          <p:cNvPr id="18" name="urdu"/>
          <p:cNvSpPr txBox="1"/>
          <p:nvPr/>
        </p:nvSpPr>
        <p:spPr>
          <a:xfrm>
            <a:off x="640080" y="3063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3000" dirty="0">
                <a:solidFill>
                  <a:srgbClr val="7FD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روشنی</a:t>
            </a:r>
            <a:endParaRPr lang="en-US" sz="3000" dirty="0"/>
          </a:p>
        </p:txBody>
      </p:sp>
      <p:sp>
        <p:nvSpPr>
          <p:cNvPr id="19" name="tagline"/>
          <p:cNvSpPr txBox="1"/>
          <p:nvPr/>
        </p:nvSpPr>
        <p:spPr>
          <a:xfrm>
            <a:off x="64008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One page. Every learner.</a:t>
            </a:r>
            <a:endParaRPr lang="en-US" sz="2800" dirty="0"/>
          </a:p>
        </p:txBody>
      </p:sp>
      <p:sp>
        <p:nvSpPr>
          <p:cNvPr id="20" name="sub"/>
          <p:cNvSpPr txBox="1"/>
          <p:nvPr/>
        </p:nvSpPr>
        <p:spPr>
          <a:xfrm>
            <a:off x="640080" y="4572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F2"/>
                </a:solidFill>
              </a:rPr>
              <a:t>A photo of a textbook page becomes a lesson for blind, dyslexic and deaf students, and a second AI proves no fact was lost.</a:t>
            </a:r>
            <a:endParaRPr lang="en-US" sz="1600" dirty="0"/>
          </a:p>
        </p:txBody>
      </p:sp>
      <p:sp>
        <p:nvSpPr>
          <p:cNvPr id="21" name="team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D4F2"/>
                </a:solidFill>
              </a:rPr>
              <a:t>404 Team Not Found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printed page fails three students</a:t>
            </a:r>
            <a:endParaRPr lang="en-US" sz="3000" dirty="0"/>
          </a:p>
        </p:txBody>
      </p:sp>
      <p:sp>
        <p:nvSpPr>
          <p:cNvPr id="3" name="learner-card-0"/>
          <p:cNvSpPr/>
          <p:nvPr/>
        </p:nvSpPr>
        <p:spPr>
          <a:xfrm>
            <a:off x="640080" y="1600200"/>
            <a:ext cx="342900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3E">
                <a:alpha val="12000"/>
              </a:srgbClr>
            </a:outerShdw>
          </a:effectLst>
        </p:spPr>
      </p:sp>
      <p:sp>
        <p:nvSpPr>
          <p:cNvPr id="4" name="learner-dot-0"/>
          <p:cNvSpPr/>
          <p:nvPr/>
        </p:nvSpPr>
        <p:spPr>
          <a:xfrm>
            <a:off x="960120" y="1920240"/>
            <a:ext cx="868680" cy="868680"/>
          </a:xfrm>
          <a:prstGeom prst="ellipse">
            <a:avLst/>
          </a:prstGeom>
          <a:solidFill>
            <a:srgbClr val="D8F1EF"/>
          </a:solidFill>
          <a:ln w="12700">
            <a:solidFill>
              <a:srgbClr val="D8F1EF"/>
            </a:solidFill>
            <a:prstDash val="solid"/>
          </a:ln>
        </p:spPr>
      </p:sp>
      <p:pic>
        <p:nvPicPr>
          <p:cNvPr id="5" name="learner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121408"/>
            <a:ext cx="466344" cy="466344"/>
          </a:xfrm>
          <a:prstGeom prst="rect">
            <a:avLst/>
          </a:prstGeom>
        </p:spPr>
      </p:pic>
      <p:sp>
        <p:nvSpPr>
          <p:cNvPr id="6" name="learner-name-0"/>
          <p:cNvSpPr txBox="1"/>
          <p:nvPr/>
        </p:nvSpPr>
        <p:spPr>
          <a:xfrm>
            <a:off x="9601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Bilal is blind</a:t>
            </a:r>
            <a:endParaRPr lang="en-US" sz="2000" dirty="0"/>
          </a:p>
        </p:txBody>
      </p:sp>
      <p:sp>
        <p:nvSpPr>
          <p:cNvPr id="7" name="learner-text-0"/>
          <p:cNvSpPr txBox="1"/>
          <p:nvPr/>
        </p:nvSpPr>
        <p:spPr>
          <a:xfrm>
            <a:off x="960120" y="34747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75"/>
                </a:solidFill>
              </a:rPr>
              <a:t>He can’t read the page or see its diagrams. Most Urdu and science textbooks have no accessible version.</a:t>
            </a:r>
            <a:endParaRPr lang="en-US" sz="1500" dirty="0"/>
          </a:p>
        </p:txBody>
      </p:sp>
      <p:sp>
        <p:nvSpPr>
          <p:cNvPr id="8" name="learner-card-1"/>
          <p:cNvSpPr/>
          <p:nvPr/>
        </p:nvSpPr>
        <p:spPr>
          <a:xfrm>
            <a:off x="4343400" y="1600200"/>
            <a:ext cx="342900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3E">
                <a:alpha val="12000"/>
              </a:srgbClr>
            </a:outerShdw>
          </a:effectLst>
        </p:spPr>
      </p:sp>
      <p:sp>
        <p:nvSpPr>
          <p:cNvPr id="9" name="learner-dot-1"/>
          <p:cNvSpPr/>
          <p:nvPr/>
        </p:nvSpPr>
        <p:spPr>
          <a:xfrm>
            <a:off x="4663440" y="1920240"/>
            <a:ext cx="868680" cy="86868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</p:sp>
      <p:pic>
        <p:nvPicPr>
          <p:cNvPr id="10" name="learner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121408"/>
            <a:ext cx="466344" cy="466344"/>
          </a:xfrm>
          <a:prstGeom prst="rect">
            <a:avLst/>
          </a:prstGeom>
        </p:spPr>
      </p:pic>
      <p:sp>
        <p:nvSpPr>
          <p:cNvPr id="11" name="learner-name-1"/>
          <p:cNvSpPr txBox="1"/>
          <p:nvPr/>
        </p:nvSpPr>
        <p:spPr>
          <a:xfrm>
            <a:off x="46634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Sara is dyslexic</a:t>
            </a:r>
            <a:endParaRPr lang="en-US" sz="2000" dirty="0"/>
          </a:p>
        </p:txBody>
      </p:sp>
      <p:sp>
        <p:nvSpPr>
          <p:cNvPr id="12" name="learner-text-1"/>
          <p:cNvSpPr txBox="1"/>
          <p:nvPr/>
        </p:nvSpPr>
        <p:spPr>
          <a:xfrm>
            <a:off x="4663440" y="34747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75"/>
                </a:solidFill>
              </a:rPr>
              <a:t>Long sentences and hard words lose her, and Urdu-medium students hit the same wall with English textbooks.</a:t>
            </a:r>
            <a:endParaRPr lang="en-US" sz="1500" dirty="0"/>
          </a:p>
        </p:txBody>
      </p:sp>
      <p:sp>
        <p:nvSpPr>
          <p:cNvPr id="13" name="learner-card-2"/>
          <p:cNvSpPr/>
          <p:nvPr/>
        </p:nvSpPr>
        <p:spPr>
          <a:xfrm>
            <a:off x="8046720" y="1600200"/>
            <a:ext cx="342900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  <a:effectLst>
            <a:outerShdw sx="100000" sy="100000" kx="0" ky="0" algn="bl" rotWithShape="0" blurRad="127000" dist="38100" dir="5400000">
              <a:srgbClr val="0D1B3E">
                <a:alpha val="12000"/>
              </a:srgbClr>
            </a:outerShdw>
          </a:effectLst>
        </p:spPr>
      </p:sp>
      <p:sp>
        <p:nvSpPr>
          <p:cNvPr id="14" name="learner-dot-2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pic>
        <p:nvPicPr>
          <p:cNvPr id="15" name="learner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121408"/>
            <a:ext cx="466344" cy="466344"/>
          </a:xfrm>
          <a:prstGeom prst="rect">
            <a:avLst/>
          </a:prstGeom>
        </p:spPr>
      </p:pic>
      <p:sp>
        <p:nvSpPr>
          <p:cNvPr id="16" name="learner-name-2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Hamza is deaf</a:t>
            </a:r>
            <a:endParaRPr lang="en-US" sz="2000" dirty="0"/>
          </a:p>
        </p:txBody>
      </p:sp>
      <p:sp>
        <p:nvSpPr>
          <p:cNvPr id="17" name="learner-text-2"/>
          <p:cNvSpPr txBox="1"/>
          <p:nvPr/>
        </p:nvSpPr>
        <p:spPr>
          <a:xfrm>
            <a:off x="8366760" y="34747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875"/>
                </a:solidFill>
              </a:rPr>
              <a:t>He misses everything the teacher says while explaining the page.</a:t>
            </a:r>
            <a:endParaRPr lang="en-US" sz="1500" dirty="0"/>
          </a:p>
        </p:txBody>
      </p:sp>
      <p:sp>
        <p:nvSpPr>
          <p:cNvPr id="18" name="teacher-band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acher-text"/>
          <p:cNvSpPr txBox="1"/>
          <p:nvPr/>
        </p:nvSpPr>
        <p:spPr>
          <a:xfrm>
            <a:off x="914400" y="519379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Their teacher would have to adapt every page three different ways. </a:t>
            </a:r>
            <a:pPr indent="0" marL="0">
              <a:buNone/>
            </a:pPr>
            <a:r>
              <a:rPr lang="en-US" sz="1600" dirty="0">
                <a:solidFill>
                  <a:srgbClr val="C9D4F2"/>
                </a:solidFill>
              </a:rPr>
              <a:t>There is never time, so it doesn’t happen. About 1 in 6 people live with a significant disability (WHO, 2023).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one photo to three ways to learn</a:t>
            </a:r>
            <a:endParaRPr lang="en-US" sz="3000" dirty="0"/>
          </a:p>
        </p:txBody>
      </p:sp>
      <p:sp>
        <p:nvSpPr>
          <p:cNvPr id="3" name="step-card-0"/>
          <p:cNvSpPr/>
          <p:nvPr/>
        </p:nvSpPr>
        <p:spPr>
          <a:xfrm>
            <a:off x="640080" y="1600200"/>
            <a:ext cx="2514600" cy="265176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sp>
        <p:nvSpPr>
          <p:cNvPr id="4" name="step-dot-0"/>
          <p:cNvSpPr/>
          <p:nvPr/>
        </p:nvSpPr>
        <p:spPr>
          <a:xfrm>
            <a:off x="914400" y="1874520"/>
            <a:ext cx="777240" cy="777240"/>
          </a:xfrm>
          <a:prstGeom prst="ellipse">
            <a:avLst/>
          </a:prstGeom>
          <a:solidFill>
            <a:srgbClr val="1C3EA6"/>
          </a:solidFill>
          <a:ln w="12700">
            <a:solidFill>
              <a:srgbClr val="1C3EA6"/>
            </a:solidFill>
            <a:prstDash val="solid"/>
          </a:ln>
        </p:spPr>
      </p:sp>
      <p:pic>
        <p:nvPicPr>
          <p:cNvPr id="5" name="step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411480" cy="411480"/>
          </a:xfrm>
          <a:prstGeom prst="rect">
            <a:avLst/>
          </a:prstGeom>
        </p:spPr>
      </p:pic>
      <p:sp>
        <p:nvSpPr>
          <p:cNvPr id="6" name="step-num-0"/>
          <p:cNvSpPr txBox="1"/>
          <p:nvPr/>
        </p:nvSpPr>
        <p:spPr>
          <a:xfrm>
            <a:off x="219456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3DE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tep-title-0"/>
          <p:cNvSpPr txBox="1"/>
          <p:nvPr/>
        </p:nvSpPr>
        <p:spPr>
          <a:xfrm>
            <a:off x="914400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the page</a:t>
            </a:r>
            <a:endParaRPr lang="en-US" sz="1800" dirty="0"/>
          </a:p>
        </p:txBody>
      </p:sp>
      <p:sp>
        <p:nvSpPr>
          <p:cNvPr id="8" name="step-text-0"/>
          <p:cNvSpPr txBox="1"/>
          <p:nvPr/>
        </p:nvSpPr>
        <p:spPr>
          <a:xfrm>
            <a:off x="914400" y="32004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Gemini reads the photo, keeps headings and tables, and describes every diagram.</a:t>
            </a:r>
            <a:endParaRPr lang="en-US" sz="1400" dirty="0"/>
          </a:p>
        </p:txBody>
      </p:sp>
      <p:sp>
        <p:nvSpPr>
          <p:cNvPr id="9" name="arrow-0"/>
          <p:cNvSpPr txBox="1"/>
          <p:nvPr/>
        </p:nvSpPr>
        <p:spPr>
          <a:xfrm>
            <a:off x="3163824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EA6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tep-card-1"/>
          <p:cNvSpPr/>
          <p:nvPr/>
        </p:nvSpPr>
        <p:spPr>
          <a:xfrm>
            <a:off x="3456432" y="1600200"/>
            <a:ext cx="2514600" cy="265176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sp>
        <p:nvSpPr>
          <p:cNvPr id="11" name="step-dot-1"/>
          <p:cNvSpPr/>
          <p:nvPr/>
        </p:nvSpPr>
        <p:spPr>
          <a:xfrm>
            <a:off x="3730752" y="1874520"/>
            <a:ext cx="777240" cy="777240"/>
          </a:xfrm>
          <a:prstGeom prst="ellipse">
            <a:avLst/>
          </a:prstGeom>
          <a:solidFill>
            <a:srgbClr val="0B8F8F"/>
          </a:solidFill>
          <a:ln w="12700">
            <a:solidFill>
              <a:srgbClr val="0B8F8F"/>
            </a:solidFill>
            <a:prstDash val="solid"/>
          </a:ln>
        </p:spPr>
      </p:sp>
      <p:pic>
        <p:nvPicPr>
          <p:cNvPr id="12" name="step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2057400"/>
            <a:ext cx="411480" cy="411480"/>
          </a:xfrm>
          <a:prstGeom prst="rect">
            <a:avLst/>
          </a:prstGeom>
        </p:spPr>
      </p:pic>
      <p:sp>
        <p:nvSpPr>
          <p:cNvPr id="13" name="step-num-1"/>
          <p:cNvSpPr txBox="1"/>
          <p:nvPr/>
        </p:nvSpPr>
        <p:spPr>
          <a:xfrm>
            <a:off x="5010912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3DE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step-title-1"/>
          <p:cNvSpPr txBox="1"/>
          <p:nvPr/>
        </p:nvSpPr>
        <p:spPr>
          <a:xfrm>
            <a:off x="3730752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Rewrite it simply</a:t>
            </a:r>
            <a:endParaRPr lang="en-US" sz="1800" dirty="0"/>
          </a:p>
        </p:txBody>
      </p:sp>
      <p:sp>
        <p:nvSpPr>
          <p:cNvPr id="15" name="step-text-1"/>
          <p:cNvSpPr txBox="1"/>
          <p:nvPr/>
        </p:nvSpPr>
        <p:spPr>
          <a:xfrm>
            <a:off x="3730752" y="32004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Qwen rewrites at an easier level and explains hard words in Urdu.</a:t>
            </a:r>
            <a:endParaRPr lang="en-US" sz="1400" dirty="0"/>
          </a:p>
        </p:txBody>
      </p:sp>
      <p:sp>
        <p:nvSpPr>
          <p:cNvPr id="16" name="arrow-1"/>
          <p:cNvSpPr txBox="1"/>
          <p:nvPr/>
        </p:nvSpPr>
        <p:spPr>
          <a:xfrm>
            <a:off x="5980176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EA6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tep-card-2"/>
          <p:cNvSpPr/>
          <p:nvPr/>
        </p:nvSpPr>
        <p:spPr>
          <a:xfrm>
            <a:off x="6272784" y="1600200"/>
            <a:ext cx="2514600" cy="265176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sp>
        <p:nvSpPr>
          <p:cNvPr id="18" name="step-dot-2"/>
          <p:cNvSpPr/>
          <p:nvPr/>
        </p:nvSpPr>
        <p:spPr>
          <a:xfrm>
            <a:off x="6547104" y="1874520"/>
            <a:ext cx="777240" cy="777240"/>
          </a:xfrm>
          <a:prstGeom prst="ellipse">
            <a:avLst/>
          </a:prstGeom>
          <a:solidFill>
            <a:srgbClr val="0C8259"/>
          </a:solidFill>
          <a:ln w="12700">
            <a:solidFill>
              <a:srgbClr val="0C8259"/>
            </a:solidFill>
            <a:prstDash val="solid"/>
          </a:ln>
        </p:spPr>
      </p:sp>
      <p:pic>
        <p:nvPicPr>
          <p:cNvPr id="19" name="step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057400"/>
            <a:ext cx="411480" cy="411480"/>
          </a:xfrm>
          <a:prstGeom prst="rect">
            <a:avLst/>
          </a:prstGeom>
        </p:spPr>
      </p:pic>
      <p:sp>
        <p:nvSpPr>
          <p:cNvPr id="20" name="step-num-2"/>
          <p:cNvSpPr txBox="1"/>
          <p:nvPr/>
        </p:nvSpPr>
        <p:spPr>
          <a:xfrm>
            <a:off x="7827264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3DE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step-title-2"/>
          <p:cNvSpPr txBox="1"/>
          <p:nvPr/>
        </p:nvSpPr>
        <p:spPr>
          <a:xfrm>
            <a:off x="6547104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Fact Guard</a:t>
            </a:r>
            <a:endParaRPr lang="en-US" sz="1800" dirty="0"/>
          </a:p>
        </p:txBody>
      </p:sp>
      <p:sp>
        <p:nvSpPr>
          <p:cNvPr id="22" name="step-text-2"/>
          <p:cNvSpPr txBox="1"/>
          <p:nvPr/>
        </p:nvSpPr>
        <p:spPr>
          <a:xfrm>
            <a:off x="6547104" y="32004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GPT-OSS, a different AI family, audits every fact and repairs gaps.</a:t>
            </a:r>
            <a:endParaRPr lang="en-US" sz="1400" dirty="0"/>
          </a:p>
        </p:txBody>
      </p:sp>
      <p:sp>
        <p:nvSpPr>
          <p:cNvPr id="23" name="arrow-2"/>
          <p:cNvSpPr txBox="1"/>
          <p:nvPr/>
        </p:nvSpPr>
        <p:spPr>
          <a:xfrm>
            <a:off x="8796528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EA6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tep-card-3"/>
          <p:cNvSpPr/>
          <p:nvPr/>
        </p:nvSpPr>
        <p:spPr>
          <a:xfrm>
            <a:off x="9089136" y="1600200"/>
            <a:ext cx="2514600" cy="265176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sp>
        <p:nvSpPr>
          <p:cNvPr id="25" name="step-dot-3"/>
          <p:cNvSpPr/>
          <p:nvPr/>
        </p:nvSpPr>
        <p:spPr>
          <a:xfrm>
            <a:off x="9363456" y="1874520"/>
            <a:ext cx="777240" cy="7772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6" name="step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2057400"/>
            <a:ext cx="411480" cy="411480"/>
          </a:xfrm>
          <a:prstGeom prst="rect">
            <a:avLst/>
          </a:prstGeom>
        </p:spPr>
      </p:pic>
      <p:sp>
        <p:nvSpPr>
          <p:cNvPr id="27" name="step-num-3"/>
          <p:cNvSpPr txBox="1"/>
          <p:nvPr/>
        </p:nvSpPr>
        <p:spPr>
          <a:xfrm>
            <a:off x="10643616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3DE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step-title-3"/>
          <p:cNvSpPr txBox="1"/>
          <p:nvPr/>
        </p:nvSpPr>
        <p:spPr>
          <a:xfrm>
            <a:off x="9363456" y="27889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Learn your way</a:t>
            </a:r>
            <a:endParaRPr lang="en-US" sz="1800" dirty="0"/>
          </a:p>
        </p:txBody>
      </p:sp>
      <p:sp>
        <p:nvSpPr>
          <p:cNvPr id="29" name="step-text-3"/>
          <p:cNvSpPr txBox="1"/>
          <p:nvPr/>
        </p:nvSpPr>
        <p:spPr>
          <a:xfrm>
            <a:off x="9363456" y="32004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Read Easy, Listen or Captions, with the original always one tap away.</a:t>
            </a:r>
            <a:endParaRPr lang="en-US" sz="1400" dirty="0"/>
          </a:p>
        </p:txBody>
      </p:sp>
      <p:pic>
        <p:nvPicPr>
          <p:cNvPr id="30" name="mode-icon-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17720"/>
            <a:ext cx="384048" cy="384048"/>
          </a:xfrm>
          <a:prstGeom prst="rect">
            <a:avLst/>
          </a:prstGeom>
        </p:spPr>
      </p:pic>
      <p:sp>
        <p:nvSpPr>
          <p:cNvPr id="31" name="mode-name-0"/>
          <p:cNvSpPr txBox="1"/>
          <p:nvPr/>
        </p:nvSpPr>
        <p:spPr>
          <a:xfrm>
            <a:off x="1143000" y="45537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Easy</a:t>
            </a:r>
            <a:endParaRPr lang="en-US" sz="1700" dirty="0"/>
          </a:p>
        </p:txBody>
      </p:sp>
      <p:sp>
        <p:nvSpPr>
          <p:cNvPr id="32" name="mode-text-0"/>
          <p:cNvSpPr txBox="1"/>
          <p:nvPr/>
        </p:nvSpPr>
        <p:spPr>
          <a:xfrm>
            <a:off x="640080" y="50749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Simpler text side by side with the original, Urdu glossary, read-aloud that highlights each sentence, adaptive quiz</a:t>
            </a:r>
            <a:endParaRPr lang="en-US" sz="1400" dirty="0"/>
          </a:p>
        </p:txBody>
      </p:sp>
      <p:pic>
        <p:nvPicPr>
          <p:cNvPr id="33" name="mode-icon-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617720"/>
            <a:ext cx="384048" cy="384048"/>
          </a:xfrm>
          <a:prstGeom prst="rect">
            <a:avLst/>
          </a:prstGeom>
        </p:spPr>
      </p:pic>
      <p:sp>
        <p:nvSpPr>
          <p:cNvPr id="34" name="mode-name-1"/>
          <p:cNvSpPr txBox="1"/>
          <p:nvPr/>
        </p:nvSpPr>
        <p:spPr>
          <a:xfrm>
            <a:off x="4846320" y="45537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Listen</a:t>
            </a:r>
            <a:endParaRPr lang="en-US" sz="1700" dirty="0"/>
          </a:p>
        </p:txBody>
      </p:sp>
      <p:sp>
        <p:nvSpPr>
          <p:cNvPr id="35" name="mode-text-1"/>
          <p:cNvSpPr txBox="1"/>
          <p:nvPr/>
        </p:nvSpPr>
        <p:spPr>
          <a:xfrm>
            <a:off x="4343400" y="50749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Section-by-section audio, every figure described in words, full keyboard and screen-reader control</a:t>
            </a:r>
            <a:endParaRPr lang="en-US" sz="1400" dirty="0"/>
          </a:p>
        </p:txBody>
      </p:sp>
      <p:pic>
        <p:nvPicPr>
          <p:cNvPr id="36" name="mode-icon-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617720"/>
            <a:ext cx="384048" cy="384048"/>
          </a:xfrm>
          <a:prstGeom prst="rect">
            <a:avLst/>
          </a:prstGeom>
        </p:spPr>
      </p:pic>
      <p:sp>
        <p:nvSpPr>
          <p:cNvPr id="37" name="mode-name-2"/>
          <p:cNvSpPr txBox="1"/>
          <p:nvPr/>
        </p:nvSpPr>
        <p:spPr>
          <a:xfrm>
            <a:off x="8549640" y="45537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Captions</a:t>
            </a:r>
            <a:endParaRPr lang="en-US" sz="1700" dirty="0"/>
          </a:p>
        </p:txBody>
      </p:sp>
      <p:sp>
        <p:nvSpPr>
          <p:cNvPr id="38" name="mode-text-2"/>
          <p:cNvSpPr txBox="1"/>
          <p:nvPr/>
        </p:nvSpPr>
        <p:spPr>
          <a:xfrm>
            <a:off x="8046720" y="50749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Lecture transcript synced to the audio, plus a summary Fact Guard checks against what was said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Fact Guard: a second AI checks the first</a:t>
            </a:r>
            <a:endParaRPr lang="en-US" sz="3000" dirty="0"/>
          </a:p>
        </p:txBody>
      </p:sp>
      <p:sp>
        <p:nvSpPr>
          <p:cNvPr id="3" name="check-dot-0"/>
          <p:cNvSpPr/>
          <p:nvPr/>
        </p:nvSpPr>
        <p:spPr>
          <a:xfrm>
            <a:off x="640080" y="1508760"/>
            <a:ext cx="731520" cy="73152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</p:sp>
      <p:pic>
        <p:nvPicPr>
          <p:cNvPr id="4" name="check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5" name="check-title-0"/>
          <p:cNvSpPr txBox="1"/>
          <p:nvPr/>
        </p:nvSpPr>
        <p:spPr>
          <a:xfrm>
            <a:off x="1600200" y="14904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model family</a:t>
            </a:r>
            <a:endParaRPr lang="en-US" sz="1800" dirty="0"/>
          </a:p>
        </p:txBody>
      </p:sp>
      <p:sp>
        <p:nvSpPr>
          <p:cNvPr id="6" name="check-text-0"/>
          <p:cNvSpPr txBox="1"/>
          <p:nvPr/>
        </p:nvSpPr>
        <p:spPr>
          <a:xfrm>
            <a:off x="1600200" y="1874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The checker is never from the same family as the rewriter, so it can’t simply agree with itself.</a:t>
            </a:r>
            <a:endParaRPr lang="en-US" sz="1400" dirty="0"/>
          </a:p>
        </p:txBody>
      </p:sp>
      <p:sp>
        <p:nvSpPr>
          <p:cNvPr id="7" name="check-dot-1"/>
          <p:cNvSpPr/>
          <p:nvPr/>
        </p:nvSpPr>
        <p:spPr>
          <a:xfrm>
            <a:off x="640080" y="2679192"/>
            <a:ext cx="731520" cy="73152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</p:sp>
      <p:pic>
        <p:nvPicPr>
          <p:cNvPr id="8" name="check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62072"/>
            <a:ext cx="365760" cy="365760"/>
          </a:xfrm>
          <a:prstGeom prst="rect">
            <a:avLst/>
          </a:prstGeom>
        </p:spPr>
      </p:pic>
      <p:sp>
        <p:nvSpPr>
          <p:cNvPr id="9" name="check-title-1"/>
          <p:cNvSpPr txBox="1"/>
          <p:nvPr/>
        </p:nvSpPr>
        <p:spPr>
          <a:xfrm>
            <a:off x="1600200" y="26609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Quote or it didn’t happen</a:t>
            </a:r>
            <a:endParaRPr lang="en-US" sz="1800" dirty="0"/>
          </a:p>
        </p:txBody>
      </p:sp>
      <p:sp>
        <p:nvSpPr>
          <p:cNvPr id="10" name="check-text-1"/>
          <p:cNvSpPr txBox="1"/>
          <p:nvPr/>
        </p:nvSpPr>
        <p:spPr>
          <a:xfrm>
            <a:off x="1600200" y="30449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A fact counts as kept only when the checker quotes it from the rewrite, and code confirms the quote states it.</a:t>
            </a:r>
            <a:endParaRPr lang="en-US" sz="1400" dirty="0"/>
          </a:p>
        </p:txBody>
      </p:sp>
      <p:sp>
        <p:nvSpPr>
          <p:cNvPr id="11" name="check-dot-2"/>
          <p:cNvSpPr/>
          <p:nvPr/>
        </p:nvSpPr>
        <p:spPr>
          <a:xfrm>
            <a:off x="640080" y="3849624"/>
            <a:ext cx="731520" cy="73152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</p:sp>
      <p:pic>
        <p:nvPicPr>
          <p:cNvPr id="12" name="check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32504"/>
            <a:ext cx="365760" cy="365760"/>
          </a:xfrm>
          <a:prstGeom prst="rect">
            <a:avLst/>
          </a:prstGeom>
        </p:spPr>
      </p:pic>
      <p:sp>
        <p:nvSpPr>
          <p:cNvPr id="13" name="check-title-2"/>
          <p:cNvSpPr txBox="1"/>
          <p:nvPr/>
        </p:nvSpPr>
        <p:spPr>
          <a:xfrm>
            <a:off x="1600200" y="38313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Numbers checked by plain code</a:t>
            </a:r>
            <a:endParaRPr lang="en-US" sz="1800" dirty="0"/>
          </a:p>
        </p:txBody>
      </p:sp>
      <p:sp>
        <p:nvSpPr>
          <p:cNvPr id="14" name="check-text-2"/>
          <p:cNvSpPr txBox="1"/>
          <p:nvPr/>
        </p:nvSpPr>
        <p:spPr>
          <a:xfrm>
            <a:off x="1600200" y="421538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“50 min” can’t quietly become “100 min”. Units, formulas and symbols are compared without AI.</a:t>
            </a:r>
            <a:endParaRPr lang="en-US" sz="1400" dirty="0"/>
          </a:p>
        </p:txBody>
      </p:sp>
      <p:sp>
        <p:nvSpPr>
          <p:cNvPr id="15" name="check-dot-3"/>
          <p:cNvSpPr/>
          <p:nvPr/>
        </p:nvSpPr>
        <p:spPr>
          <a:xfrm>
            <a:off x="640080" y="5020056"/>
            <a:ext cx="731520" cy="73152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</p:sp>
      <p:pic>
        <p:nvPicPr>
          <p:cNvPr id="16" name="check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02936"/>
            <a:ext cx="365760" cy="365760"/>
          </a:xfrm>
          <a:prstGeom prst="rect">
            <a:avLst/>
          </a:prstGeom>
        </p:spPr>
      </p:pic>
      <p:sp>
        <p:nvSpPr>
          <p:cNvPr id="17" name="check-title-3"/>
          <p:cNvSpPr txBox="1"/>
          <p:nvPr/>
        </p:nvSpPr>
        <p:spPr>
          <a:xfrm>
            <a:off x="1600200" y="5001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Repair, then re-check</a:t>
            </a:r>
            <a:endParaRPr lang="en-US" sz="1800" dirty="0"/>
          </a:p>
        </p:txBody>
      </p:sp>
      <p:sp>
        <p:nvSpPr>
          <p:cNvPr id="18" name="check-text-3"/>
          <p:cNvSpPr txBox="1"/>
          <p:nvPr/>
        </p:nvSpPr>
        <p:spPr>
          <a:xfrm>
            <a:off x="1600200" y="538581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Only flagged sentences are rewritten, up to two rounds. Anything still wrong stays visibly amber.</a:t>
            </a:r>
            <a:endParaRPr lang="en-US" sz="1400" dirty="0"/>
          </a:p>
        </p:txBody>
      </p:sp>
      <p:sp>
        <p:nvSpPr>
          <p:cNvPr id="19" name="stress-card"/>
          <p:cNvSpPr/>
          <p:nvPr/>
        </p:nvSpPr>
        <p:spPr>
          <a:xfrm>
            <a:off x="7178040" y="1508760"/>
            <a:ext cx="4343400" cy="4526280"/>
          </a:xfrm>
          <a:prstGeom prst="roundRect">
            <a:avLst>
              <a:gd name="adj" fmla="val 4211"/>
            </a:avLst>
          </a:prstGeom>
          <a:solidFill>
            <a:srgbClr val="1C3EA6"/>
          </a:solidFill>
          <a:ln w="12700">
            <a:solidFill>
              <a:srgbClr val="1C3EA6"/>
            </a:solidFill>
            <a:prstDash val="solid"/>
          </a:ln>
        </p:spPr>
      </p:sp>
      <p:pic>
        <p:nvPicPr>
          <p:cNvPr id="20" name="stress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828800"/>
            <a:ext cx="640080" cy="640080"/>
          </a:xfrm>
          <a:prstGeom prst="rect">
            <a:avLst/>
          </a:prstGeom>
        </p:spPr>
      </p:pic>
      <p:sp>
        <p:nvSpPr>
          <p:cNvPr id="21" name="stress-eyebrow"/>
          <p:cNvSpPr txBox="1"/>
          <p:nvPr/>
        </p:nvSpPr>
        <p:spPr>
          <a:xfrm>
            <a:off x="75438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40E"/>
                </a:solidFill>
              </a:rPr>
              <a:t>STRESS TEST</a:t>
            </a:r>
            <a:endParaRPr lang="en-US" sz="1200" dirty="0"/>
          </a:p>
        </p:txBody>
      </p:sp>
      <p:sp>
        <p:nvSpPr>
          <p:cNvPr id="22" name="stress-number"/>
          <p:cNvSpPr txBox="1"/>
          <p:nvPr/>
        </p:nvSpPr>
        <p:spPr>
          <a:xfrm>
            <a:off x="7543800" y="2926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28/28</a:t>
            </a:r>
            <a:endParaRPr lang="en-US" sz="6600" dirty="0"/>
          </a:p>
        </p:txBody>
      </p:sp>
      <p:sp>
        <p:nvSpPr>
          <p:cNvPr id="23" name="stress-text"/>
          <p:cNvSpPr txBox="1"/>
          <p:nvPr/>
        </p:nvSpPr>
        <p:spPr>
          <a:xfrm>
            <a:off x="7543800" y="4069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4FA"/>
                </a:solidFill>
              </a:rPr>
              <a:t>planted errors caught: changed numbers, deleted facts and invented claims, slipped into real rewrites by code.</a:t>
            </a:r>
            <a:endParaRPr lang="en-US" sz="1500" dirty="0"/>
          </a:p>
        </p:txBody>
      </p:sp>
      <p:sp>
        <p:nvSpPr>
          <p:cNvPr id="24" name="stress-fa"/>
          <p:cNvSpPr txBox="1"/>
          <p:nvPr/>
        </p:nvSpPr>
        <p:spPr>
          <a:xfrm>
            <a:off x="7543800" y="5212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40E"/>
                </a:solidFill>
              </a:rPr>
              <a:t>False alarms on unchanged text: 0.0%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Sara sees: the same page, easier, with proof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94360" y="1417320"/>
            <a:ext cx="786384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  <a:effectLst>
            <a:outerShdw sx="100000" sy="100000" kx="0" ky="0" algn="bl" rotWithShape="0" blurRad="177800" dist="50800" dir="5400000">
              <a:srgbClr val="0D1B3E">
                <a:alpha val="18000"/>
              </a:srgbClr>
            </a:outerShdw>
          </a:effectLst>
        </p:spPr>
      </p:sp>
      <p:pic>
        <p:nvPicPr>
          <p:cNvPr id="4" name="shot" descr="C:\Users\rahee\AppData\Local\Temp\claude\C--Users-rahee-Desktop-AICon\b0d77b2b-594c-418c-bce0-e4f2d230c288\scratchpad\deck-re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508760"/>
            <a:ext cx="7680960" cy="4617720"/>
          </a:xfrm>
          <a:prstGeom prst="rect">
            <a:avLst/>
          </a:prstGeom>
        </p:spPr>
      </p:pic>
      <p:sp>
        <p:nvSpPr>
          <p:cNvPr id="5" name="shot-note-t-0"/>
          <p:cNvSpPr txBox="1"/>
          <p:nvPr/>
        </p:nvSpPr>
        <p:spPr>
          <a:xfrm>
            <a:off x="8778240" y="14630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Original beside the rewrite</a:t>
            </a:r>
            <a:endParaRPr lang="en-US" sz="1600" dirty="0"/>
          </a:p>
        </p:txBody>
      </p:sp>
      <p:sp>
        <p:nvSpPr>
          <p:cNvPr id="6" name="shot-note-d-0"/>
          <p:cNvSpPr txBox="1"/>
          <p:nvPr/>
        </p:nvSpPr>
        <p:spPr>
          <a:xfrm>
            <a:off x="8778240" y="184708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5"/>
                </a:solidFill>
              </a:rPr>
              <a:t>Nothing is hidden: the printed text is always next to the easier version.</a:t>
            </a:r>
            <a:endParaRPr lang="en-US" sz="1300" dirty="0"/>
          </a:p>
        </p:txBody>
      </p:sp>
      <p:sp>
        <p:nvSpPr>
          <p:cNvPr id="7" name="shot-note-t-1"/>
          <p:cNvSpPr txBox="1"/>
          <p:nvPr/>
        </p:nvSpPr>
        <p:spPr>
          <a:xfrm>
            <a:off x="8778240" y="2670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Read-aloud with highlighting</a:t>
            </a:r>
            <a:endParaRPr lang="en-US" sz="1600" dirty="0"/>
          </a:p>
        </p:txBody>
      </p:sp>
      <p:sp>
        <p:nvSpPr>
          <p:cNvPr id="8" name="shot-note-d-1"/>
          <p:cNvSpPr txBox="1"/>
          <p:nvPr/>
        </p:nvSpPr>
        <p:spPr>
          <a:xfrm>
            <a:off x="8778240" y="30540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5"/>
                </a:solidFill>
              </a:rPr>
              <a:t>Each sentence lights up as it is read. Tap any sentence to start there.</a:t>
            </a:r>
            <a:endParaRPr lang="en-US" sz="1300" dirty="0"/>
          </a:p>
        </p:txBody>
      </p:sp>
      <p:sp>
        <p:nvSpPr>
          <p:cNvPr id="9" name="shot-note-t-2"/>
          <p:cNvSpPr txBox="1"/>
          <p:nvPr/>
        </p:nvSpPr>
        <p:spPr>
          <a:xfrm>
            <a:off x="8778240" y="38770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Urdu where it helps</a:t>
            </a:r>
            <a:endParaRPr lang="en-US" sz="1600" dirty="0"/>
          </a:p>
        </p:txBody>
      </p:sp>
      <p:sp>
        <p:nvSpPr>
          <p:cNvPr id="10" name="shot-note-d-2"/>
          <p:cNvSpPr txBox="1"/>
          <p:nvPr/>
        </p:nvSpPr>
        <p:spPr>
          <a:xfrm>
            <a:off x="8778240" y="426110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5"/>
                </a:solidFill>
              </a:rPr>
              <a:t>Hard terms stay in English, with a short Urdu explanation and Urdu audio.</a:t>
            </a:r>
            <a:endParaRPr lang="en-US" sz="1300" dirty="0"/>
          </a:p>
        </p:txBody>
      </p:sp>
      <p:sp>
        <p:nvSpPr>
          <p:cNvPr id="11" name="shot-note-t-3"/>
          <p:cNvSpPr txBox="1"/>
          <p:nvPr/>
        </p:nvSpPr>
        <p:spPr>
          <a:xfrm>
            <a:off x="8778240" y="50840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Fact Guard on every page</a:t>
            </a:r>
            <a:endParaRPr lang="en-US" sz="1600" dirty="0"/>
          </a:p>
        </p:txBody>
      </p:sp>
      <p:sp>
        <p:nvSpPr>
          <p:cNvPr id="12" name="shot-note-d-3"/>
          <p:cNvSpPr txBox="1"/>
          <p:nvPr/>
        </p:nvSpPr>
        <p:spPr>
          <a:xfrm>
            <a:off x="8778240" y="54681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5"/>
                </a:solidFill>
              </a:rPr>
              <a:t>A badge per section, the full fact list, and a live stress test.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Measured, not claimed</a:t>
            </a:r>
            <a:endParaRPr lang="en-US" sz="3000" dirty="0"/>
          </a:p>
        </p:txBody>
      </p:sp>
      <p:sp>
        <p:nvSpPr>
          <p:cNvPr id="3" name="stat-card-0"/>
          <p:cNvSpPr/>
          <p:nvPr/>
        </p:nvSpPr>
        <p:spPr>
          <a:xfrm>
            <a:off x="640080" y="146304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sp>
        <p:nvSpPr>
          <p:cNvPr id="4" name="stat-v-0"/>
          <p:cNvSpPr txBox="1"/>
          <p:nvPr/>
        </p:nvSpPr>
        <p:spPr>
          <a:xfrm>
            <a:off x="914400" y="1691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C825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99%</a:t>
            </a:r>
            <a:endParaRPr lang="en-US" sz="3000" dirty="0"/>
          </a:p>
        </p:txBody>
      </p:sp>
      <p:sp>
        <p:nvSpPr>
          <p:cNvPr id="5" name="stat-l-0"/>
          <p:cNvSpPr txBox="1"/>
          <p:nvPr/>
        </p:nvSpPr>
        <p:spPr>
          <a:xfrm>
            <a:off x="91440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Facts kept after Fact Guard</a:t>
            </a:r>
            <a:endParaRPr lang="en-US" sz="1500" dirty="0"/>
          </a:p>
        </p:txBody>
      </p:sp>
      <p:sp>
        <p:nvSpPr>
          <p:cNvPr id="6" name="stat-d-0"/>
          <p:cNvSpPr txBox="1"/>
          <p:nvPr/>
        </p:nvSpPr>
        <p:spPr>
          <a:xfrm>
            <a:off x="91440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5875"/>
                </a:solidFill>
              </a:rPr>
              <a:t>291 facts, 10 rewrites</a:t>
            </a:r>
            <a:endParaRPr lang="en-US" sz="1200" dirty="0"/>
          </a:p>
        </p:txBody>
      </p:sp>
      <p:sp>
        <p:nvSpPr>
          <p:cNvPr id="7" name="stat-card-1"/>
          <p:cNvSpPr/>
          <p:nvPr/>
        </p:nvSpPr>
        <p:spPr>
          <a:xfrm>
            <a:off x="4343400" y="146304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sp>
        <p:nvSpPr>
          <p:cNvPr id="8" name="stat-v-1"/>
          <p:cNvSpPr txBox="1"/>
          <p:nvPr/>
        </p:nvSpPr>
        <p:spPr>
          <a:xfrm>
            <a:off x="4617720" y="1691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C3EA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11.0 → 6.3</a:t>
            </a:r>
            <a:endParaRPr lang="en-US" sz="3000" dirty="0"/>
          </a:p>
        </p:txBody>
      </p:sp>
      <p:sp>
        <p:nvSpPr>
          <p:cNvPr id="9" name="stat-l-1"/>
          <p:cNvSpPr txBox="1"/>
          <p:nvPr/>
        </p:nvSpPr>
        <p:spPr>
          <a:xfrm>
            <a:off x="461772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Reading grade, original → Easier</a:t>
            </a:r>
            <a:endParaRPr lang="en-US" sz="1500" dirty="0"/>
          </a:p>
        </p:txBody>
      </p:sp>
      <p:sp>
        <p:nvSpPr>
          <p:cNvPr id="10" name="stat-d-1"/>
          <p:cNvSpPr txBox="1"/>
          <p:nvPr/>
        </p:nvSpPr>
        <p:spPr>
          <a:xfrm>
            <a:off x="461772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5875"/>
                </a:solidFill>
              </a:rPr>
              <a:t>10 rewrites of 5 pages</a:t>
            </a:r>
            <a:endParaRPr lang="en-US" sz="1200" dirty="0"/>
          </a:p>
        </p:txBody>
      </p:sp>
      <p:sp>
        <p:nvSpPr>
          <p:cNvPr id="11" name="stat-card-2"/>
          <p:cNvSpPr/>
          <p:nvPr/>
        </p:nvSpPr>
        <p:spPr>
          <a:xfrm>
            <a:off x="8046720" y="146304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sp>
        <p:nvSpPr>
          <p:cNvPr id="12" name="stat-v-2"/>
          <p:cNvSpPr txBox="1"/>
          <p:nvPr/>
        </p:nvSpPr>
        <p:spPr>
          <a:xfrm>
            <a:off x="8321040" y="1691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C3EA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28/28</a:t>
            </a:r>
            <a:endParaRPr lang="en-US" sz="3000" dirty="0"/>
          </a:p>
        </p:txBody>
      </p:sp>
      <p:sp>
        <p:nvSpPr>
          <p:cNvPr id="13" name="stat-l-2"/>
          <p:cNvSpPr txBox="1"/>
          <p:nvPr/>
        </p:nvSpPr>
        <p:spPr>
          <a:xfrm>
            <a:off x="832104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Planted errors caught</a:t>
            </a:r>
            <a:endParaRPr lang="en-US" sz="1500" dirty="0"/>
          </a:p>
        </p:txBody>
      </p:sp>
      <p:sp>
        <p:nvSpPr>
          <p:cNvPr id="14" name="stat-d-2"/>
          <p:cNvSpPr txBox="1"/>
          <p:nvPr/>
        </p:nvSpPr>
        <p:spPr>
          <a:xfrm>
            <a:off x="832104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5875"/>
                </a:solidFill>
              </a:rPr>
              <a:t>synthetic errors in real rewrites</a:t>
            </a:r>
            <a:endParaRPr lang="en-US" sz="1200" dirty="0"/>
          </a:p>
        </p:txBody>
      </p:sp>
      <p:sp>
        <p:nvSpPr>
          <p:cNvPr id="15" name="stat-card-3"/>
          <p:cNvSpPr/>
          <p:nvPr/>
        </p:nvSpPr>
        <p:spPr>
          <a:xfrm>
            <a:off x="640080" y="384048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sp>
        <p:nvSpPr>
          <p:cNvPr id="16" name="stat-v-3"/>
          <p:cNvSpPr txBox="1"/>
          <p:nvPr/>
        </p:nvSpPr>
        <p:spPr>
          <a:xfrm>
            <a:off x="91440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8F8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0.0%</a:t>
            </a:r>
            <a:endParaRPr lang="en-US" sz="3000" dirty="0"/>
          </a:p>
        </p:txBody>
      </p:sp>
      <p:sp>
        <p:nvSpPr>
          <p:cNvPr id="17" name="stat-l-3"/>
          <p:cNvSpPr txBox="1"/>
          <p:nvPr/>
        </p:nvSpPr>
        <p:spPr>
          <a:xfrm>
            <a:off x="914400" y="4983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False alarms on unchanged text</a:t>
            </a:r>
            <a:endParaRPr lang="en-US" sz="1500" dirty="0"/>
          </a:p>
        </p:txBody>
      </p:sp>
      <p:sp>
        <p:nvSpPr>
          <p:cNvPr id="18" name="stat-d-3"/>
          <p:cNvSpPr txBox="1"/>
          <p:nvPr/>
        </p:nvSpPr>
        <p:spPr>
          <a:xfrm>
            <a:off x="914400" y="5394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5875"/>
                </a:solidFill>
              </a:rPr>
              <a:t>142 facts on 5 pages</a:t>
            </a:r>
            <a:endParaRPr lang="en-US" sz="1200" dirty="0"/>
          </a:p>
        </p:txBody>
      </p:sp>
      <p:sp>
        <p:nvSpPr>
          <p:cNvPr id="19" name="stat-card-4"/>
          <p:cNvSpPr/>
          <p:nvPr/>
        </p:nvSpPr>
        <p:spPr>
          <a:xfrm>
            <a:off x="4343400" y="384048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sp>
        <p:nvSpPr>
          <p:cNvPr id="20" name="stat-v-4"/>
          <p:cNvSpPr txBox="1"/>
          <p:nvPr/>
        </p:nvSpPr>
        <p:spPr>
          <a:xfrm>
            <a:off x="4617720" y="4069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8F8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99.98%</a:t>
            </a:r>
            <a:endParaRPr lang="en-US" sz="3000" dirty="0"/>
          </a:p>
        </p:txBody>
      </p:sp>
      <p:sp>
        <p:nvSpPr>
          <p:cNvPr id="21" name="stat-l-4"/>
          <p:cNvSpPr txBox="1"/>
          <p:nvPr/>
        </p:nvSpPr>
        <p:spPr>
          <a:xfrm>
            <a:off x="4617720" y="49834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Page reading accuracy</a:t>
            </a:r>
            <a:endParaRPr lang="en-US" sz="1500" dirty="0"/>
          </a:p>
        </p:txBody>
      </p:sp>
      <p:sp>
        <p:nvSpPr>
          <p:cNvPr id="22" name="stat-d-4"/>
          <p:cNvSpPr txBox="1"/>
          <p:nvPr/>
        </p:nvSpPr>
        <p:spPr>
          <a:xfrm>
            <a:off x="4617720" y="5394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5875"/>
                </a:solidFill>
              </a:rPr>
              <a:t>even on this hard photo</a:t>
            </a:r>
            <a:endParaRPr lang="en-US" sz="1200" dirty="0"/>
          </a:p>
        </p:txBody>
      </p:sp>
      <p:pic>
        <p:nvPicPr>
          <p:cNvPr id="23" name="hard-photo" descr="C:\Users\rahee\AppData\Local\Temp\claude\C--Users-rahee-Desktop-AICon\b0d77b2b-594c-418c-bce0-e4f2d230c288\scratchpad\h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4114800"/>
            <a:ext cx="822960" cy="1078992"/>
          </a:xfrm>
          <a:prstGeom prst="rect">
            <a:avLst/>
          </a:prstGeom>
        </p:spPr>
      </p:pic>
      <p:sp>
        <p:nvSpPr>
          <p:cNvPr id="24" name="stat-card-5"/>
          <p:cNvSpPr/>
          <p:nvPr/>
        </p:nvSpPr>
        <p:spPr>
          <a:xfrm>
            <a:off x="8046720" y="3840480"/>
            <a:ext cx="342900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sp>
        <p:nvSpPr>
          <p:cNvPr id="25" name="stat-v-5"/>
          <p:cNvSpPr txBox="1"/>
          <p:nvPr/>
        </p:nvSpPr>
        <p:spPr>
          <a:xfrm>
            <a:off x="832104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26 s per page</a:t>
            </a:r>
            <a:endParaRPr lang="en-US" sz="3000" dirty="0"/>
          </a:p>
        </p:txBody>
      </p:sp>
      <p:sp>
        <p:nvSpPr>
          <p:cNvPr id="26" name="stat-l-5"/>
          <p:cNvSpPr txBox="1"/>
          <p:nvPr/>
        </p:nvSpPr>
        <p:spPr>
          <a:xfrm>
            <a:off x="8321040" y="4983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Time to make a lesson</a:t>
            </a:r>
            <a:endParaRPr lang="en-US" sz="1500" dirty="0"/>
          </a:p>
        </p:txBody>
      </p:sp>
      <p:sp>
        <p:nvSpPr>
          <p:cNvPr id="27" name="stat-d-5"/>
          <p:cNvSpPr txBox="1"/>
          <p:nvPr/>
        </p:nvSpPr>
        <p:spPr>
          <a:xfrm>
            <a:off x="8321040" y="5394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A5875"/>
                </a:solidFill>
              </a:rPr>
              <a:t>on free tiers, incl. rate-limit waits</a:t>
            </a:r>
            <a:endParaRPr lang="en-US" sz="1200" dirty="0"/>
          </a:p>
        </p:txBody>
      </p:sp>
      <p:sp>
        <p:nvSpPr>
          <p:cNvPr id="28" name="stat-source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875"/>
                </a:solidFill>
              </a:rPr>
              <a:t>Every number comes from a script in eval/ on OpenStax pages (CC BY 4.0). Synthetic test data is labelled. Run them yourself.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adopts it, and why it scales</a:t>
            </a:r>
            <a:endParaRPr lang="en-US" sz="3000" dirty="0"/>
          </a:p>
        </p:txBody>
      </p:sp>
      <p:sp>
        <p:nvSpPr>
          <p:cNvPr id="3" name="ad-dot-0"/>
          <p:cNvSpPr/>
          <p:nvPr/>
        </p:nvSpPr>
        <p:spPr>
          <a:xfrm>
            <a:off x="640080" y="150876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pic>
        <p:nvPicPr>
          <p:cNvPr id="4" name="a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82496"/>
            <a:ext cx="365760" cy="365760"/>
          </a:xfrm>
          <a:prstGeom prst="rect">
            <a:avLst/>
          </a:prstGeom>
        </p:spPr>
      </p:pic>
      <p:sp>
        <p:nvSpPr>
          <p:cNvPr id="5" name="ad-t-0"/>
          <p:cNvSpPr txBox="1"/>
          <p:nvPr/>
        </p:nvSpPr>
        <p:spPr>
          <a:xfrm>
            <a:off x="1554480" y="14904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Special-education schools</a:t>
            </a:r>
            <a:endParaRPr lang="en-US" sz="1800" dirty="0"/>
          </a:p>
        </p:txBody>
      </p:sp>
      <p:sp>
        <p:nvSpPr>
          <p:cNvPr id="6" name="ad-d-0"/>
          <p:cNvSpPr txBox="1"/>
          <p:nvPr/>
        </p:nvSpPr>
        <p:spPr>
          <a:xfrm>
            <a:off x="1554480" y="1874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Adapt any page for blind, dyslexic and deaf students in minutes.</a:t>
            </a:r>
            <a:endParaRPr lang="en-US" sz="1400" dirty="0"/>
          </a:p>
        </p:txBody>
      </p:sp>
      <p:sp>
        <p:nvSpPr>
          <p:cNvPr id="7" name="ad-dot-1"/>
          <p:cNvSpPr/>
          <p:nvPr/>
        </p:nvSpPr>
        <p:spPr>
          <a:xfrm>
            <a:off x="640080" y="262432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pic>
        <p:nvPicPr>
          <p:cNvPr id="8" name="a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798064"/>
            <a:ext cx="365760" cy="365760"/>
          </a:xfrm>
          <a:prstGeom prst="rect">
            <a:avLst/>
          </a:prstGeom>
        </p:spPr>
      </p:pic>
      <p:sp>
        <p:nvSpPr>
          <p:cNvPr id="9" name="ad-t-1"/>
          <p:cNvSpPr txBox="1"/>
          <p:nvPr/>
        </p:nvSpPr>
        <p:spPr>
          <a:xfrm>
            <a:off x="1554480" y="2606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Inclusive-education NGOs</a:t>
            </a:r>
            <a:endParaRPr lang="en-US" sz="1800" dirty="0"/>
          </a:p>
        </p:txBody>
      </p:sp>
      <p:sp>
        <p:nvSpPr>
          <p:cNvPr id="10" name="ad-d-1"/>
          <p:cNvSpPr txBox="1"/>
          <p:nvPr/>
        </p:nvSpPr>
        <p:spPr>
          <a:xfrm>
            <a:off x="1554480" y="2990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Run accessible classes without a team of specialists.</a:t>
            </a:r>
            <a:endParaRPr lang="en-US" sz="1400" dirty="0"/>
          </a:p>
        </p:txBody>
      </p:sp>
      <p:sp>
        <p:nvSpPr>
          <p:cNvPr id="11" name="ad-dot-2"/>
          <p:cNvSpPr/>
          <p:nvPr/>
        </p:nvSpPr>
        <p:spPr>
          <a:xfrm>
            <a:off x="640080" y="3739896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pic>
        <p:nvPicPr>
          <p:cNvPr id="12" name="a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913632"/>
            <a:ext cx="365760" cy="365760"/>
          </a:xfrm>
          <a:prstGeom prst="rect">
            <a:avLst/>
          </a:prstGeom>
        </p:spPr>
      </p:pic>
      <p:sp>
        <p:nvSpPr>
          <p:cNvPr id="13" name="ad-t-2"/>
          <p:cNvSpPr txBox="1"/>
          <p:nvPr/>
        </p:nvSpPr>
        <p:spPr>
          <a:xfrm>
            <a:off x="1554480" y="3721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Textbook boards and publishers</a:t>
            </a:r>
            <a:endParaRPr lang="en-US" sz="1800" dirty="0"/>
          </a:p>
        </p:txBody>
      </p:sp>
      <p:sp>
        <p:nvSpPr>
          <p:cNvPr id="14" name="ad-d-2"/>
          <p:cNvSpPr txBox="1"/>
          <p:nvPr/>
        </p:nvSpPr>
        <p:spPr>
          <a:xfrm>
            <a:off x="1554480" y="410565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Produce accessible editions and see which pages are too hard.</a:t>
            </a:r>
            <a:endParaRPr lang="en-US" sz="1400" dirty="0"/>
          </a:p>
        </p:txBody>
      </p:sp>
      <p:sp>
        <p:nvSpPr>
          <p:cNvPr id="15" name="ad-dot-3"/>
          <p:cNvSpPr/>
          <p:nvPr/>
        </p:nvSpPr>
        <p:spPr>
          <a:xfrm>
            <a:off x="640080" y="4855464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DEDC"/>
            </a:solidFill>
            <a:prstDash val="solid"/>
          </a:ln>
        </p:spPr>
      </p:sp>
      <p:pic>
        <p:nvPicPr>
          <p:cNvPr id="16" name="a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029200"/>
            <a:ext cx="365760" cy="365760"/>
          </a:xfrm>
          <a:prstGeom prst="rect">
            <a:avLst/>
          </a:prstGeom>
        </p:spPr>
      </p:pic>
      <p:sp>
        <p:nvSpPr>
          <p:cNvPr id="17" name="ad-t-3"/>
          <p:cNvSpPr txBox="1"/>
          <p:nvPr/>
        </p:nvSpPr>
        <p:spPr>
          <a:xfrm>
            <a:off x="1554480" y="48371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Employers and training providers</a:t>
            </a:r>
            <a:endParaRPr lang="en-US" sz="1800" dirty="0"/>
          </a:p>
        </p:txBody>
      </p:sp>
      <p:sp>
        <p:nvSpPr>
          <p:cNvPr id="18" name="ad-d-3"/>
          <p:cNvSpPr txBox="1"/>
          <p:nvPr/>
        </p:nvSpPr>
        <p:spPr>
          <a:xfrm>
            <a:off x="1554480" y="52212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Make manuals, safety notices and job material accessible to staff with disabilities.</a:t>
            </a:r>
            <a:endParaRPr lang="en-US" sz="1400" dirty="0"/>
          </a:p>
        </p:txBody>
      </p:sp>
      <p:sp>
        <p:nvSpPr>
          <p:cNvPr id="19" name="cost-card"/>
          <p:cNvSpPr/>
          <p:nvPr/>
        </p:nvSpPr>
        <p:spPr>
          <a:xfrm>
            <a:off x="7178040" y="1508760"/>
            <a:ext cx="4343400" cy="2103120"/>
          </a:xfrm>
          <a:prstGeom prst="roundRect">
            <a:avLst>
              <a:gd name="adj" fmla="val 7826"/>
            </a:avLst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pic>
        <p:nvPicPr>
          <p:cNvPr id="20" name="cost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783080"/>
            <a:ext cx="502920" cy="502920"/>
          </a:xfrm>
          <a:prstGeom prst="rect">
            <a:avLst/>
          </a:prstGeom>
        </p:spPr>
      </p:pic>
      <p:sp>
        <p:nvSpPr>
          <p:cNvPr id="21" name="cost-title"/>
          <p:cNvSpPr txBox="1"/>
          <p:nvPr/>
        </p:nvSpPr>
        <p:spPr>
          <a:xfrm>
            <a:off x="7498080" y="2377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PKR 0 to run today</a:t>
            </a:r>
            <a:endParaRPr lang="en-US" sz="2400" dirty="0"/>
          </a:p>
        </p:txBody>
      </p:sp>
      <p:sp>
        <p:nvSpPr>
          <p:cNvPr id="22" name="cost-text"/>
          <p:cNvSpPr txBox="1"/>
          <p:nvPr/>
        </p:nvSpPr>
        <p:spPr>
          <a:xfrm>
            <a:off x="7498080" y="2880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5"/>
                </a:solidFill>
              </a:rPr>
              <a:t>Free tiers with automatic fallback across 8 models, caching and an offline demo mode.</a:t>
            </a:r>
            <a:endParaRPr lang="en-US" sz="1400" dirty="0"/>
          </a:p>
        </p:txBody>
      </p:sp>
      <p:sp>
        <p:nvSpPr>
          <p:cNvPr id="23" name="sdg-card"/>
          <p:cNvSpPr/>
          <p:nvPr/>
        </p:nvSpPr>
        <p:spPr>
          <a:xfrm>
            <a:off x="7178040" y="3840480"/>
            <a:ext cx="4343400" cy="2194560"/>
          </a:xfrm>
          <a:prstGeom prst="roundRect">
            <a:avLst>
              <a:gd name="adj" fmla="val 75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sdg-title"/>
          <p:cNvSpPr txBox="1"/>
          <p:nvPr/>
        </p:nvSpPr>
        <p:spPr>
          <a:xfrm>
            <a:off x="749808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SDG 4.5 · 4.1 · 10.2</a:t>
            </a:r>
            <a:endParaRPr lang="en-US" sz="2200" dirty="0"/>
          </a:p>
        </p:txBody>
      </p:sp>
      <p:sp>
        <p:nvSpPr>
          <p:cNvPr id="25" name="sdg-text"/>
          <p:cNvSpPr txBox="1"/>
          <p:nvPr/>
        </p:nvSpPr>
        <p:spPr>
          <a:xfrm>
            <a:off x="7498080" y="45720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4FA"/>
                </a:solidFill>
              </a:rPr>
              <a:t>Next: a pilot with one special-education school, testing with blind, dyslexic and deaf students, then printed Urdu pages.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Built during AICON’26</a:t>
            </a:r>
            <a:endParaRPr lang="en-US" sz="5400" dirty="0"/>
          </a:p>
        </p:txBody>
      </p:sp>
      <p:sp>
        <p:nvSpPr>
          <p:cNvPr id="3" name="ray-0"/>
          <p:cNvSpPr/>
          <p:nvPr/>
        </p:nvSpPr>
        <p:spPr>
          <a:xfrm>
            <a:off x="11201400" y="3429000"/>
            <a:ext cx="502920" cy="914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4" name="ray-1"/>
          <p:cNvSpPr/>
          <p:nvPr/>
        </p:nvSpPr>
        <p:spPr>
          <a:xfrm>
            <a:off x="11085019" y="3863340"/>
            <a:ext cx="435541" cy="25146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5" name="ray-2"/>
          <p:cNvSpPr/>
          <p:nvPr/>
        </p:nvSpPr>
        <p:spPr>
          <a:xfrm>
            <a:off x="10767060" y="4181299"/>
            <a:ext cx="251460" cy="435541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6" name="ray-3"/>
          <p:cNvSpPr/>
          <p:nvPr/>
        </p:nvSpPr>
        <p:spPr>
          <a:xfrm>
            <a:off x="10332720" y="4297680"/>
            <a:ext cx="914" cy="50292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7" name="ray-4"/>
          <p:cNvSpPr/>
          <p:nvPr/>
        </p:nvSpPr>
        <p:spPr>
          <a:xfrm flipH="1">
            <a:off x="9646920" y="4181299"/>
            <a:ext cx="251460" cy="435541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8" name="ray-5"/>
          <p:cNvSpPr/>
          <p:nvPr/>
        </p:nvSpPr>
        <p:spPr>
          <a:xfrm flipH="1">
            <a:off x="9144880" y="3863340"/>
            <a:ext cx="435541" cy="25146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9" name="ray-6"/>
          <p:cNvSpPr/>
          <p:nvPr/>
        </p:nvSpPr>
        <p:spPr>
          <a:xfrm flipH="1">
            <a:off x="8961120" y="3429000"/>
            <a:ext cx="502920" cy="914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10" name="ray-7"/>
          <p:cNvSpPr/>
          <p:nvPr/>
        </p:nvSpPr>
        <p:spPr>
          <a:xfrm flipH="1" flipV="1">
            <a:off x="9144880" y="2743200"/>
            <a:ext cx="435541" cy="25146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11" name="ray-8"/>
          <p:cNvSpPr/>
          <p:nvPr/>
        </p:nvSpPr>
        <p:spPr>
          <a:xfrm flipH="1" flipV="1">
            <a:off x="9646920" y="2241160"/>
            <a:ext cx="251460" cy="435541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12" name="ray-9"/>
          <p:cNvSpPr/>
          <p:nvPr/>
        </p:nvSpPr>
        <p:spPr>
          <a:xfrm flipH="1" flipV="1">
            <a:off x="10332720" y="2057400"/>
            <a:ext cx="914" cy="50292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13" name="ray-10"/>
          <p:cNvSpPr/>
          <p:nvPr/>
        </p:nvSpPr>
        <p:spPr>
          <a:xfrm flipV="1">
            <a:off x="10767060" y="2241160"/>
            <a:ext cx="251460" cy="435541"/>
          </a:xfrm>
          <a:prstGeom prst="line">
            <a:avLst/>
          </a:prstGeom>
          <a:noFill/>
          <a:ln w="38100">
            <a:solidFill>
              <a:srgbClr val="F2A40E"/>
            </a:solidFill>
            <a:prstDash val="solid"/>
          </a:ln>
        </p:spPr>
      </p:sp>
      <p:sp>
        <p:nvSpPr>
          <p:cNvPr id="14" name="ray-11"/>
          <p:cNvSpPr/>
          <p:nvPr/>
        </p:nvSpPr>
        <p:spPr>
          <a:xfrm flipV="1">
            <a:off x="11085019" y="2743200"/>
            <a:ext cx="435541" cy="251460"/>
          </a:xfrm>
          <a:prstGeom prst="line">
            <a:avLst/>
          </a:prstGeom>
          <a:noFill/>
          <a:ln w="38100">
            <a:solidFill>
              <a:srgbClr val="F2A40E">
                <a:alpha val="50000"/>
              </a:srgbClr>
            </a:solidFill>
            <a:prstDash val="solid"/>
          </a:ln>
        </p:spPr>
      </p:sp>
      <p:sp>
        <p:nvSpPr>
          <p:cNvPr id="15" name="lamp"/>
          <p:cNvSpPr/>
          <p:nvPr/>
        </p:nvSpPr>
        <p:spPr>
          <a:xfrm>
            <a:off x="9692640" y="2788920"/>
            <a:ext cx="1280160" cy="1280160"/>
          </a:xfrm>
          <a:prstGeom prst="ellipse">
            <a:avLst/>
          </a:prstGeom>
          <a:solidFill>
            <a:srgbClr val="1C3EA6"/>
          </a:solidFill>
          <a:ln w="12700">
            <a:solidFill>
              <a:srgbClr val="1C3EA6"/>
            </a:solidFill>
            <a:prstDash val="solid"/>
          </a:ln>
        </p:spPr>
      </p:sp>
      <p:sp>
        <p:nvSpPr>
          <p:cNvPr id="16" name="flame"/>
          <p:cNvSpPr/>
          <p:nvPr/>
        </p:nvSpPr>
        <p:spPr>
          <a:xfrm>
            <a:off x="10058400" y="3154680"/>
            <a:ext cx="548640" cy="548640"/>
          </a:xfrm>
          <a:prstGeom prst="ellipse">
            <a:avLst/>
          </a:prstGeom>
          <a:solidFill>
            <a:srgbClr val="F2A40E"/>
          </a:solidFill>
          <a:ln w="12700">
            <a:solidFill>
              <a:srgbClr val="F2A40E"/>
            </a:solidFill>
            <a:prstDash val="solid"/>
          </a:ln>
        </p:spPr>
      </p:sp>
      <p:sp>
        <p:nvSpPr>
          <p:cNvPr id="17" name="close-text"/>
          <p:cNvSpPr txBox="1"/>
          <p:nvPr/>
        </p:nvSpPr>
        <p:spPr>
          <a:xfrm>
            <a:off x="640080" y="374904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9D4F2"/>
                </a:solidFill>
              </a:rPr>
              <a:t>Everything you saw was built in this event: the commit history is the record.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9D4F2"/>
                </a:solidFill>
              </a:rPr>
              <a:t>Gemini, Qwen, GPT-OSS and Whisper, all on free tiers. React + FastAPI. OpenStax pages, CC BY 4.0.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9D4F2"/>
                </a:solidFill>
              </a:rPr>
              <a:t>We used an AI coding assistant, as the rules allow. Disclosures are in docs/DISCLOSURES.md.</a:t>
            </a:r>
            <a:endParaRPr lang="en-US" sz="1600" dirty="0"/>
          </a:p>
        </p:txBody>
      </p:sp>
      <p:sp>
        <p:nvSpPr>
          <p:cNvPr id="18" name="close-tagline"/>
          <p:cNvSpPr txBox="1"/>
          <p:nvPr/>
        </p:nvSpPr>
        <p:spPr>
          <a:xfrm>
            <a:off x="640080" y="5486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page. Every learner.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shni">
  <a:themeElements>
    <a:clrScheme name="Roshni">
      <a:dk1>
        <a:srgbClr val="0D1B3E"/>
      </a:dk1>
      <a:lt1>
        <a:srgbClr val="FFFFFF"/>
      </a:lt1>
      <a:dk2>
        <a:srgbClr val="1C3EA6"/>
      </a:dk2>
      <a:lt2>
        <a:srgbClr val="F2F5F3"/>
      </a:lt2>
      <a:accent1>
        <a:srgbClr val="1C3EA6"/>
      </a:accent1>
      <a:accent2>
        <a:srgbClr val="0B8F8F"/>
      </a:accent2>
      <a:accent3>
        <a:srgbClr val="F2A40E"/>
      </a:accent3>
      <a:accent4>
        <a:srgbClr val="0C8259"/>
      </a:accent4>
      <a:accent5>
        <a:srgbClr val="BE3248"/>
      </a:accent5>
      <a:accent6>
        <a:srgbClr val="4A5875"/>
      </a:accent6>
      <a:hlink>
        <a:srgbClr val="1C3EA6"/>
      </a:hlink>
      <a:folHlink>
        <a:srgbClr val="0B8F8F"/>
      </a:folHlink>
    </a:clrScheme>
    <a:fontScheme name="Roshni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AICON 26 Build With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Roshni: One page. Every learner.</dc:title>
  <dc:subject>PptxGenJS Presentation</dc:subject>
  <dc:creator>404 Team Not Found</dc:creator>
  <cp:lastModifiedBy>404 Team Not Found</cp:lastModifiedBy>
  <cp:revision>1</cp:revision>
  <dcterms:created xsi:type="dcterms:W3CDTF">2026-10-10T01:53:19Z</dcterms:created>
  <dcterms:modified xsi:type="dcterms:W3CDTF">2026-10-10T01:53:19Z</dcterms:modified>
</cp:coreProperties>
</file>